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 tous ! Je m'appelle Adrien Clerbois et aujourd'hui je vais vous raconter comment j'ai transforme ma machine a cafe De'Longhi en un outil pilote par une intelligence artificielle.
L'histoire commence avec un APK Android, quelques outils de decompilation, un proxy reseau pour le tracing, et beaucoup de curiosite.
Spoiler : a la fin, GitHub Copilot m'a fait un expresso.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plonger dans le hack, quelques mots sur ce qu'est le MCP.
Model Context Protocol est un standard ouvert cree par Anthropic en novembre 2024. L'idee : definir un protocole universel pour connecter les AI agents aux outils et donnees du monde reel.
L'analogie parfaite : USB. Avant l'USB, chaque peripherique avait son propre connecteur. Avec l'USB, un standard unique. MCP fait pareil pour l'IA : n'importe quel client MCP - GitHub Copilot, Claude Desktop, Cursor, Windsurf - peut utiliser n'importe quel serveur MCP.
Le protocole utilise JSON-RPC 2.0. La communication se fait via stdio pour les serveurs locaux - comme le notre - ou HTTP-SSE pour les serveurs distants.
Trois primitives : les Tools que l'IA peut appeler - brew_beverage, get_machine_status, etc. Les Resources que l'IA peut lire. Et les Prompts - des templates reutilisables.
Adopte tres rapidement par OpenAI, Google, Microsoft, Mistral - c'est aujourd'hui le standard de facto pour connecter les AI agents au monde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machine en question, c'est une De'Longhi Eletta Explore - un expresso connecte haut de gamme. Elle a une app Android officielle, Coffee Link, et un module WiFi integre.
Sur le papier, c'est une machine pour faire du cafe. Dans la pratique, c'est un systeme IoT complet avec une API REST privee, un protocole binaire custom, et deux fournisseurs de services cloud completement meconnus : Ayla Networks et Gigya.
8 313 fichiers Java decompiles depuis l'APK, et 3 couches reseau a retro-ingenier.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point de depart : l'APK de l'application Android. Pas la documentation officielle, pas une API publique - l'APK.
J'ai extrait le fichier depuis le Play Store, et j'ai utilise jadx, un decompilateur Java open source. Petite anecdote : winget n'avait pas le package jadx, donc j'ai du le telecharger manuellement depuis les releases GitHub.
Le resultat : 8 313 fichiers Java. Et la bonne surprise : le package it.delonghi.* n'etait pas obfusque. Les noms de classes, methodes et variables sont lisibles - DeLonghiWifiConnectService, EcamServiceV2, BeanSystem...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ces 8 000 fichiers, j'ai trouve exactement ce que j'esperais.
Des le fichier DeLonghi.java, ligne 63 : l'App ID et l'App Secret Ayla Networks - en clair, hardcodes dans le source.
Dans le AndroidManifest.xml : la cle API Gigya.
Dans DeLonghiWifiConnectService.java : les noms exacts des proprietes IoT que l'application lit et ecrit - d302_monitor_machine pour lire l'etat de la machine, app_device_connected pour declencher un ping.
Ce sont ces noms de proprietes qui vont me permettre de communiquer avec la machine via l'API Ayla.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L'APK m'a donne la structure du code, mais pour confirmer le protocole reel et voir les donnees qui transitent en live, j'ai mis en place du tracing reseau.
La technique : configurer mitmproxy comme proxy HTTPS sur le WiFi, installer son certificat racine sur Android, et lancer l'application. Toutes les requetes HTTPS passent alors en clair.
Ce que j'ai observe en live :
1. L'app appelle d'abord Gigya pour s'authentifier - j'ai vu le loginID, la cle API, et l'id_token JWT en reponse.
2. Ensuite un appel Ayla pour echanger ce token et obtenir un access_token valable 24h.
3. Enfin les vraies commandes vers la machine : un POST vers /apiv1/dsns/{DSN}/properties/app_data_request/datapoints.json avec en body une valeur Base64 - le paquet ECAM binaire.
Le tracing reseau a ete la cle pour comprendre le format exact des requetes.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flux d'authentification se fait en 3 etapes, toutes visibles dans le tracing reseau que j'ai fait au prealable.
Etape 1 : on s'authentifie sur Gigya avec l'email et le mot de passe De'Longhi. Gigya est le fournisseur d'identite - c'est SAP Gigya, utilise par des milliers de marques. On recoit un id_token JWT.
Etape 2 : on echange ce token JWT contre un access_token Ayla via token_sign_in. C'est la qu'on passe aussi l'App ID et l'App Secret trouves dans l'APK.
Etape 3 : tous les appels Ayla suivants utilisent cet access_token dans le header auth_token, avec x-ayla-source: Mobile pour se faire passer pour l'app.
En C#, tout ca est encapsule dans DelonghiAuthService avec un cache thread-safe et auto-refresh.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protocole ECAM est le coeur du systeme. C'est un format binaire custom qui circule entre le module WiFi et le CPU de la machine sur un bus interne.
Chaque paquet : 0xD0 en premier octet, la longueur-1, le code commande - ici 0x83 pour BREW -, les flags, le numero de profil, puis les donnees en TLV.
TLV : Tag-Length-Value. Chaque parametre commence par un ID - 01 pour le cafe, 02 pour la mouture, 03 pour la temperature. La valeur suit sur 1 ou 2 octets.
Le CRC-16 a ete le defi : des dizaines de variantes existent. J'ai trouve dans le code Java la confirmation de SPI-FUJITSU - polynome 0x1021, init 0x1D0F.
Les paquets sont ensuite encodes en Base64 avant d'etre envoyes a Ayla comme valeur de propriete.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schema de transport. Notre serveur MCP .NET 10 contient quatre classes cles : AylaApiClient pour les appels REST, DelonghiAuthService pour le token, EcamPacket pour construire les paquets binaires, et Crc16 pour le checksum.
Au centre, Ayla Networks fait office de cloud IoT - il maintient la connexion persistante avec la machine. On envoie nos commandes HTTPS vers ads-eu.aylanetworks.com, et Ayla les pousse a la machine via MQTT ou WebSocket.
A droite, la machine recoit les commandes via son module WiFi, qui les passe en interne au CPU ECAM. Ce CPU valide le CRC-16 avant d'executer la commande.
C'est la plateforme que le tracing reseau m'a permis de cartographier completement.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Cote implementation MCP, le SDK .NET est remarquablement simple a prendre en main.
Trois lignes dans Program.cs : AddMcpServer(), WithStdioServerTransport() - le serveur communique en JSON-RPC sur stdin/stdout, c'est le standard MCP - et WithToolsFromAssembly() pour l'auto-decouverte.
Le framework scanne l'assembly a la recherche des classes marquees [McpServerToolType]. Les methodes avec [McpServerTool] deviennent des outils. Le [Description(...)] sur la methode et sur chaque parametre devient la documentation que le modele de langage lit pour savoir quoi appeler.
Resultat : le modele voit directement 'brew_beverage - brews a beverage on the De'Longhi machine', avec les parametres documentes. Zero configuration supplementaire.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vue d'ensemble complete, de l'IA a la cafetiere.
Quand je demande a Copilot de me faire un expresso, voici ce qui se passe :
L'agent AI envoie un tool call JSON-RPC 2.0 au serveur MCP via stdio - c'est la communication standard du protocole MCP.
Le serveur MCP traduit ca en appels REST HTTPS vers Ayla Networks, avec l'authentification JWT.
Ayla pousse la commande ECAM encodee en Base64 a la machine via sa connexion persistante.
La machine decode le paquet, valide le CRC-16, et execute - cafe en preparation.
Tout ce systeme tient dans environ 800 lignes de C#, sans dependances exotiques.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serveur expose 14 outils au total, en trois categories.
Status : tout ce qui concerne l'etat de la machine - son etat courant, les alertes, les compteurs de boissons, les profils, et grace au RE de l'APK, les parametres machine comme l'unite de temperature et la durete de l'eau.
Brew : get_beverages pour lister les boissons disponibles, brew_beverage pour en preparer une, stop_beverage pour annuler, et get_beverage_recipe pour voir les parametres detailles d'une recette.
Machine : power_on, power_off, et set_active_profile pour changer le profil utilisateur actif.
Les 4 outils NEW ont ete ajoutes directement a partir de l'analyse APK et du code DeLonghiWifiConnectService.java.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4 nouveaux outils illustrent le processus de decouverte de fonctionnalites.
Pour get_beverage_recipe : le tracing reseau m'avait montre que les recettes sont stockees comme proprietes Ayla - des blobs Base64. En cherchant getPacketForRecipe dans le code Java, j'ai compris le format TLV. Maintenant le modele peut demander 'quelle est ma recette d'expresso ?' et obtenir le volume exact, la mouture, la temperature.
Pour set_active_profile : dans DeLonghiWifiConnectService.java, j'ai trouve getPacketForSetProfile qui appelle C2407d avec le code commande 0x95, setting 0xEE, et le numero de profil. Implemente en C# en 10 lignes.
C'est la force de l'approche APK + tracing : on ne devine pas, on sait exactement ce que la machine accepte.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a la demonstration !
[Ouvrir VS Code avec GitHub Copilot, onglet Chat]
Je vais simplement demander : 'Fais-moi un expresso'.
Copilot analyse la demande, selectionne l'outil brew_beverage parmi les 14 disponibles, remplit les parametres beverage_key='espresso', profile=2.
Le serveur MCP construit le paquet ECAM binaire, calcule le CRC-16, encode en Base64, et POST vers Ayla.
La machine recoit la commande, valide le CRC, et commence la preparation.
[Attendre le son de la machine...]
Ce que vous venez de voir : un chemin complet de l'intention en langage naturel a un acte physique reel, grace a APK reverse engineering +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lecons de cette aventure.
Un : les APKs Android sont incroyablement riches en information. Des que l'obfuscation est partielle ou absente, vous avez acces a toute l'architecture interne.
Deux : le tracing reseau avec mitmproxy est rapide a mettre en place et extremement puissant. Configuration du proxy WiFi, certificat racine sur Android, et on voit tout en clair. C'est complementaire a l'analyse statique du code.
Trois : MCP est exactement le protocole qu'il manquait pour connecter les AI agents au monde reel. Une fois le serveur ecrit, n'importe quel agent compatible MCP - Copilot, Claude, Cursor - peut piloter la machine.
Quatre : le reverse engineering n'est pas reserve aux hackers. C'est une competence d'ingenieur qui permet de comprendre des systemes fermes et de les integrer dans des outils nouveaux.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 le pipeline complet : APK -&gt; tracing reseau -&gt; credentials -&gt; auth Gigya + Ayla -&gt; protocole ECAM -&gt; serveur MCP .NET 10 -&gt; expresso par IA.
Le code source est open source sur GitHub : github.com/AClerbois/mcp-delonghi. N'hesitez pas a forker, adapter pour votre propre machine connectee, ou contribuer de nouveaux outils.
Pour aller plus loin : il reste beaucoup a explorer dans l'APK - la gestion du Bean System, la configuration du WiFi, le renommage des recettes custom. Le protocole ECAM est riche.
Merci pour votre attention. Des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Shape 2"/>
          <p:cNvSpPr/>
          <p:nvPr/>
        </p:nvSpPr>
        <p:spPr>
          <a:xfrm>
            <a:off x="6858000" y="-822960"/>
            <a:ext cx="3474720" cy="3474720"/>
          </a:xfrm>
          <a:prstGeom prst="ellipse">
            <a:avLst/>
          </a:prstGeom>
          <a:solidFill>
            <a:srgbClr val="341A0A"/>
          </a:solidFill>
          <a:ln w="19050">
            <a:solidFill>
              <a:srgbClr val="D49A14"/>
            </a:solidFill>
            <a:prstDash val="solid"/>
          </a:ln>
        </p:spPr>
      </p:sp>
      <p:sp>
        <p:nvSpPr>
          <p:cNvPr id="5" name="Shape 3"/>
          <p:cNvSpPr/>
          <p:nvPr/>
        </p:nvSpPr>
        <p:spPr>
          <a:xfrm>
            <a:off x="7178040" y="-502920"/>
            <a:ext cx="2834640" cy="2834640"/>
          </a:xfrm>
          <a:prstGeom prst="ellipse">
            <a:avLst/>
          </a:prstGeom>
          <a:solidFill>
            <a:srgbClr val="281508"/>
          </a:solidFill>
          <a:ln w="8890">
            <a:solidFill>
              <a:srgbClr val="C64018"/>
            </a:solidFill>
            <a:prstDash val="solid"/>
          </a:ln>
        </p:spPr>
      </p:sp>
      <p:sp>
        <p:nvSpPr>
          <p:cNvPr id="6" name="Text 4"/>
          <p:cNvSpPr/>
          <p:nvPr/>
        </p:nvSpPr>
        <p:spPr>
          <a:xfrm>
            <a:off x="640080" y="502920"/>
            <a:ext cx="6583680" cy="1920240"/>
          </a:xfrm>
          <a:prstGeom prst="rect">
            <a:avLst/>
          </a:prstGeom>
          <a:noFill/>
          <a:ln/>
        </p:spPr>
        <p:txBody>
          <a:bodyPr wrap="square" rtlCol="0" anchor="ctr"/>
          <a:lstStyle/>
          <a:p>
            <a:pPr algn="l" indent="0" marL="0">
              <a:buNone/>
            </a:pPr>
            <a:r>
              <a:rPr lang="en-US" sz="3600" b="1" dirty="0">
                <a:solidFill>
                  <a:srgbClr val="FBF0DD"/>
                </a:solidFill>
                <a:latin typeface="Georgia" pitchFamily="34" charset="0"/>
                <a:ea typeface="Georgia" pitchFamily="34" charset="-122"/>
                <a:cs typeface="Georgia" pitchFamily="34" charset="-120"/>
              </a:rPr>
              <a:t>Comment j'ai hacke</a:t>
            </a:r>
            <a:endParaRPr lang="en-US" sz="3600" dirty="0"/>
          </a:p>
          <a:p>
            <a:pPr algn="l" indent="0" marL="0">
              <a:buNone/>
            </a:pPr>
            <a:r>
              <a:rPr lang="en-US" sz="3600" b="1" dirty="0">
                <a:solidFill>
                  <a:srgbClr val="FBF0DD"/>
                </a:solidFill>
                <a:latin typeface="Georgia" pitchFamily="34" charset="0"/>
                <a:ea typeface="Georgia" pitchFamily="34" charset="-122"/>
                <a:cs typeface="Georgia" pitchFamily="34" charset="-120"/>
              </a:rPr>
              <a:t>ma machine a cafe</a:t>
            </a:r>
            <a:endParaRPr lang="en-US" sz="3600" dirty="0"/>
          </a:p>
        </p:txBody>
      </p:sp>
      <p:sp>
        <p:nvSpPr>
          <p:cNvPr id="7" name="Text 5"/>
          <p:cNvSpPr/>
          <p:nvPr/>
        </p:nvSpPr>
        <p:spPr>
          <a:xfrm>
            <a:off x="640080" y="2487168"/>
            <a:ext cx="6583680" cy="658368"/>
          </a:xfrm>
          <a:prstGeom prst="rect">
            <a:avLst/>
          </a:prstGeom>
          <a:noFill/>
          <a:ln/>
        </p:spPr>
        <p:txBody>
          <a:bodyPr wrap="square" rtlCol="0" anchor="ctr"/>
          <a:lstStyle/>
          <a:p>
            <a:pPr algn="l" indent="0" marL="0">
              <a:buNone/>
            </a:pPr>
            <a:r>
              <a:rPr lang="en-US" sz="2500" i="1" dirty="0">
                <a:solidFill>
                  <a:srgbClr val="D49A14"/>
                </a:solidFill>
                <a:latin typeface="Georgia" pitchFamily="34" charset="0"/>
                <a:ea typeface="Georgia" pitchFamily="34" charset="-122"/>
                <a:cs typeface="Georgia" pitchFamily="34" charset="-120"/>
              </a:rPr>
              <a:t>pour en faire un MCP</a:t>
            </a:r>
            <a:endParaRPr lang="en-US" sz="2500" dirty="0"/>
          </a:p>
        </p:txBody>
      </p:sp>
      <p:sp>
        <p:nvSpPr>
          <p:cNvPr id="8" name="Shape 6"/>
          <p:cNvSpPr/>
          <p:nvPr/>
        </p:nvSpPr>
        <p:spPr>
          <a:xfrm>
            <a:off x="640080" y="3236976"/>
            <a:ext cx="5669280" cy="0"/>
          </a:xfrm>
          <a:prstGeom prst="line">
            <a:avLst/>
          </a:prstGeom>
          <a:noFill/>
          <a:ln w="9525">
            <a:solidFill>
              <a:srgbClr val="4A2A14"/>
            </a:solidFill>
            <a:prstDash val="solid"/>
          </a:ln>
        </p:spPr>
      </p:sp>
      <p:sp>
        <p:nvSpPr>
          <p:cNvPr id="9" name="Text 7"/>
          <p:cNvSpPr/>
          <p:nvPr/>
        </p:nvSpPr>
        <p:spPr>
          <a:xfrm>
            <a:off x="640080" y="3383280"/>
            <a:ext cx="5669280" cy="320040"/>
          </a:xfrm>
          <a:prstGeom prst="rect">
            <a:avLst/>
          </a:prstGeom>
          <a:noFill/>
          <a:ln/>
        </p:spPr>
        <p:txBody>
          <a:bodyPr wrap="square" lIns="0" tIns="0" rIns="0" bIns="0" rtlCol="0" anchor="ctr"/>
          <a:lstStyle/>
          <a:p>
            <a:pPr algn="l" indent="0" marL="0">
              <a:buNone/>
            </a:pPr>
            <a:r>
              <a:rPr lang="en-US" sz="1200" dirty="0">
                <a:solidFill>
                  <a:srgbClr val="9A7050"/>
                </a:solidFill>
              </a:rPr>
              <a:t>Adrien Clerbois  -  2026</a:t>
            </a:r>
            <a:endParaRPr lang="en-US" sz="1200" dirty="0"/>
          </a:p>
        </p:txBody>
      </p:sp>
      <p:sp>
        <p:nvSpPr>
          <p:cNvPr id="10" name="Shape 8"/>
          <p:cNvSpPr/>
          <p:nvPr/>
        </p:nvSpPr>
        <p:spPr>
          <a:xfrm>
            <a:off x="640080" y="3858768"/>
            <a:ext cx="1920240" cy="292608"/>
          </a:xfrm>
          <a:prstGeom prst="rect">
            <a:avLst/>
          </a:prstGeom>
          <a:solidFill>
            <a:srgbClr val="341A0A"/>
          </a:solidFill>
          <a:ln w="5080">
            <a:solidFill>
              <a:srgbClr val="D49A14"/>
            </a:solidFill>
            <a:prstDash val="solid"/>
          </a:ln>
        </p:spPr>
      </p:sp>
      <p:sp>
        <p:nvSpPr>
          <p:cNvPr id="11" name="Text 9"/>
          <p:cNvSpPr/>
          <p:nvPr/>
        </p:nvSpPr>
        <p:spPr>
          <a:xfrm>
            <a:off x="640080" y="3858768"/>
            <a:ext cx="1920240" cy="292608"/>
          </a:xfrm>
          <a:prstGeom prst="rect">
            <a:avLst/>
          </a:prstGeom>
          <a:noFill/>
          <a:ln/>
        </p:spPr>
        <p:txBody>
          <a:bodyPr wrap="square" lIns="0" tIns="0" rIns="0" bIns="0" rtlCol="0" anchor="ctr"/>
          <a:lstStyle/>
          <a:p>
            <a:pPr algn="ctr" indent="0" marL="0">
              <a:buNone/>
            </a:pPr>
            <a:r>
              <a:rPr lang="en-US" sz="800" dirty="0">
                <a:solidFill>
                  <a:srgbClr val="F5B828"/>
                </a:solidFill>
              </a:rPr>
              <a:t>APK Reverse Engineering</a:t>
            </a:r>
            <a:endParaRPr lang="en-US" sz="800" dirty="0"/>
          </a:p>
        </p:txBody>
      </p:sp>
      <p:sp>
        <p:nvSpPr>
          <p:cNvPr id="12" name="Shape 10"/>
          <p:cNvSpPr/>
          <p:nvPr/>
        </p:nvSpPr>
        <p:spPr>
          <a:xfrm>
            <a:off x="2697480" y="3858768"/>
            <a:ext cx="1920240" cy="292608"/>
          </a:xfrm>
          <a:prstGeom prst="rect">
            <a:avLst/>
          </a:prstGeom>
          <a:solidFill>
            <a:srgbClr val="341A0A"/>
          </a:solidFill>
          <a:ln w="5080">
            <a:solidFill>
              <a:srgbClr val="D49A14"/>
            </a:solidFill>
            <a:prstDash val="solid"/>
          </a:ln>
        </p:spPr>
      </p:sp>
      <p:sp>
        <p:nvSpPr>
          <p:cNvPr id="13" name="Text 11"/>
          <p:cNvSpPr/>
          <p:nvPr/>
        </p:nvSpPr>
        <p:spPr>
          <a:xfrm>
            <a:off x="2697480" y="3858768"/>
            <a:ext cx="1920240" cy="292608"/>
          </a:xfrm>
          <a:prstGeom prst="rect">
            <a:avLst/>
          </a:prstGeom>
          <a:noFill/>
          <a:ln/>
        </p:spPr>
        <p:txBody>
          <a:bodyPr wrap="square" lIns="0" tIns="0" rIns="0" bIns="0" rtlCol="0" anchor="ctr"/>
          <a:lstStyle/>
          <a:p>
            <a:pPr algn="ctr" indent="0" marL="0">
              <a:buNone/>
            </a:pPr>
            <a:r>
              <a:rPr lang="en-US" sz="800" dirty="0">
                <a:solidFill>
                  <a:srgbClr val="F5B828"/>
                </a:solidFill>
              </a:rPr>
              <a:t>Network Tracing</a:t>
            </a:r>
            <a:endParaRPr lang="en-US" sz="800" dirty="0"/>
          </a:p>
        </p:txBody>
      </p:sp>
      <p:sp>
        <p:nvSpPr>
          <p:cNvPr id="14" name="Shape 12"/>
          <p:cNvSpPr/>
          <p:nvPr/>
        </p:nvSpPr>
        <p:spPr>
          <a:xfrm>
            <a:off x="4754880" y="3858768"/>
            <a:ext cx="1920240" cy="292608"/>
          </a:xfrm>
          <a:prstGeom prst="rect">
            <a:avLst/>
          </a:prstGeom>
          <a:solidFill>
            <a:srgbClr val="341A0A"/>
          </a:solidFill>
          <a:ln w="5080">
            <a:solidFill>
              <a:srgbClr val="D49A14"/>
            </a:solidFill>
            <a:prstDash val="solid"/>
          </a:ln>
        </p:spPr>
      </p:sp>
      <p:sp>
        <p:nvSpPr>
          <p:cNvPr id="15" name="Text 13"/>
          <p:cNvSpPr/>
          <p:nvPr/>
        </p:nvSpPr>
        <p:spPr>
          <a:xfrm>
            <a:off x="4754880" y="3858768"/>
            <a:ext cx="1920240" cy="292608"/>
          </a:xfrm>
          <a:prstGeom prst="rect">
            <a:avLst/>
          </a:prstGeom>
          <a:noFill/>
          <a:ln/>
        </p:spPr>
        <p:txBody>
          <a:bodyPr wrap="square" lIns="0" tIns="0" rIns="0" bIns="0" rtlCol="0" anchor="ctr"/>
          <a:lstStyle/>
          <a:p>
            <a:pPr algn="ctr" indent="0" marL="0">
              <a:buNone/>
            </a:pPr>
            <a:r>
              <a:rPr lang="en-US" sz="800" dirty="0">
                <a:solidFill>
                  <a:srgbClr val="F5B828"/>
                </a:solidFill>
              </a:rPr>
              <a:t>ECAM Binary Protocol</a:t>
            </a:r>
            <a:endParaRPr lang="en-US" sz="800" dirty="0"/>
          </a:p>
        </p:txBody>
      </p:sp>
      <p:sp>
        <p:nvSpPr>
          <p:cNvPr id="16" name="Shape 14"/>
          <p:cNvSpPr/>
          <p:nvPr/>
        </p:nvSpPr>
        <p:spPr>
          <a:xfrm>
            <a:off x="6812280" y="3858768"/>
            <a:ext cx="1920240" cy="292608"/>
          </a:xfrm>
          <a:prstGeom prst="rect">
            <a:avLst/>
          </a:prstGeom>
          <a:solidFill>
            <a:srgbClr val="341A0A"/>
          </a:solidFill>
          <a:ln w="5080">
            <a:solidFill>
              <a:srgbClr val="D49A14"/>
            </a:solidFill>
            <a:prstDash val="solid"/>
          </a:ln>
        </p:spPr>
      </p:sp>
      <p:sp>
        <p:nvSpPr>
          <p:cNvPr id="17" name="Text 15"/>
          <p:cNvSpPr/>
          <p:nvPr/>
        </p:nvSpPr>
        <p:spPr>
          <a:xfrm>
            <a:off x="6812280" y="3858768"/>
            <a:ext cx="1920240" cy="292608"/>
          </a:xfrm>
          <a:prstGeom prst="rect">
            <a:avLst/>
          </a:prstGeom>
          <a:noFill/>
          <a:ln/>
        </p:spPr>
        <p:txBody>
          <a:bodyPr wrap="square" lIns="0" tIns="0" rIns="0" bIns="0" rtlCol="0" anchor="ctr"/>
          <a:lstStyle/>
          <a:p>
            <a:pPr algn="ctr" indent="0" marL="0">
              <a:buNone/>
            </a:pPr>
            <a:r>
              <a:rPr lang="en-US" sz="800" dirty="0">
                <a:solidFill>
                  <a:srgbClr val="F5B828"/>
                </a:solidFill>
              </a:rPr>
              <a:t>MCP + .NET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Qu est-ce que le MCP ?</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MODEL CONTEXT PROTOCOL</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2 / 16</a:t>
            </a:r>
            <a:endParaRPr lang="en-US" sz="750" dirty="0"/>
          </a:p>
        </p:txBody>
      </p:sp>
      <p:sp>
        <p:nvSpPr>
          <p:cNvPr id="8" name="Shape 6"/>
          <p:cNvSpPr/>
          <p:nvPr/>
        </p:nvSpPr>
        <p:spPr>
          <a:xfrm>
            <a:off x="594360" y="960120"/>
            <a:ext cx="8321040" cy="640080"/>
          </a:xfrm>
          <a:prstGeom prst="rect">
            <a:avLst/>
          </a:prstGeom>
          <a:solidFill>
            <a:srgbClr val="341A0A"/>
          </a:solidFill>
          <a:ln w="9525">
            <a:solidFill>
              <a:srgbClr val="C64018"/>
            </a:solidFill>
            <a:prstDash val="solid"/>
          </a:ln>
        </p:spPr>
      </p:sp>
      <p:sp>
        <p:nvSpPr>
          <p:cNvPr id="9" name="Shape 7"/>
          <p:cNvSpPr/>
          <p:nvPr/>
        </p:nvSpPr>
        <p:spPr>
          <a:xfrm>
            <a:off x="594360" y="960120"/>
            <a:ext cx="64008" cy="640080"/>
          </a:xfrm>
          <a:prstGeom prst="rect">
            <a:avLst/>
          </a:prstGeom>
          <a:solidFill>
            <a:srgbClr val="C64018"/>
          </a:solidFill>
          <a:ln w="12700">
            <a:solidFill>
              <a:srgbClr val="C64018"/>
            </a:solidFill>
            <a:prstDash val="solid"/>
          </a:ln>
        </p:spPr>
      </p:sp>
      <p:sp>
        <p:nvSpPr>
          <p:cNvPr id="10" name="Text 8"/>
          <p:cNvSpPr/>
          <p:nvPr/>
        </p:nvSpPr>
        <p:spPr>
          <a:xfrm>
            <a:off x="777240" y="960120"/>
            <a:ext cx="8046720" cy="640080"/>
          </a:xfrm>
          <a:prstGeom prst="rect">
            <a:avLst/>
          </a:prstGeom>
          <a:noFill/>
          <a:ln/>
        </p:spPr>
        <p:txBody>
          <a:bodyPr wrap="square" lIns="76200" tIns="76200" rIns="76200" bIns="76200" rtlCol="0" anchor="ctr"/>
          <a:lstStyle/>
          <a:p>
            <a:pPr algn="l" indent="0" marL="0">
              <a:buNone/>
            </a:pPr>
            <a:r>
              <a:rPr lang="en-US" sz="1100" dirty="0">
                <a:solidFill>
                  <a:srgbClr val="FBF0DD"/>
                </a:solidFill>
              </a:rPr>
              <a:t>Model Context Protocol - standard ouvert cree par Anthropic (nov. 2024), adopte par OpenAI, Google, Microsoft...</a:t>
            </a:r>
            <a:endParaRPr lang="en-US" sz="1100" dirty="0"/>
          </a:p>
          <a:p>
            <a:pPr algn="l" indent="0" marL="0">
              <a:buNone/>
            </a:pPr>
            <a:r>
              <a:rPr lang="en-US" sz="1100" dirty="0">
                <a:solidFill>
                  <a:srgbClr val="FBF0DD"/>
                </a:solidFill>
              </a:rPr>
              <a:t>Comme un USB, mais pour l'IA : n'importe quel AI client peut parler a n'importe quel serveur MCP.</a:t>
            </a:r>
            <a:endParaRPr lang="en-US" sz="1100" dirty="0"/>
          </a:p>
        </p:txBody>
      </p:sp>
      <p:sp>
        <p:nvSpPr>
          <p:cNvPr id="11" name="Shape 9"/>
          <p:cNvSpPr/>
          <p:nvPr/>
        </p:nvSpPr>
        <p:spPr>
          <a:xfrm>
            <a:off x="594360" y="1828800"/>
            <a:ext cx="2423160" cy="1024128"/>
          </a:xfrm>
          <a:prstGeom prst="rect">
            <a:avLst/>
          </a:prstGeom>
          <a:solidFill>
            <a:srgbClr val="341A0A"/>
          </a:solidFill>
          <a:ln w="11430">
            <a:solidFill>
              <a:srgbClr val="1A72B8"/>
            </a:solidFill>
            <a:prstDash val="solid"/>
          </a:ln>
        </p:spPr>
      </p:sp>
      <p:sp>
        <p:nvSpPr>
          <p:cNvPr id="12" name="Shape 10"/>
          <p:cNvSpPr/>
          <p:nvPr/>
        </p:nvSpPr>
        <p:spPr>
          <a:xfrm>
            <a:off x="594360" y="1828800"/>
            <a:ext cx="2423160" cy="64008"/>
          </a:xfrm>
          <a:prstGeom prst="rect">
            <a:avLst/>
          </a:prstGeom>
          <a:solidFill>
            <a:srgbClr val="1A72B8"/>
          </a:solidFill>
          <a:ln w="12700">
            <a:solidFill>
              <a:srgbClr val="1A72B8"/>
            </a:solidFill>
            <a:prstDash val="solid"/>
          </a:ln>
        </p:spPr>
      </p:sp>
      <p:sp>
        <p:nvSpPr>
          <p:cNvPr id="13" name="Text 11"/>
          <p:cNvSpPr/>
          <p:nvPr/>
        </p:nvSpPr>
        <p:spPr>
          <a:xfrm>
            <a:off x="594360" y="1920240"/>
            <a:ext cx="2423160" cy="365760"/>
          </a:xfrm>
          <a:prstGeom prst="rect">
            <a:avLst/>
          </a:prstGeom>
          <a:noFill/>
          <a:ln/>
        </p:spPr>
        <p:txBody>
          <a:bodyPr wrap="square" lIns="0" tIns="0" rIns="0" bIns="0" rtlCol="0" anchor="ctr"/>
          <a:lstStyle/>
          <a:p>
            <a:pPr algn="ctr" indent="0" marL="0">
              <a:buNone/>
            </a:pPr>
            <a:r>
              <a:rPr lang="en-US" sz="1300" b="1" dirty="0">
                <a:solidFill>
                  <a:srgbClr val="FBF0DD"/>
                </a:solidFill>
              </a:rPr>
              <a:t>AI Client</a:t>
            </a:r>
            <a:endParaRPr lang="en-US" sz="1300" dirty="0"/>
          </a:p>
        </p:txBody>
      </p:sp>
      <p:sp>
        <p:nvSpPr>
          <p:cNvPr id="14" name="Text 12"/>
          <p:cNvSpPr/>
          <p:nvPr/>
        </p:nvSpPr>
        <p:spPr>
          <a:xfrm>
            <a:off x="594360" y="2322576"/>
            <a:ext cx="2423160" cy="457200"/>
          </a:xfrm>
          <a:prstGeom prst="rect">
            <a:avLst/>
          </a:prstGeom>
          <a:noFill/>
          <a:ln/>
        </p:spPr>
        <p:txBody>
          <a:bodyPr wrap="square" lIns="0" tIns="0" rIns="0" bIns="0" rtlCol="0" anchor="ctr"/>
          <a:lstStyle/>
          <a:p>
            <a:pPr algn="ctr" indent="0" marL="0">
              <a:buNone/>
            </a:pPr>
            <a:r>
              <a:rPr lang="en-US" sz="950" dirty="0">
                <a:solidFill>
                  <a:srgbClr val="9A7050"/>
                </a:solidFill>
              </a:rPr>
              <a:t>Copilot / Claude</a:t>
            </a:r>
            <a:endParaRPr lang="en-US" sz="950" dirty="0"/>
          </a:p>
          <a:p>
            <a:pPr algn="ctr" indent="0" marL="0">
              <a:buNone/>
            </a:pPr>
            <a:r>
              <a:rPr lang="en-US" sz="950" dirty="0">
                <a:solidFill>
                  <a:srgbClr val="9A7050"/>
                </a:solidFill>
              </a:rPr>
              <a:t>Cursor / Windsurf</a:t>
            </a:r>
            <a:endParaRPr lang="en-US" sz="950" dirty="0"/>
          </a:p>
        </p:txBody>
      </p:sp>
      <p:sp>
        <p:nvSpPr>
          <p:cNvPr id="15" name="Shape 13"/>
          <p:cNvSpPr/>
          <p:nvPr/>
        </p:nvSpPr>
        <p:spPr>
          <a:xfrm>
            <a:off x="3383280" y="1828800"/>
            <a:ext cx="2423160" cy="1024128"/>
          </a:xfrm>
          <a:prstGeom prst="rect">
            <a:avLst/>
          </a:prstGeom>
          <a:solidFill>
            <a:srgbClr val="341A0A"/>
          </a:solidFill>
          <a:ln w="11430">
            <a:solidFill>
              <a:srgbClr val="178A52"/>
            </a:solidFill>
            <a:prstDash val="solid"/>
          </a:ln>
        </p:spPr>
      </p:sp>
      <p:sp>
        <p:nvSpPr>
          <p:cNvPr id="16" name="Shape 14"/>
          <p:cNvSpPr/>
          <p:nvPr/>
        </p:nvSpPr>
        <p:spPr>
          <a:xfrm>
            <a:off x="3383280" y="1828800"/>
            <a:ext cx="2423160" cy="64008"/>
          </a:xfrm>
          <a:prstGeom prst="rect">
            <a:avLst/>
          </a:prstGeom>
          <a:solidFill>
            <a:srgbClr val="178A52"/>
          </a:solidFill>
          <a:ln w="12700">
            <a:solidFill>
              <a:srgbClr val="178A52"/>
            </a:solidFill>
            <a:prstDash val="solid"/>
          </a:ln>
        </p:spPr>
      </p:sp>
      <p:sp>
        <p:nvSpPr>
          <p:cNvPr id="17" name="Text 15"/>
          <p:cNvSpPr/>
          <p:nvPr/>
        </p:nvSpPr>
        <p:spPr>
          <a:xfrm>
            <a:off x="3383280" y="1920240"/>
            <a:ext cx="2423160" cy="365760"/>
          </a:xfrm>
          <a:prstGeom prst="rect">
            <a:avLst/>
          </a:prstGeom>
          <a:noFill/>
          <a:ln/>
        </p:spPr>
        <p:txBody>
          <a:bodyPr wrap="square" lIns="0" tIns="0" rIns="0" bIns="0" rtlCol="0" anchor="ctr"/>
          <a:lstStyle/>
          <a:p>
            <a:pPr algn="ctr" indent="0" marL="0">
              <a:buNone/>
            </a:pPr>
            <a:r>
              <a:rPr lang="en-US" sz="1300" b="1" dirty="0">
                <a:solidFill>
                  <a:srgbClr val="FBF0DD"/>
                </a:solidFill>
              </a:rPr>
              <a:t>MCP Server</a:t>
            </a:r>
            <a:endParaRPr lang="en-US" sz="1300" dirty="0"/>
          </a:p>
        </p:txBody>
      </p:sp>
      <p:sp>
        <p:nvSpPr>
          <p:cNvPr id="18" name="Text 16"/>
          <p:cNvSpPr/>
          <p:nvPr/>
        </p:nvSpPr>
        <p:spPr>
          <a:xfrm>
            <a:off x="3383280" y="2322576"/>
            <a:ext cx="2423160" cy="457200"/>
          </a:xfrm>
          <a:prstGeom prst="rect">
            <a:avLst/>
          </a:prstGeom>
          <a:noFill/>
          <a:ln/>
        </p:spPr>
        <p:txBody>
          <a:bodyPr wrap="square" lIns="0" tIns="0" rIns="0" bIns="0" rtlCol="0" anchor="ctr"/>
          <a:lstStyle/>
          <a:p>
            <a:pPr algn="ctr" indent="0" marL="0">
              <a:buNone/>
            </a:pPr>
            <a:r>
              <a:rPr lang="en-US" sz="950" dirty="0">
                <a:solidFill>
                  <a:srgbClr val="9A7050"/>
                </a:solidFill>
              </a:rPr>
              <a:t>McpDelonghi</a:t>
            </a:r>
            <a:endParaRPr lang="en-US" sz="950" dirty="0"/>
          </a:p>
          <a:p>
            <a:pPr algn="ctr" indent="0" marL="0">
              <a:buNone/>
            </a:pPr>
            <a:r>
              <a:rPr lang="en-US" sz="950" dirty="0">
                <a:solidFill>
                  <a:srgbClr val="9A7050"/>
                </a:solidFill>
              </a:rPr>
              <a:t>.NET 10  stdio</a:t>
            </a:r>
            <a:endParaRPr lang="en-US" sz="950" dirty="0"/>
          </a:p>
        </p:txBody>
      </p:sp>
      <p:sp>
        <p:nvSpPr>
          <p:cNvPr id="19" name="Shape 17"/>
          <p:cNvSpPr/>
          <p:nvPr/>
        </p:nvSpPr>
        <p:spPr>
          <a:xfrm>
            <a:off x="6172200" y="1828800"/>
            <a:ext cx="2423160" cy="1024128"/>
          </a:xfrm>
          <a:prstGeom prst="rect">
            <a:avLst/>
          </a:prstGeom>
          <a:solidFill>
            <a:srgbClr val="341A0A"/>
          </a:solidFill>
          <a:ln w="11430">
            <a:solidFill>
              <a:srgbClr val="D49A14"/>
            </a:solidFill>
            <a:prstDash val="solid"/>
          </a:ln>
        </p:spPr>
      </p:sp>
      <p:sp>
        <p:nvSpPr>
          <p:cNvPr id="20" name="Shape 18"/>
          <p:cNvSpPr/>
          <p:nvPr/>
        </p:nvSpPr>
        <p:spPr>
          <a:xfrm>
            <a:off x="6172200" y="1828800"/>
            <a:ext cx="2423160" cy="64008"/>
          </a:xfrm>
          <a:prstGeom prst="rect">
            <a:avLst/>
          </a:prstGeom>
          <a:solidFill>
            <a:srgbClr val="D49A14"/>
          </a:solidFill>
          <a:ln w="12700">
            <a:solidFill>
              <a:srgbClr val="D49A14"/>
            </a:solidFill>
            <a:prstDash val="solid"/>
          </a:ln>
        </p:spPr>
      </p:sp>
      <p:sp>
        <p:nvSpPr>
          <p:cNvPr id="21" name="Text 19"/>
          <p:cNvSpPr/>
          <p:nvPr/>
        </p:nvSpPr>
        <p:spPr>
          <a:xfrm>
            <a:off x="6172200" y="1920240"/>
            <a:ext cx="2423160" cy="365760"/>
          </a:xfrm>
          <a:prstGeom prst="rect">
            <a:avLst/>
          </a:prstGeom>
          <a:noFill/>
          <a:ln/>
        </p:spPr>
        <p:txBody>
          <a:bodyPr wrap="square" lIns="0" tIns="0" rIns="0" bIns="0" rtlCol="0" anchor="ctr"/>
          <a:lstStyle/>
          <a:p>
            <a:pPr algn="ctr" indent="0" marL="0">
              <a:buNone/>
            </a:pPr>
            <a:r>
              <a:rPr lang="en-US" sz="1300" b="1" dirty="0">
                <a:solidFill>
                  <a:srgbClr val="FBF0DD"/>
                </a:solidFill>
              </a:rPr>
              <a:t>Outils et Donnees</a:t>
            </a:r>
            <a:endParaRPr lang="en-US" sz="1300" dirty="0"/>
          </a:p>
        </p:txBody>
      </p:sp>
      <p:sp>
        <p:nvSpPr>
          <p:cNvPr id="22" name="Text 20"/>
          <p:cNvSpPr/>
          <p:nvPr/>
        </p:nvSpPr>
        <p:spPr>
          <a:xfrm>
            <a:off x="6172200" y="2322576"/>
            <a:ext cx="2423160" cy="457200"/>
          </a:xfrm>
          <a:prstGeom prst="rect">
            <a:avLst/>
          </a:prstGeom>
          <a:noFill/>
          <a:ln/>
        </p:spPr>
        <p:txBody>
          <a:bodyPr wrap="square" lIns="0" tIns="0" rIns="0" bIns="0" rtlCol="0" anchor="ctr"/>
          <a:lstStyle/>
          <a:p>
            <a:pPr algn="ctr" indent="0" marL="0">
              <a:buNone/>
            </a:pPr>
            <a:r>
              <a:rPr lang="en-US" sz="950" dirty="0">
                <a:solidFill>
                  <a:srgbClr val="9A7050"/>
                </a:solidFill>
              </a:rPr>
              <a:t>14 tools</a:t>
            </a:r>
            <a:endParaRPr lang="en-US" sz="950" dirty="0"/>
          </a:p>
          <a:p>
            <a:pPr algn="ctr" indent="0" marL="0">
              <a:buNone/>
            </a:pPr>
            <a:r>
              <a:rPr lang="en-US" sz="950" dirty="0">
                <a:solidFill>
                  <a:srgbClr val="9A7050"/>
                </a:solidFill>
              </a:rPr>
              <a:t>API IoT De'Longhi</a:t>
            </a:r>
            <a:endParaRPr lang="en-US" sz="950" dirty="0"/>
          </a:p>
        </p:txBody>
      </p:sp>
      <p:sp>
        <p:nvSpPr>
          <p:cNvPr id="23" name="Shape 21"/>
          <p:cNvSpPr/>
          <p:nvPr/>
        </p:nvSpPr>
        <p:spPr>
          <a:xfrm>
            <a:off x="3017520" y="2340864"/>
            <a:ext cx="365760" cy="0"/>
          </a:xfrm>
          <a:prstGeom prst="line">
            <a:avLst/>
          </a:prstGeom>
          <a:noFill/>
          <a:ln w="16510">
            <a:solidFill>
              <a:srgbClr val="D49A14"/>
            </a:solidFill>
            <a:prstDash val="solid"/>
            <a:tailEnd type="arrow"/>
          </a:ln>
        </p:spPr>
      </p:sp>
      <p:sp>
        <p:nvSpPr>
          <p:cNvPr id="24" name="Text 22"/>
          <p:cNvSpPr/>
          <p:nvPr/>
        </p:nvSpPr>
        <p:spPr>
          <a:xfrm>
            <a:off x="2606040" y="2093976"/>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JSON-RPC 2.0</a:t>
            </a:r>
            <a:endParaRPr lang="en-US" sz="750" dirty="0"/>
          </a:p>
          <a:p>
            <a:pPr algn="ctr" indent="0" marL="0">
              <a:buNone/>
            </a:pPr>
            <a:r>
              <a:rPr lang="en-US" sz="750" dirty="0">
                <a:solidFill>
                  <a:srgbClr val="9A7050"/>
                </a:solidFill>
              </a:rPr>
              <a:t>stdio / HTTP-SSE</a:t>
            </a:r>
            <a:endParaRPr lang="en-US" sz="750" dirty="0"/>
          </a:p>
        </p:txBody>
      </p:sp>
      <p:sp>
        <p:nvSpPr>
          <p:cNvPr id="25" name="Shape 23"/>
          <p:cNvSpPr/>
          <p:nvPr/>
        </p:nvSpPr>
        <p:spPr>
          <a:xfrm>
            <a:off x="5806440" y="2340864"/>
            <a:ext cx="365760" cy="0"/>
          </a:xfrm>
          <a:prstGeom prst="line">
            <a:avLst/>
          </a:prstGeom>
          <a:noFill/>
          <a:ln w="16510">
            <a:solidFill>
              <a:srgbClr val="D49A14"/>
            </a:solidFill>
            <a:prstDash val="solid"/>
            <a:tailEnd type="arrow"/>
          </a:ln>
        </p:spPr>
      </p:sp>
      <p:sp>
        <p:nvSpPr>
          <p:cNvPr id="26" name="Text 24"/>
          <p:cNvSpPr/>
          <p:nvPr/>
        </p:nvSpPr>
        <p:spPr>
          <a:xfrm>
            <a:off x="5394960" y="2093976"/>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tool_call</a:t>
            </a:r>
            <a:endParaRPr lang="en-US" sz="750" dirty="0"/>
          </a:p>
          <a:p>
            <a:pPr algn="ctr" indent="0" marL="0">
              <a:buNone/>
            </a:pPr>
            <a:r>
              <a:rPr lang="en-US" sz="750" dirty="0">
                <a:solidFill>
                  <a:srgbClr val="9A7050"/>
                </a:solidFill>
              </a:rPr>
              <a:t>result</a:t>
            </a:r>
            <a:endParaRPr lang="en-US" sz="750" dirty="0"/>
          </a:p>
        </p:txBody>
      </p:sp>
      <p:sp>
        <p:nvSpPr>
          <p:cNvPr id="27" name="Shape 25"/>
          <p:cNvSpPr/>
          <p:nvPr/>
        </p:nvSpPr>
        <p:spPr>
          <a:xfrm>
            <a:off x="594360" y="3017520"/>
            <a:ext cx="2724912" cy="1783080"/>
          </a:xfrm>
          <a:prstGeom prst="rect">
            <a:avLst/>
          </a:prstGeom>
          <a:solidFill>
            <a:srgbClr val="341A0A"/>
          </a:solidFill>
          <a:ln w="7620">
            <a:solidFill>
              <a:srgbClr val="C64018"/>
            </a:solidFill>
            <a:prstDash val="solid"/>
          </a:ln>
        </p:spPr>
      </p:sp>
      <p:sp>
        <p:nvSpPr>
          <p:cNvPr id="28" name="Shape 26"/>
          <p:cNvSpPr/>
          <p:nvPr/>
        </p:nvSpPr>
        <p:spPr>
          <a:xfrm>
            <a:off x="594360" y="3017520"/>
            <a:ext cx="64008" cy="1783080"/>
          </a:xfrm>
          <a:prstGeom prst="rect">
            <a:avLst/>
          </a:prstGeom>
          <a:solidFill>
            <a:srgbClr val="C64018"/>
          </a:solidFill>
          <a:ln w="12700">
            <a:solidFill>
              <a:srgbClr val="C64018"/>
            </a:solidFill>
            <a:prstDash val="solid"/>
          </a:ln>
        </p:spPr>
      </p:sp>
      <p:sp>
        <p:nvSpPr>
          <p:cNvPr id="29" name="Text 27"/>
          <p:cNvSpPr/>
          <p:nvPr/>
        </p:nvSpPr>
        <p:spPr>
          <a:xfrm>
            <a:off x="594360" y="3081528"/>
            <a:ext cx="2724912" cy="457200"/>
          </a:xfrm>
          <a:prstGeom prst="rect">
            <a:avLst/>
          </a:prstGeom>
          <a:noFill/>
          <a:ln/>
        </p:spPr>
        <p:txBody>
          <a:bodyPr wrap="square" lIns="0" tIns="0" rIns="0" bIns="0" rtlCol="0" anchor="ctr"/>
          <a:lstStyle/>
          <a:p>
            <a:pPr algn="ctr" indent="0" marL="0">
              <a:buNone/>
            </a:pPr>
            <a:r>
              <a:rPr lang="en-US" sz="2000" b="1" dirty="0">
                <a:solidFill>
                  <a:srgbClr val="C64018"/>
                </a:solidFill>
              </a:rPr>
              <a:t>TOOLS</a:t>
            </a:r>
            <a:endParaRPr lang="en-US" sz="2000" dirty="0"/>
          </a:p>
        </p:txBody>
      </p:sp>
      <p:sp>
        <p:nvSpPr>
          <p:cNvPr id="30" name="Text 28"/>
          <p:cNvSpPr/>
          <p:nvPr/>
        </p:nvSpPr>
        <p:spPr>
          <a:xfrm>
            <a:off x="731520" y="3575304"/>
            <a:ext cx="2487168" cy="310896"/>
          </a:xfrm>
          <a:prstGeom prst="rect">
            <a:avLst/>
          </a:prstGeom>
          <a:noFill/>
          <a:ln/>
        </p:spPr>
        <p:txBody>
          <a:bodyPr wrap="square" lIns="0" tIns="0" rIns="0" bIns="0" rtlCol="0" anchor="ctr"/>
          <a:lstStyle/>
          <a:p>
            <a:pPr indent="0" marL="0">
              <a:buNone/>
            </a:pPr>
            <a:r>
              <a:rPr lang="en-US" sz="1200" b="1" dirty="0">
                <a:solidFill>
                  <a:srgbClr val="FBF0DD"/>
                </a:solidFill>
              </a:rPr>
              <a:t>Tools</a:t>
            </a:r>
            <a:endParaRPr lang="en-US" sz="1200" dirty="0"/>
          </a:p>
        </p:txBody>
      </p:sp>
      <p:sp>
        <p:nvSpPr>
          <p:cNvPr id="31" name="Shape 29"/>
          <p:cNvSpPr/>
          <p:nvPr/>
        </p:nvSpPr>
        <p:spPr>
          <a:xfrm>
            <a:off x="731520" y="3922776"/>
            <a:ext cx="2450592" cy="0"/>
          </a:xfrm>
          <a:prstGeom prst="line">
            <a:avLst/>
          </a:prstGeom>
          <a:noFill/>
          <a:ln w="5080">
            <a:solidFill>
              <a:srgbClr val="4A2A14"/>
            </a:solidFill>
            <a:prstDash val="solid"/>
          </a:ln>
        </p:spPr>
      </p:sp>
      <p:sp>
        <p:nvSpPr>
          <p:cNvPr id="32" name="Text 30"/>
          <p:cNvSpPr/>
          <p:nvPr/>
        </p:nvSpPr>
        <p:spPr>
          <a:xfrm>
            <a:off x="731520" y="3995928"/>
            <a:ext cx="2487168" cy="685800"/>
          </a:xfrm>
          <a:prstGeom prst="rect">
            <a:avLst/>
          </a:prstGeom>
          <a:noFill/>
          <a:ln/>
        </p:spPr>
        <p:txBody>
          <a:bodyPr wrap="square" lIns="0" tIns="0" rIns="0" bIns="0" rtlCol="0" anchor="ctr"/>
          <a:lstStyle/>
          <a:p>
            <a:pPr indent="0" marL="0">
              <a:buNone/>
            </a:pPr>
            <a:r>
              <a:rPr lang="en-US" sz="950" dirty="0">
                <a:solidFill>
                  <a:srgbClr val="9A7050"/>
                </a:solidFill>
              </a:rPr>
              <a:t>Actions appelables par l'IA</a:t>
            </a:r>
            <a:endParaRPr lang="en-US" sz="950" dirty="0"/>
          </a:p>
          <a:p>
            <a:pPr indent="0" marL="0">
              <a:buNone/>
            </a:pPr>
            <a:r>
              <a:rPr lang="en-US" sz="950" dirty="0">
                <a:solidFill>
                  <a:srgbClr val="9A7050"/>
                </a:solidFill>
              </a:rPr>
              <a:t>brew_beverage, power_on...</a:t>
            </a:r>
            <a:endParaRPr lang="en-US" sz="950" dirty="0"/>
          </a:p>
        </p:txBody>
      </p:sp>
      <p:sp>
        <p:nvSpPr>
          <p:cNvPr id="33" name="Shape 31"/>
          <p:cNvSpPr/>
          <p:nvPr/>
        </p:nvSpPr>
        <p:spPr>
          <a:xfrm>
            <a:off x="3474720" y="3017520"/>
            <a:ext cx="2724912" cy="1783080"/>
          </a:xfrm>
          <a:prstGeom prst="rect">
            <a:avLst/>
          </a:prstGeom>
          <a:solidFill>
            <a:srgbClr val="341A0A"/>
          </a:solidFill>
          <a:ln w="7620">
            <a:solidFill>
              <a:srgbClr val="1A72B8"/>
            </a:solidFill>
            <a:prstDash val="solid"/>
          </a:ln>
        </p:spPr>
      </p:sp>
      <p:sp>
        <p:nvSpPr>
          <p:cNvPr id="34" name="Shape 32"/>
          <p:cNvSpPr/>
          <p:nvPr/>
        </p:nvSpPr>
        <p:spPr>
          <a:xfrm>
            <a:off x="3474720" y="3017520"/>
            <a:ext cx="64008" cy="1783080"/>
          </a:xfrm>
          <a:prstGeom prst="rect">
            <a:avLst/>
          </a:prstGeom>
          <a:solidFill>
            <a:srgbClr val="1A72B8"/>
          </a:solidFill>
          <a:ln w="12700">
            <a:solidFill>
              <a:srgbClr val="1A72B8"/>
            </a:solidFill>
            <a:prstDash val="solid"/>
          </a:ln>
        </p:spPr>
      </p:sp>
      <p:sp>
        <p:nvSpPr>
          <p:cNvPr id="35" name="Text 33"/>
          <p:cNvSpPr/>
          <p:nvPr/>
        </p:nvSpPr>
        <p:spPr>
          <a:xfrm>
            <a:off x="3474720" y="3081528"/>
            <a:ext cx="2724912" cy="457200"/>
          </a:xfrm>
          <a:prstGeom prst="rect">
            <a:avLst/>
          </a:prstGeom>
          <a:noFill/>
          <a:ln/>
        </p:spPr>
        <p:txBody>
          <a:bodyPr wrap="square" lIns="0" tIns="0" rIns="0" bIns="0" rtlCol="0" anchor="ctr"/>
          <a:lstStyle/>
          <a:p>
            <a:pPr algn="ctr" indent="0" marL="0">
              <a:buNone/>
            </a:pPr>
            <a:r>
              <a:rPr lang="en-US" sz="2000" b="1" dirty="0">
                <a:solidFill>
                  <a:srgbClr val="1A72B8"/>
                </a:solidFill>
              </a:rPr>
              <a:t>RES</a:t>
            </a:r>
            <a:endParaRPr lang="en-US" sz="2000" dirty="0"/>
          </a:p>
        </p:txBody>
      </p:sp>
      <p:sp>
        <p:nvSpPr>
          <p:cNvPr id="36" name="Text 34"/>
          <p:cNvSpPr/>
          <p:nvPr/>
        </p:nvSpPr>
        <p:spPr>
          <a:xfrm>
            <a:off x="3611880" y="3575304"/>
            <a:ext cx="2487168" cy="310896"/>
          </a:xfrm>
          <a:prstGeom prst="rect">
            <a:avLst/>
          </a:prstGeom>
          <a:noFill/>
          <a:ln/>
        </p:spPr>
        <p:txBody>
          <a:bodyPr wrap="square" lIns="0" tIns="0" rIns="0" bIns="0" rtlCol="0" anchor="ctr"/>
          <a:lstStyle/>
          <a:p>
            <a:pPr indent="0" marL="0">
              <a:buNone/>
            </a:pPr>
            <a:r>
              <a:rPr lang="en-US" sz="1200" b="1" dirty="0">
                <a:solidFill>
                  <a:srgbClr val="FBF0DD"/>
                </a:solidFill>
              </a:rPr>
              <a:t>Resources</a:t>
            </a:r>
            <a:endParaRPr lang="en-US" sz="1200" dirty="0"/>
          </a:p>
        </p:txBody>
      </p:sp>
      <p:sp>
        <p:nvSpPr>
          <p:cNvPr id="37" name="Shape 35"/>
          <p:cNvSpPr/>
          <p:nvPr/>
        </p:nvSpPr>
        <p:spPr>
          <a:xfrm>
            <a:off x="3611880" y="3922776"/>
            <a:ext cx="2450592" cy="0"/>
          </a:xfrm>
          <a:prstGeom prst="line">
            <a:avLst/>
          </a:prstGeom>
          <a:noFill/>
          <a:ln w="5080">
            <a:solidFill>
              <a:srgbClr val="4A2A14"/>
            </a:solidFill>
            <a:prstDash val="solid"/>
          </a:ln>
        </p:spPr>
      </p:sp>
      <p:sp>
        <p:nvSpPr>
          <p:cNvPr id="38" name="Text 36"/>
          <p:cNvSpPr/>
          <p:nvPr/>
        </p:nvSpPr>
        <p:spPr>
          <a:xfrm>
            <a:off x="3611880" y="3995928"/>
            <a:ext cx="2487168" cy="685800"/>
          </a:xfrm>
          <a:prstGeom prst="rect">
            <a:avLst/>
          </a:prstGeom>
          <a:noFill/>
          <a:ln/>
        </p:spPr>
        <p:txBody>
          <a:bodyPr wrap="square" lIns="0" tIns="0" rIns="0" bIns="0" rtlCol="0" anchor="ctr"/>
          <a:lstStyle/>
          <a:p>
            <a:pPr indent="0" marL="0">
              <a:buNone/>
            </a:pPr>
            <a:r>
              <a:rPr lang="en-US" sz="950" dirty="0">
                <a:solidFill>
                  <a:srgbClr val="9A7050"/>
                </a:solidFill>
              </a:rPr>
              <a:t>Donnees lisibles par l'IA</a:t>
            </a:r>
            <a:endParaRPr lang="en-US" sz="950" dirty="0"/>
          </a:p>
          <a:p>
            <a:pPr indent="0" marL="0">
              <a:buNone/>
            </a:pPr>
            <a:r>
              <a:rPr lang="en-US" sz="950" dirty="0">
                <a:solidFill>
                  <a:srgbClr val="9A7050"/>
                </a:solidFill>
              </a:rPr>
              <a:t>fichiers, URLs, BDD</a:t>
            </a:r>
            <a:endParaRPr lang="en-US" sz="950" dirty="0"/>
          </a:p>
        </p:txBody>
      </p:sp>
      <p:sp>
        <p:nvSpPr>
          <p:cNvPr id="39" name="Shape 37"/>
          <p:cNvSpPr/>
          <p:nvPr/>
        </p:nvSpPr>
        <p:spPr>
          <a:xfrm>
            <a:off x="6355080" y="3017520"/>
            <a:ext cx="2724912" cy="1783080"/>
          </a:xfrm>
          <a:prstGeom prst="rect">
            <a:avLst/>
          </a:prstGeom>
          <a:solidFill>
            <a:srgbClr val="341A0A"/>
          </a:solidFill>
          <a:ln w="7620">
            <a:solidFill>
              <a:srgbClr val="7B3A7A"/>
            </a:solidFill>
            <a:prstDash val="solid"/>
          </a:ln>
        </p:spPr>
      </p:sp>
      <p:sp>
        <p:nvSpPr>
          <p:cNvPr id="40" name="Shape 38"/>
          <p:cNvSpPr/>
          <p:nvPr/>
        </p:nvSpPr>
        <p:spPr>
          <a:xfrm>
            <a:off x="6355080" y="3017520"/>
            <a:ext cx="64008" cy="1783080"/>
          </a:xfrm>
          <a:prstGeom prst="rect">
            <a:avLst/>
          </a:prstGeom>
          <a:solidFill>
            <a:srgbClr val="7B3A7A"/>
          </a:solidFill>
          <a:ln w="12700">
            <a:solidFill>
              <a:srgbClr val="7B3A7A"/>
            </a:solidFill>
            <a:prstDash val="solid"/>
          </a:ln>
        </p:spPr>
      </p:sp>
      <p:sp>
        <p:nvSpPr>
          <p:cNvPr id="41" name="Text 39"/>
          <p:cNvSpPr/>
          <p:nvPr/>
        </p:nvSpPr>
        <p:spPr>
          <a:xfrm>
            <a:off x="6355080" y="3081528"/>
            <a:ext cx="2724912" cy="457200"/>
          </a:xfrm>
          <a:prstGeom prst="rect">
            <a:avLst/>
          </a:prstGeom>
          <a:noFill/>
          <a:ln/>
        </p:spPr>
        <p:txBody>
          <a:bodyPr wrap="square" lIns="0" tIns="0" rIns="0" bIns="0" rtlCol="0" anchor="ctr"/>
          <a:lstStyle/>
          <a:p>
            <a:pPr algn="ctr" indent="0" marL="0">
              <a:buNone/>
            </a:pPr>
            <a:r>
              <a:rPr lang="en-US" sz="2000" b="1" dirty="0">
                <a:solidFill>
                  <a:srgbClr val="7B3A7A"/>
                </a:solidFill>
              </a:rPr>
              <a:t>PRO</a:t>
            </a:r>
            <a:endParaRPr lang="en-US" sz="2000" dirty="0"/>
          </a:p>
        </p:txBody>
      </p:sp>
      <p:sp>
        <p:nvSpPr>
          <p:cNvPr id="42" name="Text 40"/>
          <p:cNvSpPr/>
          <p:nvPr/>
        </p:nvSpPr>
        <p:spPr>
          <a:xfrm>
            <a:off x="6492240" y="3575304"/>
            <a:ext cx="2487168" cy="310896"/>
          </a:xfrm>
          <a:prstGeom prst="rect">
            <a:avLst/>
          </a:prstGeom>
          <a:noFill/>
          <a:ln/>
        </p:spPr>
        <p:txBody>
          <a:bodyPr wrap="square" lIns="0" tIns="0" rIns="0" bIns="0" rtlCol="0" anchor="ctr"/>
          <a:lstStyle/>
          <a:p>
            <a:pPr indent="0" marL="0">
              <a:buNone/>
            </a:pPr>
            <a:r>
              <a:rPr lang="en-US" sz="1200" b="1" dirty="0">
                <a:solidFill>
                  <a:srgbClr val="FBF0DD"/>
                </a:solidFill>
              </a:rPr>
              <a:t>Prompts</a:t>
            </a:r>
            <a:endParaRPr lang="en-US" sz="1200" dirty="0"/>
          </a:p>
        </p:txBody>
      </p:sp>
      <p:sp>
        <p:nvSpPr>
          <p:cNvPr id="43" name="Shape 41"/>
          <p:cNvSpPr/>
          <p:nvPr/>
        </p:nvSpPr>
        <p:spPr>
          <a:xfrm>
            <a:off x="6492240" y="3922776"/>
            <a:ext cx="2450592" cy="0"/>
          </a:xfrm>
          <a:prstGeom prst="line">
            <a:avLst/>
          </a:prstGeom>
          <a:noFill/>
          <a:ln w="5080">
            <a:solidFill>
              <a:srgbClr val="4A2A14"/>
            </a:solidFill>
            <a:prstDash val="solid"/>
          </a:ln>
        </p:spPr>
      </p:sp>
      <p:sp>
        <p:nvSpPr>
          <p:cNvPr id="44" name="Text 42"/>
          <p:cNvSpPr/>
          <p:nvPr/>
        </p:nvSpPr>
        <p:spPr>
          <a:xfrm>
            <a:off x="6492240" y="3995928"/>
            <a:ext cx="2487168" cy="685800"/>
          </a:xfrm>
          <a:prstGeom prst="rect">
            <a:avLst/>
          </a:prstGeom>
          <a:noFill/>
          <a:ln/>
        </p:spPr>
        <p:txBody>
          <a:bodyPr wrap="square" lIns="0" tIns="0" rIns="0" bIns="0" rtlCol="0" anchor="ctr"/>
          <a:lstStyle/>
          <a:p>
            <a:pPr indent="0" marL="0">
              <a:buNone/>
            </a:pPr>
            <a:r>
              <a:rPr lang="en-US" sz="950" dirty="0">
                <a:solidFill>
                  <a:srgbClr val="9A7050"/>
                </a:solidFill>
              </a:rPr>
              <a:t>Templates reutilisables</a:t>
            </a:r>
            <a:endParaRPr lang="en-US" sz="950" dirty="0"/>
          </a:p>
          <a:p>
            <a:pPr indent="0" marL="0">
              <a:buNone/>
            </a:pPr>
            <a:r>
              <a:rPr lang="en-US" sz="950" dirty="0">
                <a:solidFill>
                  <a:srgbClr val="9A7050"/>
                </a:solidFill>
              </a:rPr>
              <a:t>pour guider le modele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La machine : De'Longhi Eletta Explore</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INTRODUCTION</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3 / 16</a:t>
            </a:r>
            <a:endParaRPr lang="en-US" sz="750" dirty="0"/>
          </a:p>
        </p:txBody>
      </p:sp>
      <p:sp>
        <p:nvSpPr>
          <p:cNvPr id="8" name="Shape 6"/>
          <p:cNvSpPr/>
          <p:nvPr/>
        </p:nvSpPr>
        <p:spPr>
          <a:xfrm>
            <a:off x="594360" y="960120"/>
            <a:ext cx="5212080" cy="594360"/>
          </a:xfrm>
          <a:prstGeom prst="rect">
            <a:avLst/>
          </a:prstGeom>
          <a:solidFill>
            <a:srgbClr val="341A0A"/>
          </a:solidFill>
          <a:ln w="5080">
            <a:solidFill>
              <a:srgbClr val="4A2A14"/>
            </a:solidFill>
            <a:prstDash val="solid"/>
          </a:ln>
        </p:spPr>
      </p:sp>
      <p:sp>
        <p:nvSpPr>
          <p:cNvPr id="9" name="Shape 7"/>
          <p:cNvSpPr/>
          <p:nvPr/>
        </p:nvSpPr>
        <p:spPr>
          <a:xfrm>
            <a:off x="594360" y="960120"/>
            <a:ext cx="64008" cy="594360"/>
          </a:xfrm>
          <a:prstGeom prst="rect">
            <a:avLst/>
          </a:prstGeom>
          <a:solidFill>
            <a:srgbClr val="178A52"/>
          </a:solidFill>
          <a:ln w="12700">
            <a:solidFill>
              <a:srgbClr val="178A52"/>
            </a:solidFill>
            <a:prstDash val="solid"/>
          </a:ln>
        </p:spPr>
      </p:sp>
      <p:sp>
        <p:nvSpPr>
          <p:cNvPr id="10" name="Text 8"/>
          <p:cNvSpPr/>
          <p:nvPr/>
        </p:nvSpPr>
        <p:spPr>
          <a:xfrm>
            <a:off x="804672" y="960120"/>
            <a:ext cx="4937760" cy="594360"/>
          </a:xfrm>
          <a:prstGeom prst="rect">
            <a:avLst/>
          </a:prstGeom>
          <a:noFill/>
          <a:ln/>
        </p:spPr>
        <p:txBody>
          <a:bodyPr wrap="square" lIns="0" tIns="0" rIns="0" bIns="0" rtlCol="0" anchor="ctr"/>
          <a:lstStyle/>
          <a:p>
            <a:pPr algn="l" indent="0" marL="0">
              <a:buNone/>
            </a:pPr>
            <a:r>
              <a:rPr lang="en-US" sz="1150" dirty="0">
                <a:solidFill>
                  <a:srgbClr val="FBF0DD"/>
                </a:solidFill>
              </a:rPr>
              <a:t>Machine full auto haut de gamme</a:t>
            </a:r>
            <a:endParaRPr lang="en-US" sz="1150" dirty="0"/>
          </a:p>
        </p:txBody>
      </p:sp>
      <p:sp>
        <p:nvSpPr>
          <p:cNvPr id="11" name="Shape 9"/>
          <p:cNvSpPr/>
          <p:nvPr/>
        </p:nvSpPr>
        <p:spPr>
          <a:xfrm>
            <a:off x="594360" y="1691640"/>
            <a:ext cx="5212080" cy="594360"/>
          </a:xfrm>
          <a:prstGeom prst="rect">
            <a:avLst/>
          </a:prstGeom>
          <a:solidFill>
            <a:srgbClr val="341A0A"/>
          </a:solidFill>
          <a:ln w="5080">
            <a:solidFill>
              <a:srgbClr val="4A2A14"/>
            </a:solidFill>
            <a:prstDash val="solid"/>
          </a:ln>
        </p:spPr>
      </p:sp>
      <p:sp>
        <p:nvSpPr>
          <p:cNvPr id="12" name="Shape 10"/>
          <p:cNvSpPr/>
          <p:nvPr/>
        </p:nvSpPr>
        <p:spPr>
          <a:xfrm>
            <a:off x="594360" y="1691640"/>
            <a:ext cx="64008" cy="594360"/>
          </a:xfrm>
          <a:prstGeom prst="rect">
            <a:avLst/>
          </a:prstGeom>
          <a:solidFill>
            <a:srgbClr val="178A52"/>
          </a:solidFill>
          <a:ln w="12700">
            <a:solidFill>
              <a:srgbClr val="178A52"/>
            </a:solidFill>
            <a:prstDash val="solid"/>
          </a:ln>
        </p:spPr>
      </p:sp>
      <p:sp>
        <p:nvSpPr>
          <p:cNvPr id="13" name="Text 11"/>
          <p:cNvSpPr/>
          <p:nvPr/>
        </p:nvSpPr>
        <p:spPr>
          <a:xfrm>
            <a:off x="804672" y="1691640"/>
            <a:ext cx="4937760" cy="594360"/>
          </a:xfrm>
          <a:prstGeom prst="rect">
            <a:avLst/>
          </a:prstGeom>
          <a:noFill/>
          <a:ln/>
        </p:spPr>
        <p:txBody>
          <a:bodyPr wrap="square" lIns="0" tIns="0" rIns="0" bIns="0" rtlCol="0" anchor="ctr"/>
          <a:lstStyle/>
          <a:p>
            <a:pPr algn="l" indent="0" marL="0">
              <a:buNone/>
            </a:pPr>
            <a:r>
              <a:rPr lang="en-US" sz="1150" dirty="0">
                <a:solidFill>
                  <a:srgbClr val="FBF0DD"/>
                </a:solidFill>
              </a:rPr>
              <a:t>Android / iOS, connexion WiFi</a:t>
            </a:r>
            <a:endParaRPr lang="en-US" sz="1150" dirty="0"/>
          </a:p>
        </p:txBody>
      </p:sp>
      <p:sp>
        <p:nvSpPr>
          <p:cNvPr id="14" name="Shape 12"/>
          <p:cNvSpPr/>
          <p:nvPr/>
        </p:nvSpPr>
        <p:spPr>
          <a:xfrm>
            <a:off x="594360" y="2423160"/>
            <a:ext cx="5212080" cy="594360"/>
          </a:xfrm>
          <a:prstGeom prst="rect">
            <a:avLst/>
          </a:prstGeom>
          <a:solidFill>
            <a:srgbClr val="341A0A"/>
          </a:solidFill>
          <a:ln w="5080">
            <a:solidFill>
              <a:srgbClr val="4A2A14"/>
            </a:solidFill>
            <a:prstDash val="solid"/>
          </a:ln>
        </p:spPr>
      </p:sp>
      <p:sp>
        <p:nvSpPr>
          <p:cNvPr id="15" name="Shape 13"/>
          <p:cNvSpPr/>
          <p:nvPr/>
        </p:nvSpPr>
        <p:spPr>
          <a:xfrm>
            <a:off x="594360" y="2423160"/>
            <a:ext cx="64008" cy="594360"/>
          </a:xfrm>
          <a:prstGeom prst="rect">
            <a:avLst/>
          </a:prstGeom>
          <a:solidFill>
            <a:srgbClr val="178A52"/>
          </a:solidFill>
          <a:ln w="12700">
            <a:solidFill>
              <a:srgbClr val="178A52"/>
            </a:solidFill>
            <a:prstDash val="solid"/>
          </a:ln>
        </p:spPr>
      </p:sp>
      <p:sp>
        <p:nvSpPr>
          <p:cNvPr id="16" name="Text 14"/>
          <p:cNvSpPr/>
          <p:nvPr/>
        </p:nvSpPr>
        <p:spPr>
          <a:xfrm>
            <a:off x="804672" y="2423160"/>
            <a:ext cx="4937760" cy="594360"/>
          </a:xfrm>
          <a:prstGeom prst="rect">
            <a:avLst/>
          </a:prstGeom>
          <a:noFill/>
          <a:ln/>
        </p:spPr>
        <p:txBody>
          <a:bodyPr wrap="square" lIns="0" tIns="0" rIns="0" bIns="0" rtlCol="0" anchor="ctr"/>
          <a:lstStyle/>
          <a:p>
            <a:pPr algn="l" indent="0" marL="0">
              <a:buNone/>
            </a:pPr>
            <a:r>
              <a:rPr lang="en-US" sz="1150" dirty="0">
                <a:solidFill>
                  <a:srgbClr val="FBF0DD"/>
                </a:solidFill>
              </a:rPr>
              <a:t>Plateforme Ayla Networks IoT</a:t>
            </a:r>
            <a:endParaRPr lang="en-US" sz="1150" dirty="0"/>
          </a:p>
        </p:txBody>
      </p:sp>
      <p:sp>
        <p:nvSpPr>
          <p:cNvPr id="17" name="Shape 15"/>
          <p:cNvSpPr/>
          <p:nvPr/>
        </p:nvSpPr>
        <p:spPr>
          <a:xfrm>
            <a:off x="594360" y="3154680"/>
            <a:ext cx="5212080" cy="594360"/>
          </a:xfrm>
          <a:prstGeom prst="rect">
            <a:avLst/>
          </a:prstGeom>
          <a:solidFill>
            <a:srgbClr val="341A0A"/>
          </a:solidFill>
          <a:ln w="5080">
            <a:solidFill>
              <a:srgbClr val="4A2A14"/>
            </a:solidFill>
            <a:prstDash val="solid"/>
          </a:ln>
        </p:spPr>
      </p:sp>
      <p:sp>
        <p:nvSpPr>
          <p:cNvPr id="18" name="Shape 16"/>
          <p:cNvSpPr/>
          <p:nvPr/>
        </p:nvSpPr>
        <p:spPr>
          <a:xfrm>
            <a:off x="594360" y="3154680"/>
            <a:ext cx="64008" cy="594360"/>
          </a:xfrm>
          <a:prstGeom prst="rect">
            <a:avLst/>
          </a:prstGeom>
          <a:solidFill>
            <a:srgbClr val="178A52"/>
          </a:solidFill>
          <a:ln w="12700">
            <a:solidFill>
              <a:srgbClr val="178A52"/>
            </a:solidFill>
            <a:prstDash val="solid"/>
          </a:ln>
        </p:spPr>
      </p:sp>
      <p:sp>
        <p:nvSpPr>
          <p:cNvPr id="19" name="Text 17"/>
          <p:cNvSpPr/>
          <p:nvPr/>
        </p:nvSpPr>
        <p:spPr>
          <a:xfrm>
            <a:off x="804672" y="3154680"/>
            <a:ext cx="4937760" cy="594360"/>
          </a:xfrm>
          <a:prstGeom prst="rect">
            <a:avLst/>
          </a:prstGeom>
          <a:noFill/>
          <a:ln/>
        </p:spPr>
        <p:txBody>
          <a:bodyPr wrap="square" lIns="0" tIns="0" rIns="0" bIns="0" rtlCol="0" anchor="ctr"/>
          <a:lstStyle/>
          <a:p>
            <a:pPr algn="l" indent="0" marL="0">
              <a:buNone/>
            </a:pPr>
            <a:r>
              <a:rPr lang="en-US" sz="1150" dirty="0">
                <a:solidFill>
                  <a:srgbClr val="FBF0DD"/>
                </a:solidFill>
              </a:rPr>
              <a:t>Recettes par profil, mouture ajustable</a:t>
            </a:r>
            <a:endParaRPr lang="en-US" sz="1150" dirty="0"/>
          </a:p>
        </p:txBody>
      </p:sp>
      <p:sp>
        <p:nvSpPr>
          <p:cNvPr id="20" name="Shape 18"/>
          <p:cNvSpPr/>
          <p:nvPr/>
        </p:nvSpPr>
        <p:spPr>
          <a:xfrm>
            <a:off x="594360" y="3886200"/>
            <a:ext cx="5212080" cy="594360"/>
          </a:xfrm>
          <a:prstGeom prst="rect">
            <a:avLst/>
          </a:prstGeom>
          <a:solidFill>
            <a:srgbClr val="341A0A"/>
          </a:solidFill>
          <a:ln w="5080">
            <a:solidFill>
              <a:srgbClr val="4A2A14"/>
            </a:solidFill>
            <a:prstDash val="solid"/>
          </a:ln>
        </p:spPr>
      </p:sp>
      <p:sp>
        <p:nvSpPr>
          <p:cNvPr id="21" name="Shape 19"/>
          <p:cNvSpPr/>
          <p:nvPr/>
        </p:nvSpPr>
        <p:spPr>
          <a:xfrm>
            <a:off x="594360" y="3886200"/>
            <a:ext cx="64008" cy="594360"/>
          </a:xfrm>
          <a:prstGeom prst="rect">
            <a:avLst/>
          </a:prstGeom>
          <a:solidFill>
            <a:srgbClr val="D49A14"/>
          </a:solidFill>
          <a:ln w="12700">
            <a:solidFill>
              <a:srgbClr val="D49A14"/>
            </a:solidFill>
            <a:prstDash val="solid"/>
          </a:ln>
        </p:spPr>
      </p:sp>
      <p:sp>
        <p:nvSpPr>
          <p:cNvPr id="22" name="Text 20"/>
          <p:cNvSpPr/>
          <p:nvPr/>
        </p:nvSpPr>
        <p:spPr>
          <a:xfrm>
            <a:off x="804672" y="3886200"/>
            <a:ext cx="4937760" cy="594360"/>
          </a:xfrm>
          <a:prstGeom prst="rect">
            <a:avLst/>
          </a:prstGeom>
          <a:noFill/>
          <a:ln/>
        </p:spPr>
        <p:txBody>
          <a:bodyPr wrap="square" lIns="0" tIns="0" rIns="0" bIns="0" rtlCol="0" anchor="ctr"/>
          <a:lstStyle/>
          <a:p>
            <a:pPr algn="l" indent="0" marL="0">
              <a:buNone/>
            </a:pPr>
            <a:r>
              <a:rPr lang="en-US" sz="1150" b="1" dirty="0">
                <a:solidFill>
                  <a:srgbClr val="F5B828"/>
                </a:solidFill>
              </a:rPr>
              <a:t>...mais presente dans l'APK</a:t>
            </a:r>
            <a:endParaRPr lang="en-US" sz="1150" dirty="0"/>
          </a:p>
        </p:txBody>
      </p:sp>
      <p:sp>
        <p:nvSpPr>
          <p:cNvPr id="23" name="Shape 21"/>
          <p:cNvSpPr/>
          <p:nvPr/>
        </p:nvSpPr>
        <p:spPr>
          <a:xfrm>
            <a:off x="6035040" y="960120"/>
            <a:ext cx="2788920" cy="3840480"/>
          </a:xfrm>
          <a:prstGeom prst="rect">
            <a:avLst/>
          </a:prstGeom>
          <a:solidFill>
            <a:srgbClr val="341A0A"/>
          </a:solidFill>
          <a:ln w="9525">
            <a:solidFill>
              <a:srgbClr val="D49A14"/>
            </a:solidFill>
            <a:prstDash val="solid"/>
          </a:ln>
        </p:spPr>
      </p:sp>
      <p:sp>
        <p:nvSpPr>
          <p:cNvPr id="24" name="Text 22"/>
          <p:cNvSpPr/>
          <p:nvPr/>
        </p:nvSpPr>
        <p:spPr>
          <a:xfrm>
            <a:off x="6035040" y="1097280"/>
            <a:ext cx="2788920" cy="685800"/>
          </a:xfrm>
          <a:prstGeom prst="rect">
            <a:avLst/>
          </a:prstGeom>
          <a:noFill/>
          <a:ln/>
        </p:spPr>
        <p:txBody>
          <a:bodyPr wrap="square" lIns="0" tIns="0" rIns="0" bIns="0" rtlCol="0" anchor="ctr"/>
          <a:lstStyle/>
          <a:p>
            <a:pPr algn="ctr" indent="0" marL="0">
              <a:buNone/>
            </a:pPr>
            <a:r>
              <a:rPr lang="en-US" sz="4600" b="1" dirty="0">
                <a:solidFill>
                  <a:srgbClr val="D49A14"/>
                </a:solidFill>
                <a:latin typeface="Georgia" pitchFamily="34" charset="0"/>
                <a:ea typeface="Georgia" pitchFamily="34" charset="-122"/>
                <a:cs typeface="Georgia" pitchFamily="34" charset="-120"/>
              </a:rPr>
              <a:t>30+</a:t>
            </a:r>
            <a:endParaRPr lang="en-US" sz="4600" dirty="0"/>
          </a:p>
        </p:txBody>
      </p:sp>
      <p:sp>
        <p:nvSpPr>
          <p:cNvPr id="25" name="Text 23"/>
          <p:cNvSpPr/>
          <p:nvPr/>
        </p:nvSpPr>
        <p:spPr>
          <a:xfrm>
            <a:off x="6035040" y="1783080"/>
            <a:ext cx="2788920" cy="457200"/>
          </a:xfrm>
          <a:prstGeom prst="rect">
            <a:avLst/>
          </a:prstGeom>
          <a:noFill/>
          <a:ln/>
        </p:spPr>
        <p:txBody>
          <a:bodyPr wrap="square" lIns="0" tIns="0" rIns="0" bIns="0" rtlCol="0" anchor="ctr"/>
          <a:lstStyle/>
          <a:p>
            <a:pPr algn="ctr" indent="0" marL="0">
              <a:buNone/>
            </a:pPr>
            <a:r>
              <a:rPr lang="en-US" sz="1000" dirty="0">
                <a:solidFill>
                  <a:srgbClr val="9A7050"/>
                </a:solidFill>
              </a:rPr>
              <a:t>boissons disponibles</a:t>
            </a:r>
            <a:endParaRPr lang="en-US" sz="1000" dirty="0"/>
          </a:p>
        </p:txBody>
      </p:sp>
      <p:sp>
        <p:nvSpPr>
          <p:cNvPr id="26" name="Shape 24"/>
          <p:cNvSpPr/>
          <p:nvPr/>
        </p:nvSpPr>
        <p:spPr>
          <a:xfrm>
            <a:off x="6263640" y="2267712"/>
            <a:ext cx="2331720" cy="0"/>
          </a:xfrm>
          <a:prstGeom prst="line">
            <a:avLst/>
          </a:prstGeom>
          <a:noFill/>
          <a:ln w="5080">
            <a:solidFill>
              <a:srgbClr val="4A2A14"/>
            </a:solidFill>
            <a:prstDash val="solid"/>
          </a:ln>
        </p:spPr>
      </p:sp>
      <p:sp>
        <p:nvSpPr>
          <p:cNvPr id="27" name="Text 25"/>
          <p:cNvSpPr/>
          <p:nvPr/>
        </p:nvSpPr>
        <p:spPr>
          <a:xfrm>
            <a:off x="6035040" y="2331720"/>
            <a:ext cx="2788920" cy="685800"/>
          </a:xfrm>
          <a:prstGeom prst="rect">
            <a:avLst/>
          </a:prstGeom>
          <a:noFill/>
          <a:ln/>
        </p:spPr>
        <p:txBody>
          <a:bodyPr wrap="square" lIns="0" tIns="0" rIns="0" bIns="0" rtlCol="0" anchor="ctr"/>
          <a:lstStyle/>
          <a:p>
            <a:pPr algn="ctr" indent="0" marL="0">
              <a:buNone/>
            </a:pPr>
            <a:r>
              <a:rPr lang="en-US" sz="4600" b="1" dirty="0">
                <a:solidFill>
                  <a:srgbClr val="D49A14"/>
                </a:solidFill>
                <a:latin typeface="Georgia" pitchFamily="34" charset="0"/>
                <a:ea typeface="Georgia" pitchFamily="34" charset="-122"/>
                <a:cs typeface="Georgia" pitchFamily="34" charset="-120"/>
              </a:rPr>
              <a:t>8 313</a:t>
            </a:r>
            <a:endParaRPr lang="en-US" sz="4600" dirty="0"/>
          </a:p>
        </p:txBody>
      </p:sp>
      <p:sp>
        <p:nvSpPr>
          <p:cNvPr id="28" name="Text 26"/>
          <p:cNvSpPr/>
          <p:nvPr/>
        </p:nvSpPr>
        <p:spPr>
          <a:xfrm>
            <a:off x="6035040" y="3017520"/>
            <a:ext cx="2788920" cy="457200"/>
          </a:xfrm>
          <a:prstGeom prst="rect">
            <a:avLst/>
          </a:prstGeom>
          <a:noFill/>
          <a:ln/>
        </p:spPr>
        <p:txBody>
          <a:bodyPr wrap="square" lIns="0" tIns="0" rIns="0" bIns="0" rtlCol="0" anchor="ctr"/>
          <a:lstStyle/>
          <a:p>
            <a:pPr algn="ctr" indent="0" marL="0">
              <a:buNone/>
            </a:pPr>
            <a:r>
              <a:rPr lang="en-US" sz="1000" dirty="0">
                <a:solidFill>
                  <a:srgbClr val="9A7050"/>
                </a:solidFill>
              </a:rPr>
              <a:t>fichiers Java</a:t>
            </a:r>
            <a:endParaRPr lang="en-US" sz="1000" dirty="0"/>
          </a:p>
          <a:p>
            <a:pPr algn="ctr" indent="0" marL="0">
              <a:buNone/>
            </a:pPr>
            <a:r>
              <a:rPr lang="en-US" sz="1000" dirty="0">
                <a:solidFill>
                  <a:srgbClr val="9A7050"/>
                </a:solidFill>
              </a:rPr>
              <a:t>decompiles</a:t>
            </a:r>
            <a:endParaRPr lang="en-US" sz="1000" dirty="0"/>
          </a:p>
        </p:txBody>
      </p:sp>
      <p:sp>
        <p:nvSpPr>
          <p:cNvPr id="29" name="Shape 27"/>
          <p:cNvSpPr/>
          <p:nvPr/>
        </p:nvSpPr>
        <p:spPr>
          <a:xfrm>
            <a:off x="6263640" y="3502152"/>
            <a:ext cx="2331720" cy="0"/>
          </a:xfrm>
          <a:prstGeom prst="line">
            <a:avLst/>
          </a:prstGeom>
          <a:noFill/>
          <a:ln w="5080">
            <a:solidFill>
              <a:srgbClr val="4A2A14"/>
            </a:solidFill>
            <a:prstDash val="solid"/>
          </a:ln>
        </p:spPr>
      </p:sp>
      <p:sp>
        <p:nvSpPr>
          <p:cNvPr id="30" name="Text 28"/>
          <p:cNvSpPr/>
          <p:nvPr/>
        </p:nvSpPr>
        <p:spPr>
          <a:xfrm>
            <a:off x="6035040" y="3566160"/>
            <a:ext cx="2788920" cy="685800"/>
          </a:xfrm>
          <a:prstGeom prst="rect">
            <a:avLst/>
          </a:prstGeom>
          <a:noFill/>
          <a:ln/>
        </p:spPr>
        <p:txBody>
          <a:bodyPr wrap="square" lIns="0" tIns="0" rIns="0" bIns="0" rtlCol="0" anchor="ctr"/>
          <a:lstStyle/>
          <a:p>
            <a:pPr algn="ctr" indent="0" marL="0">
              <a:buNone/>
            </a:pPr>
            <a:r>
              <a:rPr lang="en-US" sz="4600" b="1" dirty="0">
                <a:solidFill>
                  <a:srgbClr val="D49A14"/>
                </a:solidFill>
                <a:latin typeface="Georgia" pitchFamily="34" charset="0"/>
                <a:ea typeface="Georgia" pitchFamily="34" charset="-122"/>
                <a:cs typeface="Georgia" pitchFamily="34" charset="-120"/>
              </a:rPr>
              <a:t>3</a:t>
            </a:r>
            <a:endParaRPr lang="en-US" sz="4600" dirty="0"/>
          </a:p>
        </p:txBody>
      </p:sp>
      <p:sp>
        <p:nvSpPr>
          <p:cNvPr id="31" name="Text 29"/>
          <p:cNvSpPr/>
          <p:nvPr/>
        </p:nvSpPr>
        <p:spPr>
          <a:xfrm>
            <a:off x="6035040" y="4251960"/>
            <a:ext cx="2788920" cy="457200"/>
          </a:xfrm>
          <a:prstGeom prst="rect">
            <a:avLst/>
          </a:prstGeom>
          <a:noFill/>
          <a:ln/>
        </p:spPr>
        <p:txBody>
          <a:bodyPr wrap="square" lIns="0" tIns="0" rIns="0" bIns="0" rtlCol="0" anchor="ctr"/>
          <a:lstStyle/>
          <a:p>
            <a:pPr algn="ctr" indent="0" marL="0">
              <a:buNone/>
            </a:pPr>
            <a:r>
              <a:rPr lang="en-US" sz="1000" dirty="0">
                <a:solidFill>
                  <a:srgbClr val="9A7050"/>
                </a:solidFill>
              </a:rPr>
              <a:t>couches reseau</a:t>
            </a:r>
            <a:endParaRPr lang="en-US" sz="1000" dirty="0"/>
          </a:p>
          <a:p>
            <a:pPr algn="ctr" indent="0" marL="0">
              <a:buNone/>
            </a:pPr>
            <a:r>
              <a:rPr lang="en-US" sz="1000" dirty="0">
                <a:solidFill>
                  <a:srgbClr val="9A7050"/>
                </a:solidFill>
              </a:rPr>
              <a:t>retro-ingeniees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Le point de depart : decompiler l'APK</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REVERSE ENGINEERING</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4 / 16</a:t>
            </a:r>
            <a:endParaRPr lang="en-US" sz="750" dirty="0"/>
          </a:p>
        </p:txBody>
      </p:sp>
      <p:sp>
        <p:nvSpPr>
          <p:cNvPr id="8" name="Shape 6"/>
          <p:cNvSpPr/>
          <p:nvPr/>
        </p:nvSpPr>
        <p:spPr>
          <a:xfrm>
            <a:off x="594360" y="960120"/>
            <a:ext cx="2670048" cy="3822192"/>
          </a:xfrm>
          <a:prstGeom prst="rect">
            <a:avLst/>
          </a:prstGeom>
          <a:solidFill>
            <a:srgbClr val="341A0A"/>
          </a:solidFill>
          <a:ln w="12700">
            <a:solidFill>
              <a:srgbClr val="1A72B8"/>
            </a:solidFill>
            <a:prstDash val="solid"/>
          </a:ln>
        </p:spPr>
      </p:sp>
      <p:sp>
        <p:nvSpPr>
          <p:cNvPr id="9" name="Shape 7"/>
          <p:cNvSpPr/>
          <p:nvPr/>
        </p:nvSpPr>
        <p:spPr>
          <a:xfrm>
            <a:off x="594360" y="960120"/>
            <a:ext cx="2670048" cy="73152"/>
          </a:xfrm>
          <a:prstGeom prst="rect">
            <a:avLst/>
          </a:prstGeom>
          <a:solidFill>
            <a:srgbClr val="1A72B8"/>
          </a:solidFill>
          <a:ln w="12700">
            <a:solidFill>
              <a:srgbClr val="1A72B8"/>
            </a:solidFill>
            <a:prstDash val="solid"/>
          </a:ln>
        </p:spPr>
      </p:sp>
      <p:sp>
        <p:nvSpPr>
          <p:cNvPr id="10" name="Text 8"/>
          <p:cNvSpPr/>
          <p:nvPr/>
        </p:nvSpPr>
        <p:spPr>
          <a:xfrm>
            <a:off x="594360" y="1078992"/>
            <a:ext cx="2670048" cy="731520"/>
          </a:xfrm>
          <a:prstGeom prst="rect">
            <a:avLst/>
          </a:prstGeom>
          <a:noFill/>
          <a:ln/>
        </p:spPr>
        <p:txBody>
          <a:bodyPr wrap="square" lIns="0" tIns="0" rIns="0" bIns="0" rtlCol="0" anchor="ctr"/>
          <a:lstStyle/>
          <a:p>
            <a:pPr algn="ctr" indent="0" marL="0">
              <a:buNone/>
            </a:pPr>
            <a:r>
              <a:rPr lang="en-US" sz="4400" b="1" dirty="0">
                <a:solidFill>
                  <a:srgbClr val="1A72B8"/>
                </a:solidFill>
                <a:latin typeface="Georgia" pitchFamily="34" charset="0"/>
                <a:ea typeface="Georgia" pitchFamily="34" charset="-122"/>
                <a:cs typeface="Georgia" pitchFamily="34" charset="-120"/>
              </a:rPr>
              <a:t>01</a:t>
            </a:r>
            <a:endParaRPr lang="en-US" sz="4400" dirty="0"/>
          </a:p>
        </p:txBody>
      </p:sp>
      <p:sp>
        <p:nvSpPr>
          <p:cNvPr id="11" name="Text 9"/>
          <p:cNvSpPr/>
          <p:nvPr/>
        </p:nvSpPr>
        <p:spPr>
          <a:xfrm>
            <a:off x="731520" y="1920240"/>
            <a:ext cx="2395728" cy="438912"/>
          </a:xfrm>
          <a:prstGeom prst="rect">
            <a:avLst/>
          </a:prstGeom>
          <a:noFill/>
          <a:ln/>
        </p:spPr>
        <p:txBody>
          <a:bodyPr wrap="square" lIns="0" tIns="0" rIns="0" bIns="0" rtlCol="0" anchor="ctr"/>
          <a:lstStyle/>
          <a:p>
            <a:pPr algn="ctr" indent="0" marL="0">
              <a:buNone/>
            </a:pPr>
            <a:r>
              <a:rPr lang="en-US" sz="1300" b="1" dirty="0">
                <a:solidFill>
                  <a:srgbClr val="FBF0DD"/>
                </a:solidFill>
              </a:rPr>
              <a:t>Telecharger l'APK</a:t>
            </a:r>
            <a:endParaRPr lang="en-US" sz="1300" dirty="0"/>
          </a:p>
        </p:txBody>
      </p:sp>
      <p:sp>
        <p:nvSpPr>
          <p:cNvPr id="12" name="Shape 10"/>
          <p:cNvSpPr/>
          <p:nvPr/>
        </p:nvSpPr>
        <p:spPr>
          <a:xfrm>
            <a:off x="868680" y="2404872"/>
            <a:ext cx="2121408" cy="0"/>
          </a:xfrm>
          <a:prstGeom prst="line">
            <a:avLst/>
          </a:prstGeom>
          <a:noFill/>
          <a:ln w="5080">
            <a:solidFill>
              <a:srgbClr val="4A2A14"/>
            </a:solidFill>
            <a:prstDash val="solid"/>
          </a:ln>
        </p:spPr>
      </p:sp>
      <p:sp>
        <p:nvSpPr>
          <p:cNvPr id="13" name="Text 11"/>
          <p:cNvSpPr/>
          <p:nvPr/>
        </p:nvSpPr>
        <p:spPr>
          <a:xfrm>
            <a:off x="685800" y="2514600"/>
            <a:ext cx="2487168" cy="1371600"/>
          </a:xfrm>
          <a:prstGeom prst="rect">
            <a:avLst/>
          </a:prstGeom>
          <a:noFill/>
          <a:ln/>
        </p:spPr>
        <p:txBody>
          <a:bodyPr wrap="square" lIns="0" tIns="0" rIns="0" bIns="0" rtlCol="0" anchor="ctr"/>
          <a:lstStyle/>
          <a:p>
            <a:pPr algn="ctr" indent="0" marL="0">
              <a:buNone/>
            </a:pPr>
            <a:r>
              <a:rPr lang="en-US" sz="1100" dirty="0">
                <a:solidFill>
                  <a:srgbClr val="9A7050"/>
                </a:solidFill>
              </a:rPr>
              <a:t>De'Longhi Coffee Link</a:t>
            </a:r>
            <a:endParaRPr lang="en-US" sz="1100" dirty="0"/>
          </a:p>
          <a:p>
            <a:pPr algn="ctr" indent="0" marL="0">
              <a:buNone/>
            </a:pPr>
            <a:r>
              <a:rPr lang="en-US" sz="1100" dirty="0">
                <a:solidFill>
                  <a:srgbClr val="9A7050"/>
                </a:solidFill>
              </a:rPr>
              <a:t>sur le Play Store</a:t>
            </a:r>
            <a:endParaRPr lang="en-US" sz="1100" dirty="0"/>
          </a:p>
          <a:p>
            <a:pPr algn="ctr" indent="0" marL="0">
              <a:buNone/>
            </a:pPr>
            <a:r>
              <a:rPr lang="en-US" sz="1100" dirty="0">
                <a:solidFill>
                  <a:srgbClr val="9A7050"/>
                </a:solidFill>
              </a:rPr>
              <a:t>Extraction via ADB</a:t>
            </a:r>
            <a:endParaRPr lang="en-US" sz="1100" dirty="0"/>
          </a:p>
        </p:txBody>
      </p:sp>
      <p:sp>
        <p:nvSpPr>
          <p:cNvPr id="14" name="Shape 12"/>
          <p:cNvSpPr/>
          <p:nvPr/>
        </p:nvSpPr>
        <p:spPr>
          <a:xfrm>
            <a:off x="3264408" y="2871216"/>
            <a:ext cx="164592" cy="0"/>
          </a:xfrm>
          <a:prstGeom prst="line">
            <a:avLst/>
          </a:prstGeom>
          <a:noFill/>
          <a:ln w="16510">
            <a:solidFill>
              <a:srgbClr val="D49A14"/>
            </a:solidFill>
            <a:prstDash val="solid"/>
            <a:tailEnd type="arrow"/>
          </a:ln>
        </p:spPr>
      </p:sp>
      <p:sp>
        <p:nvSpPr>
          <p:cNvPr id="15" name="Shape 13"/>
          <p:cNvSpPr/>
          <p:nvPr/>
        </p:nvSpPr>
        <p:spPr>
          <a:xfrm>
            <a:off x="3429000" y="960120"/>
            <a:ext cx="2670048" cy="3822192"/>
          </a:xfrm>
          <a:prstGeom prst="rect">
            <a:avLst/>
          </a:prstGeom>
          <a:solidFill>
            <a:srgbClr val="341A0A"/>
          </a:solidFill>
          <a:ln w="12700">
            <a:solidFill>
              <a:srgbClr val="178A52"/>
            </a:solidFill>
            <a:prstDash val="solid"/>
          </a:ln>
        </p:spPr>
      </p:sp>
      <p:sp>
        <p:nvSpPr>
          <p:cNvPr id="16" name="Shape 14"/>
          <p:cNvSpPr/>
          <p:nvPr/>
        </p:nvSpPr>
        <p:spPr>
          <a:xfrm>
            <a:off x="3429000" y="960120"/>
            <a:ext cx="2670048" cy="73152"/>
          </a:xfrm>
          <a:prstGeom prst="rect">
            <a:avLst/>
          </a:prstGeom>
          <a:solidFill>
            <a:srgbClr val="178A52"/>
          </a:solidFill>
          <a:ln w="12700">
            <a:solidFill>
              <a:srgbClr val="178A52"/>
            </a:solidFill>
            <a:prstDash val="solid"/>
          </a:ln>
        </p:spPr>
      </p:sp>
      <p:sp>
        <p:nvSpPr>
          <p:cNvPr id="17" name="Text 15"/>
          <p:cNvSpPr/>
          <p:nvPr/>
        </p:nvSpPr>
        <p:spPr>
          <a:xfrm>
            <a:off x="3429000" y="1078992"/>
            <a:ext cx="2670048" cy="731520"/>
          </a:xfrm>
          <a:prstGeom prst="rect">
            <a:avLst/>
          </a:prstGeom>
          <a:noFill/>
          <a:ln/>
        </p:spPr>
        <p:txBody>
          <a:bodyPr wrap="square" lIns="0" tIns="0" rIns="0" bIns="0" rtlCol="0" anchor="ctr"/>
          <a:lstStyle/>
          <a:p>
            <a:pPr algn="ctr" indent="0" marL="0">
              <a:buNone/>
            </a:pPr>
            <a:r>
              <a:rPr lang="en-US" sz="4400" b="1" dirty="0">
                <a:solidFill>
                  <a:srgbClr val="178A52"/>
                </a:solidFill>
                <a:latin typeface="Georgia" pitchFamily="34" charset="0"/>
                <a:ea typeface="Georgia" pitchFamily="34" charset="-122"/>
                <a:cs typeface="Georgia" pitchFamily="34" charset="-120"/>
              </a:rPr>
              <a:t>02</a:t>
            </a:r>
            <a:endParaRPr lang="en-US" sz="4400" dirty="0"/>
          </a:p>
        </p:txBody>
      </p:sp>
      <p:sp>
        <p:nvSpPr>
          <p:cNvPr id="18" name="Text 16"/>
          <p:cNvSpPr/>
          <p:nvPr/>
        </p:nvSpPr>
        <p:spPr>
          <a:xfrm>
            <a:off x="3566160" y="1920240"/>
            <a:ext cx="2395728" cy="438912"/>
          </a:xfrm>
          <a:prstGeom prst="rect">
            <a:avLst/>
          </a:prstGeom>
          <a:noFill/>
          <a:ln/>
        </p:spPr>
        <p:txBody>
          <a:bodyPr wrap="square" lIns="0" tIns="0" rIns="0" bIns="0" rtlCol="0" anchor="ctr"/>
          <a:lstStyle/>
          <a:p>
            <a:pPr algn="ctr" indent="0" marL="0">
              <a:buNone/>
            </a:pPr>
            <a:r>
              <a:rPr lang="en-US" sz="1300" b="1" dirty="0">
                <a:solidFill>
                  <a:srgbClr val="FBF0DD"/>
                </a:solidFill>
              </a:rPr>
              <a:t>Decompiler avec jadx</a:t>
            </a:r>
            <a:endParaRPr lang="en-US" sz="1300" dirty="0"/>
          </a:p>
        </p:txBody>
      </p:sp>
      <p:sp>
        <p:nvSpPr>
          <p:cNvPr id="19" name="Shape 17"/>
          <p:cNvSpPr/>
          <p:nvPr/>
        </p:nvSpPr>
        <p:spPr>
          <a:xfrm>
            <a:off x="3703320" y="2404872"/>
            <a:ext cx="2121408" cy="0"/>
          </a:xfrm>
          <a:prstGeom prst="line">
            <a:avLst/>
          </a:prstGeom>
          <a:noFill/>
          <a:ln w="5080">
            <a:solidFill>
              <a:srgbClr val="4A2A14"/>
            </a:solidFill>
            <a:prstDash val="solid"/>
          </a:ln>
        </p:spPr>
      </p:sp>
      <p:sp>
        <p:nvSpPr>
          <p:cNvPr id="20" name="Text 18"/>
          <p:cNvSpPr/>
          <p:nvPr/>
        </p:nvSpPr>
        <p:spPr>
          <a:xfrm>
            <a:off x="3520440" y="2514600"/>
            <a:ext cx="2487168" cy="1371600"/>
          </a:xfrm>
          <a:prstGeom prst="rect">
            <a:avLst/>
          </a:prstGeom>
          <a:noFill/>
          <a:ln/>
        </p:spPr>
        <p:txBody>
          <a:bodyPr wrap="square" lIns="0" tIns="0" rIns="0" bIns="0" rtlCol="0" anchor="ctr"/>
          <a:lstStyle/>
          <a:p>
            <a:pPr algn="ctr" indent="0" marL="0">
              <a:buNone/>
            </a:pPr>
            <a:r>
              <a:rPr lang="en-US" sz="1100" dirty="0">
                <a:solidFill>
                  <a:srgbClr val="9A7050"/>
                </a:solidFill>
              </a:rPr>
              <a:t>jadx 1.5.1</a:t>
            </a:r>
            <a:endParaRPr lang="en-US" sz="1100" dirty="0"/>
          </a:p>
          <a:p>
            <a:pPr algn="ctr" indent="0" marL="0">
              <a:buNone/>
            </a:pPr>
            <a:r>
              <a:rPr lang="en-US" sz="1100" dirty="0">
                <a:solidFill>
                  <a:srgbClr val="9A7050"/>
                </a:solidFill>
              </a:rPr>
              <a:t>8 313 fichiers Java</a:t>
            </a:r>
            <a:endParaRPr lang="en-US" sz="1100" dirty="0"/>
          </a:p>
          <a:p>
            <a:pPr algn="ctr" indent="0" marL="0">
              <a:buNone/>
            </a:pPr>
            <a:r>
              <a:rPr lang="en-US" sz="1100" dirty="0">
                <a:solidFill>
                  <a:srgbClr val="9A7050"/>
                </a:solidFill>
              </a:rPr>
              <a:t>it.delonghi.* lisible</a:t>
            </a:r>
            <a:endParaRPr lang="en-US" sz="1100" dirty="0"/>
          </a:p>
        </p:txBody>
      </p:sp>
      <p:sp>
        <p:nvSpPr>
          <p:cNvPr id="21" name="Shape 19"/>
          <p:cNvSpPr/>
          <p:nvPr/>
        </p:nvSpPr>
        <p:spPr>
          <a:xfrm>
            <a:off x="6099048" y="2871216"/>
            <a:ext cx="164592" cy="0"/>
          </a:xfrm>
          <a:prstGeom prst="line">
            <a:avLst/>
          </a:prstGeom>
          <a:noFill/>
          <a:ln w="16510">
            <a:solidFill>
              <a:srgbClr val="D49A14"/>
            </a:solidFill>
            <a:prstDash val="solid"/>
            <a:tailEnd type="arrow"/>
          </a:ln>
        </p:spPr>
      </p:sp>
      <p:sp>
        <p:nvSpPr>
          <p:cNvPr id="22" name="Shape 20"/>
          <p:cNvSpPr/>
          <p:nvPr/>
        </p:nvSpPr>
        <p:spPr>
          <a:xfrm>
            <a:off x="6263640" y="960120"/>
            <a:ext cx="2670048" cy="3822192"/>
          </a:xfrm>
          <a:prstGeom prst="rect">
            <a:avLst/>
          </a:prstGeom>
          <a:solidFill>
            <a:srgbClr val="341A0A"/>
          </a:solidFill>
          <a:ln w="12700">
            <a:solidFill>
              <a:srgbClr val="D49A14"/>
            </a:solidFill>
            <a:prstDash val="solid"/>
          </a:ln>
        </p:spPr>
      </p:sp>
      <p:sp>
        <p:nvSpPr>
          <p:cNvPr id="23" name="Shape 21"/>
          <p:cNvSpPr/>
          <p:nvPr/>
        </p:nvSpPr>
        <p:spPr>
          <a:xfrm>
            <a:off x="6263640" y="960120"/>
            <a:ext cx="2670048" cy="73152"/>
          </a:xfrm>
          <a:prstGeom prst="rect">
            <a:avLst/>
          </a:prstGeom>
          <a:solidFill>
            <a:srgbClr val="D49A14"/>
          </a:solidFill>
          <a:ln w="12700">
            <a:solidFill>
              <a:srgbClr val="D49A14"/>
            </a:solidFill>
            <a:prstDash val="solid"/>
          </a:ln>
        </p:spPr>
      </p:sp>
      <p:sp>
        <p:nvSpPr>
          <p:cNvPr id="24" name="Text 22"/>
          <p:cNvSpPr/>
          <p:nvPr/>
        </p:nvSpPr>
        <p:spPr>
          <a:xfrm>
            <a:off x="6263640" y="1078992"/>
            <a:ext cx="2670048" cy="731520"/>
          </a:xfrm>
          <a:prstGeom prst="rect">
            <a:avLst/>
          </a:prstGeom>
          <a:noFill/>
          <a:ln/>
        </p:spPr>
        <p:txBody>
          <a:bodyPr wrap="square" lIns="0" tIns="0" rIns="0" bIns="0" rtlCol="0" anchor="ctr"/>
          <a:lstStyle/>
          <a:p>
            <a:pPr algn="ctr" indent="0" marL="0">
              <a:buNone/>
            </a:pPr>
            <a:r>
              <a:rPr lang="en-US" sz="4400" b="1" dirty="0">
                <a:solidFill>
                  <a:srgbClr val="D49A14"/>
                </a:solidFill>
                <a:latin typeface="Georgia" pitchFamily="34" charset="0"/>
                <a:ea typeface="Georgia" pitchFamily="34" charset="-122"/>
                <a:cs typeface="Georgia" pitchFamily="34" charset="-120"/>
              </a:rPr>
              <a:t>03</a:t>
            </a:r>
            <a:endParaRPr lang="en-US" sz="4400" dirty="0"/>
          </a:p>
        </p:txBody>
      </p:sp>
      <p:sp>
        <p:nvSpPr>
          <p:cNvPr id="25" name="Text 23"/>
          <p:cNvSpPr/>
          <p:nvPr/>
        </p:nvSpPr>
        <p:spPr>
          <a:xfrm>
            <a:off x="6400800" y="1920240"/>
            <a:ext cx="2395728" cy="438912"/>
          </a:xfrm>
          <a:prstGeom prst="rect">
            <a:avLst/>
          </a:prstGeom>
          <a:noFill/>
          <a:ln/>
        </p:spPr>
        <p:txBody>
          <a:bodyPr wrap="square" lIns="0" tIns="0" rIns="0" bIns="0" rtlCol="0" anchor="ctr"/>
          <a:lstStyle/>
          <a:p>
            <a:pPr algn="ctr" indent="0" marL="0">
              <a:buNone/>
            </a:pPr>
            <a:r>
              <a:rPr lang="en-US" sz="1300" b="1" dirty="0">
                <a:solidFill>
                  <a:srgbClr val="FBF0DD"/>
                </a:solidFill>
              </a:rPr>
              <a:t>Analyser le code source</a:t>
            </a:r>
            <a:endParaRPr lang="en-US" sz="1300" dirty="0"/>
          </a:p>
        </p:txBody>
      </p:sp>
      <p:sp>
        <p:nvSpPr>
          <p:cNvPr id="26" name="Shape 24"/>
          <p:cNvSpPr/>
          <p:nvPr/>
        </p:nvSpPr>
        <p:spPr>
          <a:xfrm>
            <a:off x="6537960" y="2404872"/>
            <a:ext cx="2121408" cy="0"/>
          </a:xfrm>
          <a:prstGeom prst="line">
            <a:avLst/>
          </a:prstGeom>
          <a:noFill/>
          <a:ln w="5080">
            <a:solidFill>
              <a:srgbClr val="4A2A14"/>
            </a:solidFill>
            <a:prstDash val="solid"/>
          </a:ln>
        </p:spPr>
      </p:sp>
      <p:sp>
        <p:nvSpPr>
          <p:cNvPr id="27" name="Text 25"/>
          <p:cNvSpPr/>
          <p:nvPr/>
        </p:nvSpPr>
        <p:spPr>
          <a:xfrm>
            <a:off x="6355080" y="2514600"/>
            <a:ext cx="2487168" cy="1371600"/>
          </a:xfrm>
          <a:prstGeom prst="rect">
            <a:avLst/>
          </a:prstGeom>
          <a:noFill/>
          <a:ln/>
        </p:spPr>
        <p:txBody>
          <a:bodyPr wrap="square" lIns="0" tIns="0" rIns="0" bIns="0" rtlCol="0" anchor="ctr"/>
          <a:lstStyle/>
          <a:p>
            <a:pPr algn="ctr" indent="0" marL="0">
              <a:buNone/>
            </a:pPr>
            <a:r>
              <a:rPr lang="en-US" sz="1100" dirty="0">
                <a:solidFill>
                  <a:srgbClr val="9A7050"/>
                </a:solidFill>
              </a:rPr>
              <a:t>DeLonghi.java</a:t>
            </a:r>
            <a:endParaRPr lang="en-US" sz="1100" dirty="0"/>
          </a:p>
          <a:p>
            <a:pPr algn="ctr" indent="0" marL="0">
              <a:buNone/>
            </a:pPr>
            <a:r>
              <a:rPr lang="en-US" sz="1100" dirty="0">
                <a:solidFill>
                  <a:srgbClr val="9A7050"/>
                </a:solidFill>
              </a:rPr>
              <a:t>App ID, App Secret</a:t>
            </a:r>
            <a:endParaRPr lang="en-US" sz="1100" dirty="0"/>
          </a:p>
          <a:p>
            <a:pPr algn="ctr" indent="0" marL="0">
              <a:buNone/>
            </a:pPr>
            <a:r>
              <a:rPr lang="en-US" sz="1100" dirty="0">
                <a:solidFill>
                  <a:srgbClr val="9A7050"/>
                </a:solidFill>
              </a:rPr>
              <a:t>URLs, protocole ECAM</a:t>
            </a:r>
            <a:endParaRPr lang="en-US" sz="1100" dirty="0"/>
          </a:p>
        </p:txBody>
      </p:sp>
      <p:sp>
        <p:nvSpPr>
          <p:cNvPr id="28" name="Shape 26"/>
          <p:cNvSpPr/>
          <p:nvPr/>
        </p:nvSpPr>
        <p:spPr>
          <a:xfrm>
            <a:off x="594360" y="4498848"/>
            <a:ext cx="8321040" cy="320040"/>
          </a:xfrm>
          <a:prstGeom prst="rect">
            <a:avLst/>
          </a:prstGeom>
          <a:solidFill>
            <a:srgbClr val="281508"/>
          </a:solidFill>
          <a:ln w="5080">
            <a:solidFill>
              <a:srgbClr val="4A2A14"/>
            </a:solidFill>
            <a:prstDash val="solid"/>
          </a:ln>
        </p:spPr>
      </p:sp>
      <p:sp>
        <p:nvSpPr>
          <p:cNvPr id="29" name="Text 27"/>
          <p:cNvSpPr/>
          <p:nvPr/>
        </p:nvSpPr>
        <p:spPr>
          <a:xfrm>
            <a:off x="685800" y="4498848"/>
            <a:ext cx="8229600" cy="320040"/>
          </a:xfrm>
          <a:prstGeom prst="rect">
            <a:avLst/>
          </a:prstGeom>
          <a:noFill/>
          <a:ln/>
        </p:spPr>
        <p:txBody>
          <a:bodyPr wrap="square" lIns="0" tIns="0" rIns="0" bIns="0" rtlCol="0" anchor="ctr"/>
          <a:lstStyle/>
          <a:p>
            <a:pPr algn="l" indent="0" marL="0">
              <a:buNone/>
            </a:pPr>
            <a:r>
              <a:rPr lang="en-US" sz="850" i="1" dirty="0">
                <a:solidFill>
                  <a:srgbClr val="9A7050"/>
                </a:solidFill>
              </a:rPr>
              <a:t>jadx-1.5.1  -  Java OpenJDK 21  -  docs/apk/decompiled/  -  winget: No package found -&gt; manual GitHub download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Ce qu'on trouve dans l'APK</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REVERSE ENGINEERING</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5 / 16</a:t>
            </a:r>
            <a:endParaRPr lang="en-US" sz="750" dirty="0"/>
          </a:p>
        </p:txBody>
      </p:sp>
      <p:sp>
        <p:nvSpPr>
          <p:cNvPr id="8" name="Shape 6"/>
          <p:cNvSpPr/>
          <p:nvPr/>
        </p:nvSpPr>
        <p:spPr>
          <a:xfrm>
            <a:off x="594360" y="960120"/>
            <a:ext cx="4069080" cy="1847088"/>
          </a:xfrm>
          <a:prstGeom prst="rect">
            <a:avLst/>
          </a:prstGeom>
          <a:solidFill>
            <a:srgbClr val="341A0A"/>
          </a:solidFill>
          <a:ln w="9525">
            <a:solidFill>
              <a:srgbClr val="C64018"/>
            </a:solidFill>
            <a:prstDash val="solid"/>
          </a:ln>
        </p:spPr>
      </p:sp>
      <p:sp>
        <p:nvSpPr>
          <p:cNvPr id="9" name="Shape 7"/>
          <p:cNvSpPr/>
          <p:nvPr/>
        </p:nvSpPr>
        <p:spPr>
          <a:xfrm>
            <a:off x="594360" y="960120"/>
            <a:ext cx="64008" cy="1847088"/>
          </a:xfrm>
          <a:prstGeom prst="rect">
            <a:avLst/>
          </a:prstGeom>
          <a:solidFill>
            <a:srgbClr val="C64018"/>
          </a:solidFill>
          <a:ln w="12700">
            <a:solidFill>
              <a:srgbClr val="C64018"/>
            </a:solidFill>
            <a:prstDash val="solid"/>
          </a:ln>
        </p:spPr>
      </p:sp>
      <p:sp>
        <p:nvSpPr>
          <p:cNvPr id="10" name="Text 8"/>
          <p:cNvSpPr/>
          <p:nvPr/>
        </p:nvSpPr>
        <p:spPr>
          <a:xfrm>
            <a:off x="749808" y="1051560"/>
            <a:ext cx="3794760" cy="237744"/>
          </a:xfrm>
          <a:prstGeom prst="rect">
            <a:avLst/>
          </a:prstGeom>
          <a:noFill/>
          <a:ln/>
        </p:spPr>
        <p:txBody>
          <a:bodyPr wrap="square" lIns="0" tIns="0" rIns="0" bIns="0" rtlCol="0" anchor="ctr"/>
          <a:lstStyle/>
          <a:p>
            <a:pPr indent="0" marL="0">
              <a:buNone/>
            </a:pPr>
            <a:r>
              <a:rPr lang="en-US" sz="800" dirty="0">
                <a:solidFill>
                  <a:srgbClr val="9A7050"/>
                </a:solidFill>
                <a:latin typeface="Consolas" pitchFamily="34" charset="0"/>
                <a:ea typeface="Consolas" pitchFamily="34" charset="-122"/>
                <a:cs typeface="Consolas" pitchFamily="34" charset="-120"/>
              </a:rPr>
              <a:t>DeLonghi.java:63</a:t>
            </a:r>
            <a:endParaRPr lang="en-US" sz="800" dirty="0"/>
          </a:p>
        </p:txBody>
      </p:sp>
      <p:sp>
        <p:nvSpPr>
          <p:cNvPr id="11" name="Text 9"/>
          <p:cNvSpPr/>
          <p:nvPr/>
        </p:nvSpPr>
        <p:spPr>
          <a:xfrm>
            <a:off x="749808" y="1307592"/>
            <a:ext cx="3794760" cy="292608"/>
          </a:xfrm>
          <a:prstGeom prst="rect">
            <a:avLst/>
          </a:prstGeom>
          <a:noFill/>
          <a:ln/>
        </p:spPr>
        <p:txBody>
          <a:bodyPr wrap="square" lIns="0" tIns="0" rIns="0" bIns="0" rtlCol="0" anchor="ctr"/>
          <a:lstStyle/>
          <a:p>
            <a:pPr indent="0" marL="0">
              <a:buNone/>
            </a:pPr>
            <a:r>
              <a:rPr lang="en-US" sz="1200" b="1" dirty="0">
                <a:solidFill>
                  <a:srgbClr val="FBF0DD"/>
                </a:solidFill>
              </a:rPr>
              <a:t>Ayla App ID &amp; Secret</a:t>
            </a:r>
            <a:endParaRPr lang="en-US" sz="1200" dirty="0"/>
          </a:p>
        </p:txBody>
      </p:sp>
      <p:sp>
        <p:nvSpPr>
          <p:cNvPr id="12" name="Shape 10"/>
          <p:cNvSpPr/>
          <p:nvPr/>
        </p:nvSpPr>
        <p:spPr>
          <a:xfrm>
            <a:off x="749808" y="1636776"/>
            <a:ext cx="3767328" cy="987552"/>
          </a:xfrm>
          <a:prstGeom prst="rect">
            <a:avLst/>
          </a:prstGeom>
          <a:solidFill>
            <a:srgbClr val="0D0A07"/>
          </a:solidFill>
          <a:ln w="5080">
            <a:solidFill>
              <a:srgbClr val="4A2A14"/>
            </a:solidFill>
            <a:prstDash val="solid"/>
          </a:ln>
        </p:spPr>
      </p:sp>
      <p:sp>
        <p:nvSpPr>
          <p:cNvPr id="13" name="Text 11"/>
          <p:cNvSpPr/>
          <p:nvPr/>
        </p:nvSpPr>
        <p:spPr>
          <a:xfrm>
            <a:off x="841248" y="1636776"/>
            <a:ext cx="3657600" cy="987552"/>
          </a:xfrm>
          <a:prstGeom prst="rect">
            <a:avLst/>
          </a:prstGeom>
          <a:noFill/>
          <a:ln/>
        </p:spPr>
        <p:txBody>
          <a:bodyPr wrap="square" lIns="63500" tIns="63500" rIns="63500" bIns="63500" rtlCol="0" anchor="ctr"/>
          <a:lstStyle/>
          <a:p>
            <a:pPr algn="l" indent="0" marL="0">
              <a:buNone/>
            </a:pPr>
            <a:r>
              <a:rPr lang="en-US" sz="950" dirty="0">
                <a:solidFill>
                  <a:srgbClr val="F5B828"/>
                </a:solidFill>
                <a:latin typeface="Consolas" pitchFamily="34" charset="0"/>
                <a:ea typeface="Consolas" pitchFamily="34" charset="-122"/>
                <a:cs typeface="Consolas" pitchFamily="34" charset="-120"/>
              </a:rPr>
              <a:t>appId     = "DLonghiCoffeeIdKit-sQ-id"</a:t>
            </a:r>
            <a:endParaRPr lang="en-US" sz="950" dirty="0"/>
          </a:p>
          <a:p>
            <a:pPr algn="l" indent="0" marL="0">
              <a:buNone/>
            </a:pPr>
            <a:r>
              <a:rPr lang="en-US" sz="950" dirty="0">
                <a:solidFill>
                  <a:srgbClr val="F5B828"/>
                </a:solidFill>
                <a:latin typeface="Consolas" pitchFamily="34" charset="0"/>
                <a:ea typeface="Consolas" pitchFamily="34" charset="-122"/>
                <a:cs typeface="Consolas" pitchFamily="34" charset="-120"/>
              </a:rPr>
              <a:t>appSecret = "DLonghiCoffeeIdKit-HT6b0VNd4y6..."</a:t>
            </a:r>
            <a:endParaRPr lang="en-US" sz="950" dirty="0"/>
          </a:p>
        </p:txBody>
      </p:sp>
      <p:sp>
        <p:nvSpPr>
          <p:cNvPr id="14" name="Shape 12"/>
          <p:cNvSpPr/>
          <p:nvPr/>
        </p:nvSpPr>
        <p:spPr>
          <a:xfrm>
            <a:off x="4892040" y="960120"/>
            <a:ext cx="4069080" cy="1847088"/>
          </a:xfrm>
          <a:prstGeom prst="rect">
            <a:avLst/>
          </a:prstGeom>
          <a:solidFill>
            <a:srgbClr val="341A0A"/>
          </a:solidFill>
          <a:ln w="9525">
            <a:solidFill>
              <a:srgbClr val="7B3A7A"/>
            </a:solidFill>
            <a:prstDash val="solid"/>
          </a:ln>
        </p:spPr>
      </p:sp>
      <p:sp>
        <p:nvSpPr>
          <p:cNvPr id="15" name="Shape 13"/>
          <p:cNvSpPr/>
          <p:nvPr/>
        </p:nvSpPr>
        <p:spPr>
          <a:xfrm>
            <a:off x="4892040" y="960120"/>
            <a:ext cx="64008" cy="1847088"/>
          </a:xfrm>
          <a:prstGeom prst="rect">
            <a:avLst/>
          </a:prstGeom>
          <a:solidFill>
            <a:srgbClr val="7B3A7A"/>
          </a:solidFill>
          <a:ln w="12700">
            <a:solidFill>
              <a:srgbClr val="7B3A7A"/>
            </a:solidFill>
            <a:prstDash val="solid"/>
          </a:ln>
        </p:spPr>
      </p:sp>
      <p:sp>
        <p:nvSpPr>
          <p:cNvPr id="16" name="Text 14"/>
          <p:cNvSpPr/>
          <p:nvPr/>
        </p:nvSpPr>
        <p:spPr>
          <a:xfrm>
            <a:off x="5047488" y="1051560"/>
            <a:ext cx="3794760" cy="237744"/>
          </a:xfrm>
          <a:prstGeom prst="rect">
            <a:avLst/>
          </a:prstGeom>
          <a:noFill/>
          <a:ln/>
        </p:spPr>
        <p:txBody>
          <a:bodyPr wrap="square" lIns="0" tIns="0" rIns="0" bIns="0" rtlCol="0" anchor="ctr"/>
          <a:lstStyle/>
          <a:p>
            <a:pPr indent="0" marL="0">
              <a:buNone/>
            </a:pPr>
            <a:r>
              <a:rPr lang="en-US" sz="800" dirty="0">
                <a:solidFill>
                  <a:srgbClr val="9A7050"/>
                </a:solidFill>
                <a:latin typeface="Consolas" pitchFamily="34" charset="0"/>
                <a:ea typeface="Consolas" pitchFamily="34" charset="-122"/>
                <a:cs typeface="Consolas" pitchFamily="34" charset="-120"/>
              </a:rPr>
              <a:t>AndroidManifest.xml:186</a:t>
            </a:r>
            <a:endParaRPr lang="en-US" sz="800" dirty="0"/>
          </a:p>
        </p:txBody>
      </p:sp>
      <p:sp>
        <p:nvSpPr>
          <p:cNvPr id="17" name="Text 15"/>
          <p:cNvSpPr/>
          <p:nvPr/>
        </p:nvSpPr>
        <p:spPr>
          <a:xfrm>
            <a:off x="5047488" y="1307592"/>
            <a:ext cx="3794760" cy="292608"/>
          </a:xfrm>
          <a:prstGeom prst="rect">
            <a:avLst/>
          </a:prstGeom>
          <a:noFill/>
          <a:ln/>
        </p:spPr>
        <p:txBody>
          <a:bodyPr wrap="square" lIns="0" tIns="0" rIns="0" bIns="0" rtlCol="0" anchor="ctr"/>
          <a:lstStyle/>
          <a:p>
            <a:pPr indent="0" marL="0">
              <a:buNone/>
            </a:pPr>
            <a:r>
              <a:rPr lang="en-US" sz="1200" b="1" dirty="0">
                <a:solidFill>
                  <a:srgbClr val="FBF0DD"/>
                </a:solidFill>
              </a:rPr>
              <a:t>Gigya API Key</a:t>
            </a:r>
            <a:endParaRPr lang="en-US" sz="1200" dirty="0"/>
          </a:p>
        </p:txBody>
      </p:sp>
      <p:sp>
        <p:nvSpPr>
          <p:cNvPr id="18" name="Shape 16"/>
          <p:cNvSpPr/>
          <p:nvPr/>
        </p:nvSpPr>
        <p:spPr>
          <a:xfrm>
            <a:off x="5047488" y="1636776"/>
            <a:ext cx="3767328" cy="987552"/>
          </a:xfrm>
          <a:prstGeom prst="rect">
            <a:avLst/>
          </a:prstGeom>
          <a:solidFill>
            <a:srgbClr val="0D0A07"/>
          </a:solidFill>
          <a:ln w="5080">
            <a:solidFill>
              <a:srgbClr val="4A2A14"/>
            </a:solidFill>
            <a:prstDash val="solid"/>
          </a:ln>
        </p:spPr>
      </p:sp>
      <p:sp>
        <p:nvSpPr>
          <p:cNvPr id="19" name="Text 17"/>
          <p:cNvSpPr/>
          <p:nvPr/>
        </p:nvSpPr>
        <p:spPr>
          <a:xfrm>
            <a:off x="5138928" y="1636776"/>
            <a:ext cx="3657600" cy="987552"/>
          </a:xfrm>
          <a:prstGeom prst="rect">
            <a:avLst/>
          </a:prstGeom>
          <a:noFill/>
          <a:ln/>
        </p:spPr>
        <p:txBody>
          <a:bodyPr wrap="square" lIns="63500" tIns="63500" rIns="63500" bIns="63500" rtlCol="0" anchor="ctr"/>
          <a:lstStyle/>
          <a:p>
            <a:pPr algn="l" indent="0" marL="0">
              <a:buNone/>
            </a:pPr>
            <a:r>
              <a:rPr lang="en-US" sz="950" dirty="0">
                <a:solidFill>
                  <a:srgbClr val="F5B828"/>
                </a:solidFill>
                <a:latin typeface="Consolas" pitchFamily="34" charset="0"/>
                <a:ea typeface="Consolas" pitchFamily="34" charset="-122"/>
                <a:cs typeface="Consolas" pitchFamily="34" charset="-120"/>
              </a:rPr>
              <a:t>gigya_api_key = "4_DRIMLu7jk9bkKwpRRoQOuw"</a:t>
            </a:r>
            <a:endParaRPr lang="en-US" sz="950" dirty="0"/>
          </a:p>
        </p:txBody>
      </p:sp>
      <p:sp>
        <p:nvSpPr>
          <p:cNvPr id="20" name="Shape 18"/>
          <p:cNvSpPr/>
          <p:nvPr/>
        </p:nvSpPr>
        <p:spPr>
          <a:xfrm>
            <a:off x="594360" y="2971800"/>
            <a:ext cx="4069080" cy="1847088"/>
          </a:xfrm>
          <a:prstGeom prst="rect">
            <a:avLst/>
          </a:prstGeom>
          <a:solidFill>
            <a:srgbClr val="341A0A"/>
          </a:solidFill>
          <a:ln w="9525">
            <a:solidFill>
              <a:srgbClr val="178A52"/>
            </a:solidFill>
            <a:prstDash val="solid"/>
          </a:ln>
        </p:spPr>
      </p:sp>
      <p:sp>
        <p:nvSpPr>
          <p:cNvPr id="21" name="Shape 19"/>
          <p:cNvSpPr/>
          <p:nvPr/>
        </p:nvSpPr>
        <p:spPr>
          <a:xfrm>
            <a:off x="594360" y="2971800"/>
            <a:ext cx="64008" cy="1847088"/>
          </a:xfrm>
          <a:prstGeom prst="rect">
            <a:avLst/>
          </a:prstGeom>
          <a:solidFill>
            <a:srgbClr val="178A52"/>
          </a:solidFill>
          <a:ln w="12700">
            <a:solidFill>
              <a:srgbClr val="178A52"/>
            </a:solidFill>
            <a:prstDash val="solid"/>
          </a:ln>
        </p:spPr>
      </p:sp>
      <p:sp>
        <p:nvSpPr>
          <p:cNvPr id="22" name="Text 20"/>
          <p:cNvSpPr/>
          <p:nvPr/>
        </p:nvSpPr>
        <p:spPr>
          <a:xfrm>
            <a:off x="749808" y="3063240"/>
            <a:ext cx="3794760" cy="237744"/>
          </a:xfrm>
          <a:prstGeom prst="rect">
            <a:avLst/>
          </a:prstGeom>
          <a:noFill/>
          <a:ln/>
        </p:spPr>
        <p:txBody>
          <a:bodyPr wrap="square" lIns="0" tIns="0" rIns="0" bIns="0" rtlCol="0" anchor="ctr"/>
          <a:lstStyle/>
          <a:p>
            <a:pPr indent="0" marL="0">
              <a:buNone/>
            </a:pPr>
            <a:r>
              <a:rPr lang="en-US" sz="800" dirty="0">
                <a:solidFill>
                  <a:srgbClr val="9A7050"/>
                </a:solidFill>
                <a:latin typeface="Consolas" pitchFamily="34" charset="0"/>
                <a:ea typeface="Consolas" pitchFamily="34" charset="-122"/>
                <a:cs typeface="Consolas" pitchFamily="34" charset="-120"/>
              </a:rPr>
              <a:t>DeLonghiWifiConnectService.java:293</a:t>
            </a:r>
            <a:endParaRPr lang="en-US" sz="800" dirty="0"/>
          </a:p>
        </p:txBody>
      </p:sp>
      <p:sp>
        <p:nvSpPr>
          <p:cNvPr id="23" name="Text 21"/>
          <p:cNvSpPr/>
          <p:nvPr/>
        </p:nvSpPr>
        <p:spPr>
          <a:xfrm>
            <a:off x="749808" y="3319272"/>
            <a:ext cx="3794760" cy="292608"/>
          </a:xfrm>
          <a:prstGeom prst="rect">
            <a:avLst/>
          </a:prstGeom>
          <a:noFill/>
          <a:ln/>
        </p:spPr>
        <p:txBody>
          <a:bodyPr wrap="square" lIns="0" tIns="0" rIns="0" bIns="0" rtlCol="0" anchor="ctr"/>
          <a:lstStyle/>
          <a:p>
            <a:pPr indent="0" marL="0">
              <a:buNone/>
            </a:pPr>
            <a:r>
              <a:rPr lang="en-US" sz="1200" b="1" dirty="0">
                <a:solidFill>
                  <a:srgbClr val="FBF0DD"/>
                </a:solidFill>
              </a:rPr>
              <a:t>Propriete ECAM monitor</a:t>
            </a:r>
            <a:endParaRPr lang="en-US" sz="1200" dirty="0"/>
          </a:p>
        </p:txBody>
      </p:sp>
      <p:sp>
        <p:nvSpPr>
          <p:cNvPr id="24" name="Shape 22"/>
          <p:cNvSpPr/>
          <p:nvPr/>
        </p:nvSpPr>
        <p:spPr>
          <a:xfrm>
            <a:off x="749808" y="3648456"/>
            <a:ext cx="3767328" cy="987552"/>
          </a:xfrm>
          <a:prstGeom prst="rect">
            <a:avLst/>
          </a:prstGeom>
          <a:solidFill>
            <a:srgbClr val="0D0A07"/>
          </a:solidFill>
          <a:ln w="5080">
            <a:solidFill>
              <a:srgbClr val="4A2A14"/>
            </a:solidFill>
            <a:prstDash val="solid"/>
          </a:ln>
        </p:spPr>
      </p:sp>
      <p:sp>
        <p:nvSpPr>
          <p:cNvPr id="25" name="Text 23"/>
          <p:cNvSpPr/>
          <p:nvPr/>
        </p:nvSpPr>
        <p:spPr>
          <a:xfrm>
            <a:off x="841248" y="3648456"/>
            <a:ext cx="3657600" cy="987552"/>
          </a:xfrm>
          <a:prstGeom prst="rect">
            <a:avLst/>
          </a:prstGeom>
          <a:noFill/>
          <a:ln/>
        </p:spPr>
        <p:txBody>
          <a:bodyPr wrap="square" lIns="63500" tIns="63500" rIns="63500" bIns="63500" rtlCol="0" anchor="ctr"/>
          <a:lstStyle/>
          <a:p>
            <a:pPr algn="l" indent="0" marL="0">
              <a:buNone/>
            </a:pPr>
            <a:r>
              <a:rPr lang="en-US" sz="950" dirty="0">
                <a:solidFill>
                  <a:srgbClr val="F5B828"/>
                </a:solidFill>
                <a:latin typeface="Consolas" pitchFamily="34" charset="0"/>
                <a:ea typeface="Consolas" pitchFamily="34" charset="-122"/>
                <a:cs typeface="Consolas" pitchFamily="34" charset="-120"/>
              </a:rPr>
              <a:t>d302_monitor_machine  (Eletta)</a:t>
            </a:r>
            <a:endParaRPr lang="en-US" sz="950" dirty="0"/>
          </a:p>
          <a:p>
            <a:pPr algn="l" indent="0" marL="0">
              <a:buNone/>
            </a:pPr>
            <a:r>
              <a:rPr lang="en-US" sz="950" dirty="0">
                <a:solidFill>
                  <a:srgbClr val="F5B828"/>
                </a:solidFill>
                <a:latin typeface="Consolas" pitchFamily="34" charset="0"/>
                <a:ea typeface="Consolas" pitchFamily="34" charset="-122"/>
                <a:cs typeface="Consolas" pitchFamily="34" charset="-120"/>
              </a:rPr>
              <a:t>d302_monitor           (PrimaDonna)</a:t>
            </a:r>
            <a:endParaRPr lang="en-US" sz="950" dirty="0"/>
          </a:p>
        </p:txBody>
      </p:sp>
      <p:sp>
        <p:nvSpPr>
          <p:cNvPr id="26" name="Shape 24"/>
          <p:cNvSpPr/>
          <p:nvPr/>
        </p:nvSpPr>
        <p:spPr>
          <a:xfrm>
            <a:off x="4892040" y="2971800"/>
            <a:ext cx="4069080" cy="1847088"/>
          </a:xfrm>
          <a:prstGeom prst="rect">
            <a:avLst/>
          </a:prstGeom>
          <a:solidFill>
            <a:srgbClr val="341A0A"/>
          </a:solidFill>
          <a:ln w="9525">
            <a:solidFill>
              <a:srgbClr val="1A72B8"/>
            </a:solidFill>
            <a:prstDash val="solid"/>
          </a:ln>
        </p:spPr>
      </p:sp>
      <p:sp>
        <p:nvSpPr>
          <p:cNvPr id="27" name="Shape 25"/>
          <p:cNvSpPr/>
          <p:nvPr/>
        </p:nvSpPr>
        <p:spPr>
          <a:xfrm>
            <a:off x="4892040" y="2971800"/>
            <a:ext cx="64008" cy="1847088"/>
          </a:xfrm>
          <a:prstGeom prst="rect">
            <a:avLst/>
          </a:prstGeom>
          <a:solidFill>
            <a:srgbClr val="1A72B8"/>
          </a:solidFill>
          <a:ln w="12700">
            <a:solidFill>
              <a:srgbClr val="1A72B8"/>
            </a:solidFill>
            <a:prstDash val="solid"/>
          </a:ln>
        </p:spPr>
      </p:sp>
      <p:sp>
        <p:nvSpPr>
          <p:cNvPr id="28" name="Text 26"/>
          <p:cNvSpPr/>
          <p:nvPr/>
        </p:nvSpPr>
        <p:spPr>
          <a:xfrm>
            <a:off x="5047488" y="3063240"/>
            <a:ext cx="3794760" cy="237744"/>
          </a:xfrm>
          <a:prstGeom prst="rect">
            <a:avLst/>
          </a:prstGeom>
          <a:noFill/>
          <a:ln/>
        </p:spPr>
        <p:txBody>
          <a:bodyPr wrap="square" lIns="0" tIns="0" rIns="0" bIns="0" rtlCol="0" anchor="ctr"/>
          <a:lstStyle/>
          <a:p>
            <a:pPr indent="0" marL="0">
              <a:buNone/>
            </a:pPr>
            <a:r>
              <a:rPr lang="en-US" sz="800" dirty="0">
                <a:solidFill>
                  <a:srgbClr val="9A7050"/>
                </a:solidFill>
                <a:latin typeface="Consolas" pitchFamily="34" charset="0"/>
                <a:ea typeface="Consolas" pitchFamily="34" charset="-122"/>
                <a:cs typeface="Consolas" pitchFamily="34" charset="-120"/>
              </a:rPr>
              <a:t>DeLonghiWifiConnectService.java:670</a:t>
            </a:r>
            <a:endParaRPr lang="en-US" sz="800" dirty="0"/>
          </a:p>
        </p:txBody>
      </p:sp>
      <p:sp>
        <p:nvSpPr>
          <p:cNvPr id="29" name="Text 27"/>
          <p:cNvSpPr/>
          <p:nvPr/>
        </p:nvSpPr>
        <p:spPr>
          <a:xfrm>
            <a:off x="5047488" y="3319272"/>
            <a:ext cx="3794760" cy="292608"/>
          </a:xfrm>
          <a:prstGeom prst="rect">
            <a:avLst/>
          </a:prstGeom>
          <a:noFill/>
          <a:ln/>
        </p:spPr>
        <p:txBody>
          <a:bodyPr wrap="square" lIns="0" tIns="0" rIns="0" bIns="0" rtlCol="0" anchor="ctr"/>
          <a:lstStyle/>
          <a:p>
            <a:pPr indent="0" marL="0">
              <a:buNone/>
            </a:pPr>
            <a:r>
              <a:rPr lang="en-US" sz="1200" b="1" dirty="0">
                <a:solidFill>
                  <a:srgbClr val="FBF0DD"/>
                </a:solidFill>
              </a:rPr>
              <a:t>Ping de connexion WiFi</a:t>
            </a:r>
            <a:endParaRPr lang="en-US" sz="1200" dirty="0"/>
          </a:p>
        </p:txBody>
      </p:sp>
      <p:sp>
        <p:nvSpPr>
          <p:cNvPr id="30" name="Shape 28"/>
          <p:cNvSpPr/>
          <p:nvPr/>
        </p:nvSpPr>
        <p:spPr>
          <a:xfrm>
            <a:off x="5047488" y="3648456"/>
            <a:ext cx="3767328" cy="987552"/>
          </a:xfrm>
          <a:prstGeom prst="rect">
            <a:avLst/>
          </a:prstGeom>
          <a:solidFill>
            <a:srgbClr val="0D0A07"/>
          </a:solidFill>
          <a:ln w="5080">
            <a:solidFill>
              <a:srgbClr val="4A2A14"/>
            </a:solidFill>
            <a:prstDash val="solid"/>
          </a:ln>
        </p:spPr>
      </p:sp>
      <p:sp>
        <p:nvSpPr>
          <p:cNvPr id="31" name="Text 29"/>
          <p:cNvSpPr/>
          <p:nvPr/>
        </p:nvSpPr>
        <p:spPr>
          <a:xfrm>
            <a:off x="5138928" y="3648456"/>
            <a:ext cx="3657600" cy="987552"/>
          </a:xfrm>
          <a:prstGeom prst="rect">
            <a:avLst/>
          </a:prstGeom>
          <a:noFill/>
          <a:ln/>
        </p:spPr>
        <p:txBody>
          <a:bodyPr wrap="square" lIns="63500" tIns="63500" rIns="63500" bIns="63500" rtlCol="0" anchor="ctr"/>
          <a:lstStyle/>
          <a:p>
            <a:pPr algn="l" indent="0" marL="0">
              <a:buNone/>
            </a:pPr>
            <a:r>
              <a:rPr lang="en-US" sz="950" dirty="0">
                <a:solidFill>
                  <a:srgbClr val="F5B828"/>
                </a:solidFill>
                <a:latin typeface="Consolas" pitchFamily="34" charset="0"/>
                <a:ea typeface="Consolas" pitchFamily="34" charset="-122"/>
                <a:cs typeface="Consolas" pitchFamily="34" charset="-120"/>
              </a:rPr>
              <a:t>app_device_connected</a:t>
            </a:r>
            <a:endParaRPr lang="en-US" sz="950" dirty="0"/>
          </a:p>
          <a:p>
            <a:pPr algn="l" indent="0" marL="0">
              <a:buNone/>
            </a:pPr>
            <a:r>
              <a:rPr lang="en-US" sz="950" dirty="0">
                <a:solidFill>
                  <a:srgbClr val="F5B828"/>
                </a:solidFill>
                <a:latin typeface="Consolas" pitchFamily="34" charset="0"/>
                <a:ea typeface="Consolas" pitchFamily="34" charset="-122"/>
                <a:cs typeface="Consolas" pitchFamily="34" charset="-120"/>
              </a:rPr>
              <a:t>-&gt; force push des donnees machine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Le tracing reseau : intercepter le trafic en live</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REVERSE ENGINEERING</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6 / 16</a:t>
            </a:r>
            <a:endParaRPr lang="en-US" sz="750" dirty="0"/>
          </a:p>
        </p:txBody>
      </p:sp>
      <p:sp>
        <p:nvSpPr>
          <p:cNvPr id="8" name="Shape 6"/>
          <p:cNvSpPr/>
          <p:nvPr/>
        </p:nvSpPr>
        <p:spPr>
          <a:xfrm>
            <a:off x="475488" y="987552"/>
            <a:ext cx="2103120" cy="1170432"/>
          </a:xfrm>
          <a:prstGeom prst="rect">
            <a:avLst/>
          </a:prstGeom>
          <a:solidFill>
            <a:srgbClr val="341A0A"/>
          </a:solidFill>
          <a:ln w="9525">
            <a:solidFill>
              <a:srgbClr val="1A72B8"/>
            </a:solidFill>
            <a:prstDash val="solid"/>
          </a:ln>
        </p:spPr>
      </p:sp>
      <p:sp>
        <p:nvSpPr>
          <p:cNvPr id="9" name="Text 7"/>
          <p:cNvSpPr/>
          <p:nvPr/>
        </p:nvSpPr>
        <p:spPr>
          <a:xfrm>
            <a:off x="475488" y="987552"/>
            <a:ext cx="2103120" cy="1170432"/>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Telephone</a:t>
            </a:r>
            <a:endParaRPr lang="en-US" sz="1000" dirty="0"/>
          </a:p>
          <a:p>
            <a:pPr algn="ctr" indent="0" marL="0">
              <a:buNone/>
            </a:pPr>
            <a:r>
              <a:rPr lang="en-US" sz="1000" b="1" dirty="0">
                <a:solidFill>
                  <a:srgbClr val="FBF0DD"/>
                </a:solidFill>
              </a:rPr>
              <a:t>Android</a:t>
            </a:r>
            <a:endParaRPr lang="en-US" sz="1000" dirty="0"/>
          </a:p>
          <a:p>
            <a:pPr algn="ctr" indent="0" marL="0">
              <a:buNone/>
            </a:pPr>
            <a:r>
              <a:rPr lang="en-US" sz="800" dirty="0">
                <a:solidFill>
                  <a:srgbClr val="9A7050"/>
                </a:solidFill>
              </a:rPr>
              <a:t>Coffee Link App</a:t>
            </a:r>
            <a:endParaRPr lang="en-US" sz="1000" dirty="0"/>
          </a:p>
          <a:p>
            <a:pPr algn="ctr" indent="0" marL="0">
              <a:buNone/>
            </a:pPr>
            <a:r>
              <a:rPr lang="en-US" sz="800" dirty="0">
                <a:solidFill>
                  <a:srgbClr val="9A7050"/>
                </a:solidFill>
              </a:rPr>
              <a:t>cert. racine installe</a:t>
            </a:r>
            <a:endParaRPr lang="en-US" sz="1000" dirty="0"/>
          </a:p>
        </p:txBody>
      </p:sp>
      <p:sp>
        <p:nvSpPr>
          <p:cNvPr id="10" name="Shape 8"/>
          <p:cNvSpPr/>
          <p:nvPr/>
        </p:nvSpPr>
        <p:spPr>
          <a:xfrm>
            <a:off x="3383280" y="987552"/>
            <a:ext cx="2286000" cy="1170432"/>
          </a:xfrm>
          <a:prstGeom prst="rect">
            <a:avLst/>
          </a:prstGeom>
          <a:solidFill>
            <a:srgbClr val="341A0A"/>
          </a:solidFill>
          <a:ln w="9525">
            <a:solidFill>
              <a:srgbClr val="D49A14"/>
            </a:solidFill>
            <a:prstDash val="solid"/>
          </a:ln>
        </p:spPr>
      </p:sp>
      <p:sp>
        <p:nvSpPr>
          <p:cNvPr id="11" name="Text 9"/>
          <p:cNvSpPr/>
          <p:nvPr/>
        </p:nvSpPr>
        <p:spPr>
          <a:xfrm>
            <a:off x="3383280" y="987552"/>
            <a:ext cx="2286000" cy="1170432"/>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mitmproxy</a:t>
            </a:r>
            <a:endParaRPr lang="en-US" sz="1000" dirty="0"/>
          </a:p>
          <a:p>
            <a:pPr algn="ctr" indent="0" marL="0">
              <a:buNone/>
            </a:pPr>
            <a:r>
              <a:rPr lang="en-US" sz="1000" b="1" dirty="0">
                <a:solidFill>
                  <a:srgbClr val="FBF0DD"/>
                </a:solidFill>
              </a:rPr>
              <a:t>(proxy HTTPS)</a:t>
            </a:r>
            <a:endParaRPr lang="en-US" sz="1000" dirty="0"/>
          </a:p>
          <a:p>
            <a:pPr algn="ctr" indent="0" marL="0">
              <a:buNone/>
            </a:pPr>
            <a:r>
              <a:rPr lang="en-US" sz="800" dirty="0">
                <a:solidFill>
                  <a:srgbClr val="9A7050"/>
                </a:solidFill>
              </a:rPr>
              <a:t>dechiffrement TLS</a:t>
            </a:r>
            <a:endParaRPr lang="en-US" sz="1000" dirty="0"/>
          </a:p>
          <a:p>
            <a:pPr algn="ctr" indent="0" marL="0">
              <a:buNone/>
            </a:pPr>
            <a:r>
              <a:rPr lang="en-US" sz="800" dirty="0">
                <a:solidFill>
                  <a:srgbClr val="9A7050"/>
                </a:solidFill>
              </a:rPr>
              <a:t>certificat custom</a:t>
            </a:r>
            <a:endParaRPr lang="en-US" sz="1000" dirty="0"/>
          </a:p>
        </p:txBody>
      </p:sp>
      <p:sp>
        <p:nvSpPr>
          <p:cNvPr id="12" name="Shape 10"/>
          <p:cNvSpPr/>
          <p:nvPr/>
        </p:nvSpPr>
        <p:spPr>
          <a:xfrm>
            <a:off x="6492240" y="987552"/>
            <a:ext cx="2331720" cy="1170432"/>
          </a:xfrm>
          <a:prstGeom prst="rect">
            <a:avLst/>
          </a:prstGeom>
          <a:solidFill>
            <a:srgbClr val="341A0A"/>
          </a:solidFill>
          <a:ln w="9525">
            <a:solidFill>
              <a:srgbClr val="7B3A7A"/>
            </a:solidFill>
            <a:prstDash val="solid"/>
          </a:ln>
        </p:spPr>
      </p:sp>
      <p:sp>
        <p:nvSpPr>
          <p:cNvPr id="13" name="Text 11"/>
          <p:cNvSpPr/>
          <p:nvPr/>
        </p:nvSpPr>
        <p:spPr>
          <a:xfrm>
            <a:off x="6492240" y="987552"/>
            <a:ext cx="2331720" cy="1170432"/>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APIs Cloud</a:t>
            </a:r>
            <a:endParaRPr lang="en-US" sz="1000" dirty="0"/>
          </a:p>
          <a:p>
            <a:pPr algn="ctr" indent="0" marL="0">
              <a:buNone/>
            </a:pPr>
            <a:r>
              <a:rPr lang="en-US" sz="1000" b="1" dirty="0">
                <a:solidFill>
                  <a:srgbClr val="FBF0DD"/>
                </a:solidFill>
              </a:rPr>
              <a:t>De'Longhi</a:t>
            </a:r>
            <a:endParaRPr lang="en-US" sz="1000" dirty="0"/>
          </a:p>
          <a:p>
            <a:pPr algn="ctr" indent="0" marL="0">
              <a:buNone/>
            </a:pPr>
            <a:r>
              <a:rPr lang="en-US" sz="800" dirty="0">
                <a:solidFill>
                  <a:srgbClr val="9A7050"/>
                </a:solidFill>
              </a:rPr>
              <a:t>accounts.eu1.gigya.com</a:t>
            </a:r>
            <a:endParaRPr lang="en-US" sz="1000" dirty="0"/>
          </a:p>
          <a:p>
            <a:pPr algn="ctr" indent="0" marL="0">
              <a:buNone/>
            </a:pPr>
            <a:r>
              <a:rPr lang="en-US" sz="800" dirty="0">
                <a:solidFill>
                  <a:srgbClr val="9A7050"/>
                </a:solidFill>
              </a:rPr>
              <a:t>ads-eu.aylanetworks.com</a:t>
            </a:r>
            <a:endParaRPr lang="en-US" sz="1000" dirty="0"/>
          </a:p>
        </p:txBody>
      </p:sp>
      <p:sp>
        <p:nvSpPr>
          <p:cNvPr id="14" name="Shape 12"/>
          <p:cNvSpPr/>
          <p:nvPr/>
        </p:nvSpPr>
        <p:spPr>
          <a:xfrm>
            <a:off x="2578608" y="1572768"/>
            <a:ext cx="804672" cy="0"/>
          </a:xfrm>
          <a:prstGeom prst="line">
            <a:avLst/>
          </a:prstGeom>
          <a:noFill/>
          <a:ln w="16510">
            <a:solidFill>
              <a:srgbClr val="D49A14"/>
            </a:solidFill>
            <a:prstDash val="solid"/>
            <a:tailEnd type="arrow"/>
          </a:ln>
        </p:spPr>
      </p:sp>
      <p:sp>
        <p:nvSpPr>
          <p:cNvPr id="15" name="Text 13"/>
          <p:cNvSpPr/>
          <p:nvPr/>
        </p:nvSpPr>
        <p:spPr>
          <a:xfrm>
            <a:off x="2386584" y="1325880"/>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HTTPS intercepte</a:t>
            </a:r>
            <a:endParaRPr lang="en-US" sz="750" dirty="0"/>
          </a:p>
        </p:txBody>
      </p:sp>
      <p:sp>
        <p:nvSpPr>
          <p:cNvPr id="16" name="Shape 14"/>
          <p:cNvSpPr/>
          <p:nvPr/>
        </p:nvSpPr>
        <p:spPr>
          <a:xfrm>
            <a:off x="5669280" y="1572768"/>
            <a:ext cx="822960" cy="0"/>
          </a:xfrm>
          <a:prstGeom prst="line">
            <a:avLst/>
          </a:prstGeom>
          <a:noFill/>
          <a:ln w="16510">
            <a:solidFill>
              <a:srgbClr val="D49A14"/>
            </a:solidFill>
            <a:prstDash val="solid"/>
            <a:tailEnd type="arrow"/>
          </a:ln>
        </p:spPr>
      </p:sp>
      <p:sp>
        <p:nvSpPr>
          <p:cNvPr id="17" name="Text 15"/>
          <p:cNvSpPr/>
          <p:nvPr/>
        </p:nvSpPr>
        <p:spPr>
          <a:xfrm>
            <a:off x="5486400" y="1325880"/>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HTTPS re-chiffre</a:t>
            </a:r>
            <a:endParaRPr lang="en-US" sz="750" dirty="0"/>
          </a:p>
        </p:txBody>
      </p:sp>
      <p:sp>
        <p:nvSpPr>
          <p:cNvPr id="18" name="Text 16"/>
          <p:cNvSpPr/>
          <p:nvPr/>
        </p:nvSpPr>
        <p:spPr>
          <a:xfrm>
            <a:off x="475488" y="2331720"/>
            <a:ext cx="8321040" cy="320040"/>
          </a:xfrm>
          <a:prstGeom prst="rect">
            <a:avLst/>
          </a:prstGeom>
          <a:noFill/>
          <a:ln/>
        </p:spPr>
        <p:txBody>
          <a:bodyPr wrap="square" lIns="0" tIns="0" rIns="0" bIns="0" rtlCol="0" anchor="ctr"/>
          <a:lstStyle/>
          <a:p>
            <a:pPr algn="l" indent="0" marL="0">
              <a:buNone/>
            </a:pPr>
            <a:r>
              <a:rPr lang="en-US" sz="900" i="1" dirty="0">
                <a:solidFill>
                  <a:srgbClr val="9A7050"/>
                </a:solidFill>
                <a:latin typeface="Consolas" pitchFamily="34" charset="0"/>
                <a:ea typeface="Consolas" pitchFamily="34" charset="-122"/>
                <a:cs typeface="Consolas" pitchFamily="34" charset="-120"/>
              </a:rPr>
              <a:t>Setup : proxy WiFi 192.168.x.x:8080  +  installation certificat mitmproxy sur Android</a:t>
            </a:r>
            <a:endParaRPr lang="en-US" sz="900" dirty="0"/>
          </a:p>
        </p:txBody>
      </p:sp>
      <p:sp>
        <p:nvSpPr>
          <p:cNvPr id="19" name="Shape 17"/>
          <p:cNvSpPr/>
          <p:nvPr/>
        </p:nvSpPr>
        <p:spPr>
          <a:xfrm>
            <a:off x="475488" y="2761488"/>
            <a:ext cx="2697480" cy="2084832"/>
          </a:xfrm>
          <a:prstGeom prst="rect">
            <a:avLst/>
          </a:prstGeom>
          <a:solidFill>
            <a:srgbClr val="341A0A"/>
          </a:solidFill>
          <a:ln w="9525">
            <a:solidFill>
              <a:srgbClr val="7B3A7A"/>
            </a:solidFill>
            <a:prstDash val="solid"/>
          </a:ln>
        </p:spPr>
      </p:sp>
      <p:sp>
        <p:nvSpPr>
          <p:cNvPr id="20" name="Shape 18"/>
          <p:cNvSpPr/>
          <p:nvPr/>
        </p:nvSpPr>
        <p:spPr>
          <a:xfrm>
            <a:off x="475488" y="2761488"/>
            <a:ext cx="64008" cy="2084832"/>
          </a:xfrm>
          <a:prstGeom prst="rect">
            <a:avLst/>
          </a:prstGeom>
          <a:solidFill>
            <a:srgbClr val="7B3A7A"/>
          </a:solidFill>
          <a:ln w="12700">
            <a:solidFill>
              <a:srgbClr val="7B3A7A"/>
            </a:solidFill>
            <a:prstDash val="solid"/>
          </a:ln>
        </p:spPr>
      </p:sp>
      <p:sp>
        <p:nvSpPr>
          <p:cNvPr id="21" name="Text 19"/>
          <p:cNvSpPr/>
          <p:nvPr/>
        </p:nvSpPr>
        <p:spPr>
          <a:xfrm>
            <a:off x="612648" y="2807208"/>
            <a:ext cx="2468880" cy="237744"/>
          </a:xfrm>
          <a:prstGeom prst="rect">
            <a:avLst/>
          </a:prstGeom>
          <a:noFill/>
          <a:ln/>
        </p:spPr>
        <p:txBody>
          <a:bodyPr wrap="square" lIns="0" tIns="0" rIns="0" bIns="0" rtlCol="0" anchor="ctr"/>
          <a:lstStyle/>
          <a:p>
            <a:pPr indent="0" marL="0">
              <a:buNone/>
            </a:pPr>
            <a:r>
              <a:rPr lang="en-US" sz="900" b="1" dirty="0">
                <a:solidFill>
                  <a:srgbClr val="7B3A7A"/>
                </a:solidFill>
              </a:rPr>
              <a:t>POST</a:t>
            </a:r>
            <a:endParaRPr lang="en-US" sz="900" dirty="0"/>
          </a:p>
        </p:txBody>
      </p:sp>
      <p:sp>
        <p:nvSpPr>
          <p:cNvPr id="22" name="Text 20"/>
          <p:cNvSpPr/>
          <p:nvPr/>
        </p:nvSpPr>
        <p:spPr>
          <a:xfrm>
            <a:off x="612648" y="3044952"/>
            <a:ext cx="2468880" cy="475488"/>
          </a:xfrm>
          <a:prstGeom prst="rect">
            <a:avLst/>
          </a:prstGeom>
          <a:noFill/>
          <a:ln/>
        </p:spPr>
        <p:txBody>
          <a:bodyPr wrap="square" lIns="0" tIns="0" rIns="0" bIns="0" rtlCol="0" anchor="ctr"/>
          <a:lstStyle/>
          <a:p>
            <a:pPr indent="0" marL="0">
              <a:buNone/>
            </a:pPr>
            <a:r>
              <a:rPr lang="en-US" sz="800" dirty="0">
                <a:solidFill>
                  <a:srgbClr val="FBF0DD"/>
                </a:solidFill>
                <a:latin typeface="Consolas" pitchFamily="34" charset="0"/>
                <a:ea typeface="Consolas" pitchFamily="34" charset="-122"/>
                <a:cs typeface="Consolas" pitchFamily="34" charset="-120"/>
              </a:rPr>
              <a:t>accounts.eu1.gigya.com</a:t>
            </a:r>
            <a:endParaRPr lang="en-US" sz="800" dirty="0"/>
          </a:p>
          <a:p>
            <a:pPr indent="0" marL="0">
              <a:buNone/>
            </a:pPr>
            <a:r>
              <a:rPr lang="en-US" sz="800" dirty="0">
                <a:solidFill>
                  <a:srgbClr val="FBF0DD"/>
                </a:solidFill>
                <a:latin typeface="Consolas" pitchFamily="34" charset="0"/>
                <a:ea typeface="Consolas" pitchFamily="34" charset="-122"/>
                <a:cs typeface="Consolas" pitchFamily="34" charset="-120"/>
              </a:rPr>
              <a:t>/accounts.login</a:t>
            </a:r>
            <a:endParaRPr lang="en-US" sz="800" dirty="0"/>
          </a:p>
        </p:txBody>
      </p:sp>
      <p:sp>
        <p:nvSpPr>
          <p:cNvPr id="23" name="Shape 21"/>
          <p:cNvSpPr/>
          <p:nvPr/>
        </p:nvSpPr>
        <p:spPr>
          <a:xfrm>
            <a:off x="612648" y="3547872"/>
            <a:ext cx="2423160" cy="0"/>
          </a:xfrm>
          <a:prstGeom prst="line">
            <a:avLst/>
          </a:prstGeom>
          <a:noFill/>
          <a:ln w="5080">
            <a:solidFill>
              <a:srgbClr val="4A2A14"/>
            </a:solidFill>
            <a:prstDash val="solid"/>
          </a:ln>
        </p:spPr>
      </p:sp>
      <p:sp>
        <p:nvSpPr>
          <p:cNvPr id="24" name="Text 22"/>
          <p:cNvSpPr/>
          <p:nvPr/>
        </p:nvSpPr>
        <p:spPr>
          <a:xfrm>
            <a:off x="612648" y="3593592"/>
            <a:ext cx="2468880" cy="594360"/>
          </a:xfrm>
          <a:prstGeom prst="rect">
            <a:avLst/>
          </a:prstGeom>
          <a:noFill/>
          <a:ln/>
        </p:spPr>
        <p:txBody>
          <a:bodyPr wrap="square" lIns="0" tIns="0" rIns="0" bIns="0" rtlCol="0" anchor="ctr"/>
          <a:lstStyle/>
          <a:p>
            <a:pPr indent="0" marL="0">
              <a:buNone/>
            </a:pPr>
            <a:r>
              <a:rPr lang="en-US" sz="750" dirty="0">
                <a:solidFill>
                  <a:srgbClr val="9A7050"/>
                </a:solidFill>
                <a:latin typeface="Consolas" pitchFamily="34" charset="0"/>
                <a:ea typeface="Consolas" pitchFamily="34" charset="-122"/>
                <a:cs typeface="Consolas" pitchFamily="34" charset="-120"/>
              </a:rPr>
              <a:t>loginID=user@mail.com</a:t>
            </a:r>
            <a:endParaRPr lang="en-US" sz="750" dirty="0"/>
          </a:p>
          <a:p>
            <a:pPr indent="0" marL="0">
              <a:buNone/>
            </a:pPr>
            <a:r>
              <a:rPr lang="en-US" sz="750" dirty="0">
                <a:solidFill>
                  <a:srgbClr val="9A7050"/>
                </a:solidFill>
                <a:latin typeface="Consolas" pitchFamily="34" charset="0"/>
                <a:ea typeface="Consolas" pitchFamily="34" charset="-122"/>
                <a:cs typeface="Consolas" pitchFamily="34" charset="-120"/>
              </a:rPr>
              <a:t>password=***</a:t>
            </a:r>
            <a:endParaRPr lang="en-US" sz="750" dirty="0"/>
          </a:p>
          <a:p>
            <a:pPr indent="0" marL="0">
              <a:buNone/>
            </a:pPr>
            <a:r>
              <a:rPr lang="en-US" sz="750" dirty="0">
                <a:solidFill>
                  <a:srgbClr val="9A7050"/>
                </a:solidFill>
                <a:latin typeface="Consolas" pitchFamily="34" charset="0"/>
                <a:ea typeface="Consolas" pitchFamily="34" charset="-122"/>
                <a:cs typeface="Consolas" pitchFamily="34" charset="-120"/>
              </a:rPr>
              <a:t>apiKey=4_DRIMLu7...</a:t>
            </a:r>
            <a:endParaRPr lang="en-US" sz="750" dirty="0"/>
          </a:p>
        </p:txBody>
      </p:sp>
      <p:sp>
        <p:nvSpPr>
          <p:cNvPr id="25" name="Shape 23"/>
          <p:cNvSpPr/>
          <p:nvPr/>
        </p:nvSpPr>
        <p:spPr>
          <a:xfrm>
            <a:off x="612648" y="4224528"/>
            <a:ext cx="2468880" cy="384048"/>
          </a:xfrm>
          <a:prstGeom prst="rect">
            <a:avLst/>
          </a:prstGeom>
          <a:solidFill>
            <a:srgbClr val="281508"/>
          </a:solidFill>
          <a:ln w="4445">
            <a:solidFill>
              <a:srgbClr val="7B3A7A"/>
            </a:solidFill>
            <a:prstDash val="solid"/>
          </a:ln>
        </p:spPr>
      </p:sp>
      <p:sp>
        <p:nvSpPr>
          <p:cNvPr id="26" name="Text 24"/>
          <p:cNvSpPr/>
          <p:nvPr/>
        </p:nvSpPr>
        <p:spPr>
          <a:xfrm>
            <a:off x="676656" y="4224528"/>
            <a:ext cx="2377440" cy="384048"/>
          </a:xfrm>
          <a:prstGeom prst="rect">
            <a:avLst/>
          </a:prstGeom>
          <a:noFill/>
          <a:ln/>
        </p:spPr>
        <p:txBody>
          <a:bodyPr wrap="square" lIns="25400" tIns="25400" rIns="25400" bIns="25400" rtlCol="0" anchor="ctr"/>
          <a:lstStyle/>
          <a:p>
            <a:pPr indent="0" marL="0">
              <a:buNone/>
            </a:pPr>
            <a:r>
              <a:rPr lang="en-US" sz="750" dirty="0">
                <a:solidFill>
                  <a:srgbClr val="7B3A7A"/>
                </a:solidFill>
                <a:latin typeface="Consolas" pitchFamily="34" charset="0"/>
                <a:ea typeface="Consolas" pitchFamily="34" charset="-122"/>
                <a:cs typeface="Consolas" pitchFamily="34" charset="-120"/>
              </a:rPr>
              <a:t>&lt;- id_token: eyJhbG...</a:t>
            </a:r>
            <a:endParaRPr lang="en-US" sz="750" dirty="0"/>
          </a:p>
        </p:txBody>
      </p:sp>
      <p:sp>
        <p:nvSpPr>
          <p:cNvPr id="27" name="Shape 25"/>
          <p:cNvSpPr/>
          <p:nvPr/>
        </p:nvSpPr>
        <p:spPr>
          <a:xfrm>
            <a:off x="3328416" y="2761488"/>
            <a:ext cx="2697480" cy="2084832"/>
          </a:xfrm>
          <a:prstGeom prst="rect">
            <a:avLst/>
          </a:prstGeom>
          <a:solidFill>
            <a:srgbClr val="341A0A"/>
          </a:solidFill>
          <a:ln w="9525">
            <a:solidFill>
              <a:srgbClr val="178A52"/>
            </a:solidFill>
            <a:prstDash val="solid"/>
          </a:ln>
        </p:spPr>
      </p:sp>
      <p:sp>
        <p:nvSpPr>
          <p:cNvPr id="28" name="Shape 26"/>
          <p:cNvSpPr/>
          <p:nvPr/>
        </p:nvSpPr>
        <p:spPr>
          <a:xfrm>
            <a:off x="3328416" y="2761488"/>
            <a:ext cx="64008" cy="2084832"/>
          </a:xfrm>
          <a:prstGeom prst="rect">
            <a:avLst/>
          </a:prstGeom>
          <a:solidFill>
            <a:srgbClr val="178A52"/>
          </a:solidFill>
          <a:ln w="12700">
            <a:solidFill>
              <a:srgbClr val="178A52"/>
            </a:solidFill>
            <a:prstDash val="solid"/>
          </a:ln>
        </p:spPr>
      </p:sp>
      <p:sp>
        <p:nvSpPr>
          <p:cNvPr id="29" name="Text 27"/>
          <p:cNvSpPr/>
          <p:nvPr/>
        </p:nvSpPr>
        <p:spPr>
          <a:xfrm>
            <a:off x="3465576" y="2807208"/>
            <a:ext cx="2468880" cy="237744"/>
          </a:xfrm>
          <a:prstGeom prst="rect">
            <a:avLst/>
          </a:prstGeom>
          <a:noFill/>
          <a:ln/>
        </p:spPr>
        <p:txBody>
          <a:bodyPr wrap="square" lIns="0" tIns="0" rIns="0" bIns="0" rtlCol="0" anchor="ctr"/>
          <a:lstStyle/>
          <a:p>
            <a:pPr indent="0" marL="0">
              <a:buNone/>
            </a:pPr>
            <a:r>
              <a:rPr lang="en-US" sz="900" b="1" dirty="0">
                <a:solidFill>
                  <a:srgbClr val="178A52"/>
                </a:solidFill>
              </a:rPr>
              <a:t>POST</a:t>
            </a:r>
            <a:endParaRPr lang="en-US" sz="900" dirty="0"/>
          </a:p>
        </p:txBody>
      </p:sp>
      <p:sp>
        <p:nvSpPr>
          <p:cNvPr id="30" name="Text 28"/>
          <p:cNvSpPr/>
          <p:nvPr/>
        </p:nvSpPr>
        <p:spPr>
          <a:xfrm>
            <a:off x="3465576" y="3044952"/>
            <a:ext cx="2468880" cy="475488"/>
          </a:xfrm>
          <a:prstGeom prst="rect">
            <a:avLst/>
          </a:prstGeom>
          <a:noFill/>
          <a:ln/>
        </p:spPr>
        <p:txBody>
          <a:bodyPr wrap="square" lIns="0" tIns="0" rIns="0" bIns="0" rtlCol="0" anchor="ctr"/>
          <a:lstStyle/>
          <a:p>
            <a:pPr indent="0" marL="0">
              <a:buNone/>
            </a:pPr>
            <a:r>
              <a:rPr lang="en-US" sz="800" dirty="0">
                <a:solidFill>
                  <a:srgbClr val="FBF0DD"/>
                </a:solidFill>
                <a:latin typeface="Consolas" pitchFamily="34" charset="0"/>
                <a:ea typeface="Consolas" pitchFamily="34" charset="-122"/>
                <a:cs typeface="Consolas" pitchFamily="34" charset="-120"/>
              </a:rPr>
              <a:t>user-field-eu.aylanetworks.com</a:t>
            </a:r>
            <a:endParaRPr lang="en-US" sz="800" dirty="0"/>
          </a:p>
          <a:p>
            <a:pPr indent="0" marL="0">
              <a:buNone/>
            </a:pPr>
            <a:r>
              <a:rPr lang="en-US" sz="800" dirty="0">
                <a:solidFill>
                  <a:srgbClr val="FBF0DD"/>
                </a:solidFill>
                <a:latin typeface="Consolas" pitchFamily="34" charset="0"/>
                <a:ea typeface="Consolas" pitchFamily="34" charset="-122"/>
                <a:cs typeface="Consolas" pitchFamily="34" charset="-120"/>
              </a:rPr>
              <a:t>/api/v1/token_sign_in</a:t>
            </a:r>
            <a:endParaRPr lang="en-US" sz="800" dirty="0"/>
          </a:p>
        </p:txBody>
      </p:sp>
      <p:sp>
        <p:nvSpPr>
          <p:cNvPr id="31" name="Shape 29"/>
          <p:cNvSpPr/>
          <p:nvPr/>
        </p:nvSpPr>
        <p:spPr>
          <a:xfrm>
            <a:off x="3465576" y="3547872"/>
            <a:ext cx="2423160" cy="0"/>
          </a:xfrm>
          <a:prstGeom prst="line">
            <a:avLst/>
          </a:prstGeom>
          <a:noFill/>
          <a:ln w="5080">
            <a:solidFill>
              <a:srgbClr val="4A2A14"/>
            </a:solidFill>
            <a:prstDash val="solid"/>
          </a:ln>
        </p:spPr>
      </p:sp>
      <p:sp>
        <p:nvSpPr>
          <p:cNvPr id="32" name="Text 30"/>
          <p:cNvSpPr/>
          <p:nvPr/>
        </p:nvSpPr>
        <p:spPr>
          <a:xfrm>
            <a:off x="3465576" y="3593592"/>
            <a:ext cx="2468880" cy="594360"/>
          </a:xfrm>
          <a:prstGeom prst="rect">
            <a:avLst/>
          </a:prstGeom>
          <a:noFill/>
          <a:ln/>
        </p:spPr>
        <p:txBody>
          <a:bodyPr wrap="square" lIns="0" tIns="0" rIns="0" bIns="0" rtlCol="0" anchor="ctr"/>
          <a:lstStyle/>
          <a:p>
            <a:pPr indent="0" marL="0">
              <a:buNone/>
            </a:pPr>
            <a:r>
              <a:rPr lang="en-US" sz="750" dirty="0">
                <a:solidFill>
                  <a:srgbClr val="9A7050"/>
                </a:solidFill>
                <a:latin typeface="Consolas" pitchFamily="34" charset="0"/>
                <a:ea typeface="Consolas" pitchFamily="34" charset="-122"/>
                <a:cs typeface="Consolas" pitchFamily="34" charset="-120"/>
              </a:rPr>
              <a:t>uid_signature: ...</a:t>
            </a:r>
            <a:endParaRPr lang="en-US" sz="750" dirty="0"/>
          </a:p>
          <a:p>
            <a:pPr indent="0" marL="0">
              <a:buNone/>
            </a:pPr>
            <a:r>
              <a:rPr lang="en-US" sz="750" dirty="0">
                <a:solidFill>
                  <a:srgbClr val="9A7050"/>
                </a:solidFill>
                <a:latin typeface="Consolas" pitchFamily="34" charset="0"/>
                <a:ea typeface="Consolas" pitchFamily="34" charset="-122"/>
                <a:cs typeface="Consolas" pitchFamily="34" charset="-120"/>
              </a:rPr>
              <a:t>app_id: "DLonghiCoffee..."</a:t>
            </a:r>
            <a:endParaRPr lang="en-US" sz="750" dirty="0"/>
          </a:p>
        </p:txBody>
      </p:sp>
      <p:sp>
        <p:nvSpPr>
          <p:cNvPr id="33" name="Shape 31"/>
          <p:cNvSpPr/>
          <p:nvPr/>
        </p:nvSpPr>
        <p:spPr>
          <a:xfrm>
            <a:off x="3465576" y="4224528"/>
            <a:ext cx="2468880" cy="384048"/>
          </a:xfrm>
          <a:prstGeom prst="rect">
            <a:avLst/>
          </a:prstGeom>
          <a:solidFill>
            <a:srgbClr val="281508"/>
          </a:solidFill>
          <a:ln w="4445">
            <a:solidFill>
              <a:srgbClr val="178A52"/>
            </a:solidFill>
            <a:prstDash val="solid"/>
          </a:ln>
        </p:spPr>
      </p:sp>
      <p:sp>
        <p:nvSpPr>
          <p:cNvPr id="34" name="Text 32"/>
          <p:cNvSpPr/>
          <p:nvPr/>
        </p:nvSpPr>
        <p:spPr>
          <a:xfrm>
            <a:off x="3529584" y="4224528"/>
            <a:ext cx="2377440" cy="384048"/>
          </a:xfrm>
          <a:prstGeom prst="rect">
            <a:avLst/>
          </a:prstGeom>
          <a:noFill/>
          <a:ln/>
        </p:spPr>
        <p:txBody>
          <a:bodyPr wrap="square" lIns="25400" tIns="25400" rIns="25400" bIns="25400" rtlCol="0" anchor="ctr"/>
          <a:lstStyle/>
          <a:p>
            <a:pPr indent="0" marL="0">
              <a:buNone/>
            </a:pPr>
            <a:r>
              <a:rPr lang="en-US" sz="750" dirty="0">
                <a:solidFill>
                  <a:srgbClr val="178A52"/>
                </a:solidFill>
                <a:latin typeface="Consolas" pitchFamily="34" charset="0"/>
                <a:ea typeface="Consolas" pitchFamily="34" charset="-122"/>
                <a:cs typeface="Consolas" pitchFamily="34" charset="-120"/>
              </a:rPr>
              <a:t>&lt;- access_token: ...</a:t>
            </a:r>
            <a:endParaRPr lang="en-US" sz="750" dirty="0"/>
          </a:p>
          <a:p>
            <a:pPr indent="0" marL="0">
              <a:buNone/>
            </a:pPr>
            <a:r>
              <a:rPr lang="en-US" sz="750" dirty="0">
                <a:solidFill>
                  <a:srgbClr val="178A52"/>
                </a:solidFill>
                <a:latin typeface="Consolas" pitchFamily="34" charset="0"/>
                <a:ea typeface="Consolas" pitchFamily="34" charset="-122"/>
                <a:cs typeface="Consolas" pitchFamily="34" charset="-120"/>
              </a:rPr>
              <a:t>expires_in: 86400</a:t>
            </a:r>
            <a:endParaRPr lang="en-US" sz="750" dirty="0"/>
          </a:p>
        </p:txBody>
      </p:sp>
      <p:sp>
        <p:nvSpPr>
          <p:cNvPr id="35" name="Shape 33"/>
          <p:cNvSpPr/>
          <p:nvPr/>
        </p:nvSpPr>
        <p:spPr>
          <a:xfrm>
            <a:off x="6181344" y="2761488"/>
            <a:ext cx="2697480" cy="2084832"/>
          </a:xfrm>
          <a:prstGeom prst="rect">
            <a:avLst/>
          </a:prstGeom>
          <a:solidFill>
            <a:srgbClr val="341A0A"/>
          </a:solidFill>
          <a:ln w="9525">
            <a:solidFill>
              <a:srgbClr val="C64018"/>
            </a:solidFill>
            <a:prstDash val="solid"/>
          </a:ln>
        </p:spPr>
      </p:sp>
      <p:sp>
        <p:nvSpPr>
          <p:cNvPr id="36" name="Shape 34"/>
          <p:cNvSpPr/>
          <p:nvPr/>
        </p:nvSpPr>
        <p:spPr>
          <a:xfrm>
            <a:off x="6181344" y="2761488"/>
            <a:ext cx="64008" cy="2084832"/>
          </a:xfrm>
          <a:prstGeom prst="rect">
            <a:avLst/>
          </a:prstGeom>
          <a:solidFill>
            <a:srgbClr val="C64018"/>
          </a:solidFill>
          <a:ln w="12700">
            <a:solidFill>
              <a:srgbClr val="C64018"/>
            </a:solidFill>
            <a:prstDash val="solid"/>
          </a:ln>
        </p:spPr>
      </p:sp>
      <p:sp>
        <p:nvSpPr>
          <p:cNvPr id="37" name="Text 35"/>
          <p:cNvSpPr/>
          <p:nvPr/>
        </p:nvSpPr>
        <p:spPr>
          <a:xfrm>
            <a:off x="6318504" y="2807208"/>
            <a:ext cx="2468880" cy="237744"/>
          </a:xfrm>
          <a:prstGeom prst="rect">
            <a:avLst/>
          </a:prstGeom>
          <a:noFill/>
          <a:ln/>
        </p:spPr>
        <p:txBody>
          <a:bodyPr wrap="square" lIns="0" tIns="0" rIns="0" bIns="0" rtlCol="0" anchor="ctr"/>
          <a:lstStyle/>
          <a:p>
            <a:pPr indent="0" marL="0">
              <a:buNone/>
            </a:pPr>
            <a:r>
              <a:rPr lang="en-US" sz="900" b="1" dirty="0">
                <a:solidFill>
                  <a:srgbClr val="C64018"/>
                </a:solidFill>
              </a:rPr>
              <a:t>POST</a:t>
            </a:r>
            <a:endParaRPr lang="en-US" sz="900" dirty="0"/>
          </a:p>
        </p:txBody>
      </p:sp>
      <p:sp>
        <p:nvSpPr>
          <p:cNvPr id="38" name="Text 36"/>
          <p:cNvSpPr/>
          <p:nvPr/>
        </p:nvSpPr>
        <p:spPr>
          <a:xfrm>
            <a:off x="6318504" y="3044952"/>
            <a:ext cx="2468880" cy="475488"/>
          </a:xfrm>
          <a:prstGeom prst="rect">
            <a:avLst/>
          </a:prstGeom>
          <a:noFill/>
          <a:ln/>
        </p:spPr>
        <p:txBody>
          <a:bodyPr wrap="square" lIns="0" tIns="0" rIns="0" bIns="0" rtlCol="0" anchor="ctr"/>
          <a:lstStyle/>
          <a:p>
            <a:pPr indent="0" marL="0">
              <a:buNone/>
            </a:pPr>
            <a:r>
              <a:rPr lang="en-US" sz="800" dirty="0">
                <a:solidFill>
                  <a:srgbClr val="FBF0DD"/>
                </a:solidFill>
                <a:latin typeface="Consolas" pitchFamily="34" charset="0"/>
                <a:ea typeface="Consolas" pitchFamily="34" charset="-122"/>
                <a:cs typeface="Consolas" pitchFamily="34" charset="-120"/>
              </a:rPr>
              <a:t>ads-eu.aylanetworks.com</a:t>
            </a:r>
            <a:endParaRPr lang="en-US" sz="800" dirty="0"/>
          </a:p>
          <a:p>
            <a:pPr indent="0" marL="0">
              <a:buNone/>
            </a:pPr>
            <a:r>
              <a:rPr lang="en-US" sz="800" dirty="0">
                <a:solidFill>
                  <a:srgbClr val="FBF0DD"/>
                </a:solidFill>
                <a:latin typeface="Consolas" pitchFamily="34" charset="0"/>
                <a:ea typeface="Consolas" pitchFamily="34" charset="-122"/>
                <a:cs typeface="Consolas" pitchFamily="34" charset="-120"/>
              </a:rPr>
              <a:t>/apiv1/dsns/{DSN}/properties</a:t>
            </a:r>
            <a:endParaRPr lang="en-US" sz="800" dirty="0"/>
          </a:p>
          <a:p>
            <a:pPr indent="0" marL="0">
              <a:buNone/>
            </a:pPr>
            <a:r>
              <a:rPr lang="en-US" sz="800" dirty="0">
                <a:solidFill>
                  <a:srgbClr val="FBF0DD"/>
                </a:solidFill>
                <a:latin typeface="Consolas" pitchFamily="34" charset="0"/>
                <a:ea typeface="Consolas" pitchFamily="34" charset="-122"/>
                <a:cs typeface="Consolas" pitchFamily="34" charset="-120"/>
              </a:rPr>
              <a:t>/app_data_request/datapoints.json</a:t>
            </a:r>
            <a:endParaRPr lang="en-US" sz="800" dirty="0"/>
          </a:p>
        </p:txBody>
      </p:sp>
      <p:sp>
        <p:nvSpPr>
          <p:cNvPr id="39" name="Shape 37"/>
          <p:cNvSpPr/>
          <p:nvPr/>
        </p:nvSpPr>
        <p:spPr>
          <a:xfrm>
            <a:off x="6318504" y="3547872"/>
            <a:ext cx="2423160" cy="0"/>
          </a:xfrm>
          <a:prstGeom prst="line">
            <a:avLst/>
          </a:prstGeom>
          <a:noFill/>
          <a:ln w="5080">
            <a:solidFill>
              <a:srgbClr val="4A2A14"/>
            </a:solidFill>
            <a:prstDash val="solid"/>
          </a:ln>
        </p:spPr>
      </p:sp>
      <p:sp>
        <p:nvSpPr>
          <p:cNvPr id="40" name="Text 38"/>
          <p:cNvSpPr/>
          <p:nvPr/>
        </p:nvSpPr>
        <p:spPr>
          <a:xfrm>
            <a:off x="6318504" y="3593592"/>
            <a:ext cx="2468880" cy="594360"/>
          </a:xfrm>
          <a:prstGeom prst="rect">
            <a:avLst/>
          </a:prstGeom>
          <a:noFill/>
          <a:ln/>
        </p:spPr>
        <p:txBody>
          <a:bodyPr wrap="square" lIns="0" tIns="0" rIns="0" bIns="0" rtlCol="0" anchor="ctr"/>
          <a:lstStyle/>
          <a:p>
            <a:pPr indent="0" marL="0">
              <a:buNone/>
            </a:pPr>
            <a:r>
              <a:rPr lang="en-US" sz="750" dirty="0">
                <a:solidFill>
                  <a:srgbClr val="9A7050"/>
                </a:solidFill>
                <a:latin typeface="Consolas" pitchFamily="34" charset="0"/>
                <a:ea typeface="Consolas" pitchFamily="34" charset="-122"/>
                <a:cs typeface="Consolas" pitchFamily="34" charset="-120"/>
              </a:rPr>
              <a:t>value: "0D0983F00201002802..."</a:t>
            </a:r>
            <a:endParaRPr lang="en-US" sz="750" dirty="0"/>
          </a:p>
        </p:txBody>
      </p:sp>
      <p:sp>
        <p:nvSpPr>
          <p:cNvPr id="41" name="Shape 39"/>
          <p:cNvSpPr/>
          <p:nvPr/>
        </p:nvSpPr>
        <p:spPr>
          <a:xfrm>
            <a:off x="6318504" y="4224528"/>
            <a:ext cx="2468880" cy="384048"/>
          </a:xfrm>
          <a:prstGeom prst="rect">
            <a:avLst/>
          </a:prstGeom>
          <a:solidFill>
            <a:srgbClr val="281508"/>
          </a:solidFill>
          <a:ln w="4445">
            <a:solidFill>
              <a:srgbClr val="C64018"/>
            </a:solidFill>
            <a:prstDash val="solid"/>
          </a:ln>
        </p:spPr>
      </p:sp>
      <p:sp>
        <p:nvSpPr>
          <p:cNvPr id="42" name="Text 40"/>
          <p:cNvSpPr/>
          <p:nvPr/>
        </p:nvSpPr>
        <p:spPr>
          <a:xfrm>
            <a:off x="6382512" y="4224528"/>
            <a:ext cx="2377440" cy="384048"/>
          </a:xfrm>
          <a:prstGeom prst="rect">
            <a:avLst/>
          </a:prstGeom>
          <a:noFill/>
          <a:ln/>
        </p:spPr>
        <p:txBody>
          <a:bodyPr wrap="square" lIns="25400" tIns="25400" rIns="25400" bIns="25400" rtlCol="0" anchor="ctr"/>
          <a:lstStyle/>
          <a:p>
            <a:pPr indent="0" marL="0">
              <a:buNone/>
            </a:pPr>
            <a:r>
              <a:rPr lang="en-US" sz="750" dirty="0">
                <a:solidFill>
                  <a:srgbClr val="C64018"/>
                </a:solidFill>
                <a:latin typeface="Consolas" pitchFamily="34" charset="0"/>
                <a:ea typeface="Consolas" pitchFamily="34" charset="-122"/>
                <a:cs typeface="Consolas" pitchFamily="34" charset="-120"/>
              </a:rPr>
              <a:t>&lt;- 201 Created</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Architecture : flux d'authentification en 3 etapes</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ARCHITECTURE</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7 / 16</a:t>
            </a:r>
            <a:endParaRPr lang="en-US" sz="750" dirty="0"/>
          </a:p>
        </p:txBody>
      </p:sp>
      <p:sp>
        <p:nvSpPr>
          <p:cNvPr id="8" name="Shape 6"/>
          <p:cNvSpPr/>
          <p:nvPr/>
        </p:nvSpPr>
        <p:spPr>
          <a:xfrm>
            <a:off x="411480" y="1325880"/>
            <a:ext cx="1389888" cy="1234440"/>
          </a:xfrm>
          <a:prstGeom prst="rect">
            <a:avLst/>
          </a:prstGeom>
          <a:solidFill>
            <a:srgbClr val="341A0A"/>
          </a:solidFill>
          <a:ln w="9525">
            <a:solidFill>
              <a:srgbClr val="1A72B8"/>
            </a:solidFill>
            <a:prstDash val="solid"/>
          </a:ln>
        </p:spPr>
      </p:sp>
      <p:sp>
        <p:nvSpPr>
          <p:cNvPr id="9" name="Text 7"/>
          <p:cNvSpPr/>
          <p:nvPr/>
        </p:nvSpPr>
        <p:spPr>
          <a:xfrm>
            <a:off x="411480" y="1325880"/>
            <a:ext cx="1389888" cy="1234440"/>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MCP Client</a:t>
            </a:r>
            <a:endParaRPr lang="en-US" sz="1000" dirty="0"/>
          </a:p>
          <a:p>
            <a:pPr algn="ctr" indent="0" marL="0">
              <a:buNone/>
            </a:pPr>
            <a:r>
              <a:rPr lang="en-US" sz="1000" b="1" dirty="0">
                <a:solidFill>
                  <a:srgbClr val="FBF0DD"/>
                </a:solidFill>
              </a:rPr>
              <a:t>(AI Agent)</a:t>
            </a:r>
            <a:endParaRPr lang="en-US" sz="1000" dirty="0"/>
          </a:p>
          <a:p>
            <a:pPr algn="ctr" indent="0" marL="0">
              <a:buNone/>
            </a:pPr>
            <a:r>
              <a:rPr lang="en-US" sz="800" dirty="0">
                <a:solidFill>
                  <a:srgbClr val="9A7050"/>
                </a:solidFill>
              </a:rPr>
              <a:t>GitHub Copilot</a:t>
            </a:r>
            <a:endParaRPr lang="en-US" sz="1000" dirty="0"/>
          </a:p>
          <a:p>
            <a:pPr algn="ctr" indent="0" marL="0">
              <a:buNone/>
            </a:pPr>
            <a:r>
              <a:rPr lang="en-US" sz="800" dirty="0">
                <a:solidFill>
                  <a:srgbClr val="9A7050"/>
                </a:solidFill>
              </a:rPr>
              <a:t>VS Code</a:t>
            </a:r>
            <a:endParaRPr lang="en-US" sz="1000" dirty="0"/>
          </a:p>
        </p:txBody>
      </p:sp>
      <p:sp>
        <p:nvSpPr>
          <p:cNvPr id="10" name="Shape 8"/>
          <p:cNvSpPr/>
          <p:nvPr/>
        </p:nvSpPr>
        <p:spPr>
          <a:xfrm>
            <a:off x="2203704" y="1325880"/>
            <a:ext cx="1389888" cy="1234440"/>
          </a:xfrm>
          <a:prstGeom prst="rect">
            <a:avLst/>
          </a:prstGeom>
          <a:solidFill>
            <a:srgbClr val="341A0A"/>
          </a:solidFill>
          <a:ln w="9525">
            <a:solidFill>
              <a:srgbClr val="7B3A7A"/>
            </a:solidFill>
            <a:prstDash val="solid"/>
          </a:ln>
        </p:spPr>
      </p:sp>
      <p:sp>
        <p:nvSpPr>
          <p:cNvPr id="11" name="Text 9"/>
          <p:cNvSpPr/>
          <p:nvPr/>
        </p:nvSpPr>
        <p:spPr>
          <a:xfrm>
            <a:off x="2203704" y="1325880"/>
            <a:ext cx="1389888" cy="1234440"/>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Gigya EU1</a:t>
            </a:r>
            <a:endParaRPr lang="en-US" sz="1000" dirty="0"/>
          </a:p>
          <a:p>
            <a:pPr algn="ctr" indent="0" marL="0">
              <a:buNone/>
            </a:pPr>
            <a:r>
              <a:rPr lang="en-US" sz="1000" b="1" dirty="0">
                <a:solidFill>
                  <a:srgbClr val="FBF0DD"/>
                </a:solidFill>
              </a:rPr>
              <a:t>Identity</a:t>
            </a:r>
            <a:endParaRPr lang="en-US" sz="1000" dirty="0"/>
          </a:p>
          <a:p>
            <a:pPr algn="ctr" indent="0" marL="0">
              <a:buNone/>
            </a:pPr>
            <a:r>
              <a:rPr lang="en-US" sz="800" dirty="0">
                <a:solidFill>
                  <a:srgbClr val="9A7050"/>
                </a:solidFill>
              </a:rPr>
              <a:t>accounts.eu1</a:t>
            </a:r>
            <a:endParaRPr lang="en-US" sz="1000" dirty="0"/>
          </a:p>
          <a:p>
            <a:pPr algn="ctr" indent="0" marL="0">
              <a:buNone/>
            </a:pPr>
            <a:r>
              <a:rPr lang="en-US" sz="800" dirty="0">
                <a:solidFill>
                  <a:srgbClr val="9A7050"/>
                </a:solidFill>
              </a:rPr>
              <a:t>.gigya.com</a:t>
            </a:r>
            <a:endParaRPr lang="en-US" sz="1000" dirty="0"/>
          </a:p>
        </p:txBody>
      </p:sp>
      <p:sp>
        <p:nvSpPr>
          <p:cNvPr id="12" name="Shape 10"/>
          <p:cNvSpPr/>
          <p:nvPr/>
        </p:nvSpPr>
        <p:spPr>
          <a:xfrm>
            <a:off x="3995928" y="1325880"/>
            <a:ext cx="1389888" cy="1234440"/>
          </a:xfrm>
          <a:prstGeom prst="rect">
            <a:avLst/>
          </a:prstGeom>
          <a:solidFill>
            <a:srgbClr val="341A0A"/>
          </a:solidFill>
          <a:ln w="9525">
            <a:solidFill>
              <a:srgbClr val="D49A14"/>
            </a:solidFill>
            <a:prstDash val="solid"/>
          </a:ln>
        </p:spPr>
      </p:sp>
      <p:sp>
        <p:nvSpPr>
          <p:cNvPr id="13" name="Text 11"/>
          <p:cNvSpPr/>
          <p:nvPr/>
        </p:nvSpPr>
        <p:spPr>
          <a:xfrm>
            <a:off x="3995928" y="1325880"/>
            <a:ext cx="1389888" cy="1234440"/>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JWT</a:t>
            </a:r>
            <a:endParaRPr lang="en-US" sz="1000" dirty="0"/>
          </a:p>
          <a:p>
            <a:pPr algn="ctr" indent="0" marL="0">
              <a:buNone/>
            </a:pPr>
            <a:r>
              <a:rPr lang="en-US" sz="1000" b="1" dirty="0">
                <a:solidFill>
                  <a:srgbClr val="FBF0DD"/>
                </a:solidFill>
              </a:rPr>
              <a:t>Exchange</a:t>
            </a:r>
            <a:endParaRPr lang="en-US" sz="1000" dirty="0"/>
          </a:p>
          <a:p>
            <a:pPr algn="ctr" indent="0" marL="0">
              <a:buNone/>
            </a:pPr>
            <a:r>
              <a:rPr lang="en-US" sz="800" dirty="0">
                <a:solidFill>
                  <a:srgbClr val="9A7050"/>
                </a:solidFill>
              </a:rPr>
              <a:t>id_token</a:t>
            </a:r>
            <a:endParaRPr lang="en-US" sz="1000" dirty="0"/>
          </a:p>
          <a:p>
            <a:pPr algn="ctr" indent="0" marL="0">
              <a:buNone/>
            </a:pPr>
            <a:r>
              <a:rPr lang="en-US" sz="800" dirty="0">
                <a:solidFill>
                  <a:srgbClr val="9A7050"/>
                </a:solidFill>
              </a:rPr>
              <a:t>-&gt; Ayla token</a:t>
            </a:r>
            <a:endParaRPr lang="en-US" sz="1000" dirty="0"/>
          </a:p>
        </p:txBody>
      </p:sp>
      <p:sp>
        <p:nvSpPr>
          <p:cNvPr id="14" name="Shape 12"/>
          <p:cNvSpPr/>
          <p:nvPr/>
        </p:nvSpPr>
        <p:spPr>
          <a:xfrm>
            <a:off x="5788152" y="1325880"/>
            <a:ext cx="1389888" cy="1234440"/>
          </a:xfrm>
          <a:prstGeom prst="rect">
            <a:avLst/>
          </a:prstGeom>
          <a:solidFill>
            <a:srgbClr val="341A0A"/>
          </a:solidFill>
          <a:ln w="9525">
            <a:solidFill>
              <a:srgbClr val="178A52"/>
            </a:solidFill>
            <a:prstDash val="solid"/>
          </a:ln>
        </p:spPr>
      </p:sp>
      <p:sp>
        <p:nvSpPr>
          <p:cNvPr id="15" name="Text 13"/>
          <p:cNvSpPr/>
          <p:nvPr/>
        </p:nvSpPr>
        <p:spPr>
          <a:xfrm>
            <a:off x="5788152" y="1325880"/>
            <a:ext cx="1389888" cy="1234440"/>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Ayla Networks</a:t>
            </a:r>
            <a:endParaRPr lang="en-US" sz="1000" dirty="0"/>
          </a:p>
          <a:p>
            <a:pPr algn="ctr" indent="0" marL="0">
              <a:buNone/>
            </a:pPr>
            <a:r>
              <a:rPr lang="en-US" sz="1000" b="1" dirty="0">
                <a:solidFill>
                  <a:srgbClr val="FBF0DD"/>
                </a:solidFill>
              </a:rPr>
              <a:t>IoT Cloud EU</a:t>
            </a:r>
            <a:endParaRPr lang="en-US" sz="1000" dirty="0"/>
          </a:p>
          <a:p>
            <a:pPr algn="ctr" indent="0" marL="0">
              <a:buNone/>
            </a:pPr>
            <a:r>
              <a:rPr lang="en-US" sz="800" dirty="0">
                <a:solidFill>
                  <a:srgbClr val="9A7050"/>
                </a:solidFill>
              </a:rPr>
              <a:t>user-field-eu</a:t>
            </a:r>
            <a:endParaRPr lang="en-US" sz="1000" dirty="0"/>
          </a:p>
          <a:p>
            <a:pPr algn="ctr" indent="0" marL="0">
              <a:buNone/>
            </a:pPr>
            <a:r>
              <a:rPr lang="en-US" sz="800" dirty="0">
                <a:solidFill>
                  <a:srgbClr val="9A7050"/>
                </a:solidFill>
              </a:rPr>
              <a:t>.aylanetworks.com</a:t>
            </a:r>
            <a:endParaRPr lang="en-US" sz="1000" dirty="0"/>
          </a:p>
        </p:txBody>
      </p:sp>
      <p:sp>
        <p:nvSpPr>
          <p:cNvPr id="16" name="Shape 14"/>
          <p:cNvSpPr/>
          <p:nvPr/>
        </p:nvSpPr>
        <p:spPr>
          <a:xfrm>
            <a:off x="7406640" y="1325880"/>
            <a:ext cx="1389888" cy="1234440"/>
          </a:xfrm>
          <a:prstGeom prst="rect">
            <a:avLst/>
          </a:prstGeom>
          <a:solidFill>
            <a:srgbClr val="341A0A"/>
          </a:solidFill>
          <a:ln w="9525">
            <a:solidFill>
              <a:srgbClr val="C64018"/>
            </a:solidFill>
            <a:prstDash val="solid"/>
          </a:ln>
        </p:spPr>
      </p:sp>
      <p:sp>
        <p:nvSpPr>
          <p:cNvPr id="17" name="Text 15"/>
          <p:cNvSpPr/>
          <p:nvPr/>
        </p:nvSpPr>
        <p:spPr>
          <a:xfrm>
            <a:off x="7406640" y="1325880"/>
            <a:ext cx="1389888" cy="1234440"/>
          </a:xfrm>
          <a:prstGeom prst="rect">
            <a:avLst/>
          </a:prstGeom>
          <a:noFill/>
          <a:ln/>
        </p:spPr>
        <p:txBody>
          <a:bodyPr wrap="square" lIns="50800" tIns="50800" rIns="50800" bIns="50800" rtlCol="0" anchor="ctr"/>
          <a:lstStyle/>
          <a:p>
            <a:pPr algn="ctr" indent="0" marL="0">
              <a:buNone/>
            </a:pPr>
            <a:r>
              <a:rPr lang="en-US" sz="1000" b="1" dirty="0">
                <a:solidFill>
                  <a:srgbClr val="FBF0DD"/>
                </a:solidFill>
              </a:rPr>
              <a:t>Machine</a:t>
            </a:r>
            <a:endParaRPr lang="en-US" sz="1000" dirty="0"/>
          </a:p>
          <a:p>
            <a:pPr algn="ctr" indent="0" marL="0">
              <a:buNone/>
            </a:pPr>
            <a:r>
              <a:rPr lang="en-US" sz="1000" b="1" dirty="0">
                <a:solidFill>
                  <a:srgbClr val="FBF0DD"/>
                </a:solidFill>
              </a:rPr>
              <a:t>De'Longhi</a:t>
            </a:r>
            <a:endParaRPr lang="en-US" sz="1000" dirty="0"/>
          </a:p>
          <a:p>
            <a:pPr algn="ctr" indent="0" marL="0">
              <a:buNone/>
            </a:pPr>
            <a:r>
              <a:rPr lang="en-US" sz="800" dirty="0">
                <a:solidFill>
                  <a:srgbClr val="9A7050"/>
                </a:solidFill>
              </a:rPr>
              <a:t>DSN / ECAM</a:t>
            </a:r>
            <a:endParaRPr lang="en-US" sz="1000" dirty="0"/>
          </a:p>
        </p:txBody>
      </p:sp>
      <p:sp>
        <p:nvSpPr>
          <p:cNvPr id="18" name="Shape 16"/>
          <p:cNvSpPr/>
          <p:nvPr/>
        </p:nvSpPr>
        <p:spPr>
          <a:xfrm>
            <a:off x="1801368" y="1943100"/>
            <a:ext cx="402336" cy="0"/>
          </a:xfrm>
          <a:prstGeom prst="line">
            <a:avLst/>
          </a:prstGeom>
          <a:noFill/>
          <a:ln w="16510">
            <a:solidFill>
              <a:srgbClr val="D49A14"/>
            </a:solidFill>
            <a:prstDash val="solid"/>
            <a:tailEnd type="arrow"/>
          </a:ln>
        </p:spPr>
      </p:sp>
      <p:sp>
        <p:nvSpPr>
          <p:cNvPr id="19" name="Text 17"/>
          <p:cNvSpPr/>
          <p:nvPr/>
        </p:nvSpPr>
        <p:spPr>
          <a:xfrm>
            <a:off x="1408176" y="1696212"/>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email + password</a:t>
            </a:r>
            <a:endParaRPr lang="en-US" sz="750" dirty="0"/>
          </a:p>
        </p:txBody>
      </p:sp>
      <p:sp>
        <p:nvSpPr>
          <p:cNvPr id="20" name="Shape 18"/>
          <p:cNvSpPr/>
          <p:nvPr/>
        </p:nvSpPr>
        <p:spPr>
          <a:xfrm>
            <a:off x="3593592" y="1943100"/>
            <a:ext cx="402336" cy="0"/>
          </a:xfrm>
          <a:prstGeom prst="line">
            <a:avLst/>
          </a:prstGeom>
          <a:noFill/>
          <a:ln w="16510">
            <a:solidFill>
              <a:srgbClr val="D49A14"/>
            </a:solidFill>
            <a:prstDash val="solid"/>
            <a:tailEnd type="arrow"/>
          </a:ln>
        </p:spPr>
      </p:sp>
      <p:sp>
        <p:nvSpPr>
          <p:cNvPr id="21" name="Text 19"/>
          <p:cNvSpPr/>
          <p:nvPr/>
        </p:nvSpPr>
        <p:spPr>
          <a:xfrm>
            <a:off x="3200400" y="1696212"/>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id_token JWT</a:t>
            </a:r>
            <a:endParaRPr lang="en-US" sz="750" dirty="0"/>
          </a:p>
        </p:txBody>
      </p:sp>
      <p:sp>
        <p:nvSpPr>
          <p:cNvPr id="22" name="Shape 20"/>
          <p:cNvSpPr/>
          <p:nvPr/>
        </p:nvSpPr>
        <p:spPr>
          <a:xfrm>
            <a:off x="5385816" y="1943100"/>
            <a:ext cx="402336" cy="0"/>
          </a:xfrm>
          <a:prstGeom prst="line">
            <a:avLst/>
          </a:prstGeom>
          <a:noFill/>
          <a:ln w="16510">
            <a:solidFill>
              <a:srgbClr val="D49A14"/>
            </a:solidFill>
            <a:prstDash val="solid"/>
            <a:tailEnd type="arrow"/>
          </a:ln>
        </p:spPr>
      </p:sp>
      <p:sp>
        <p:nvSpPr>
          <p:cNvPr id="23" name="Text 21"/>
          <p:cNvSpPr/>
          <p:nvPr/>
        </p:nvSpPr>
        <p:spPr>
          <a:xfrm>
            <a:off x="4992624" y="1696212"/>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token_sign_in</a:t>
            </a:r>
            <a:endParaRPr lang="en-US" sz="750" dirty="0"/>
          </a:p>
        </p:txBody>
      </p:sp>
      <p:sp>
        <p:nvSpPr>
          <p:cNvPr id="24" name="Shape 22"/>
          <p:cNvSpPr/>
          <p:nvPr/>
        </p:nvSpPr>
        <p:spPr>
          <a:xfrm>
            <a:off x="7178040" y="1943100"/>
            <a:ext cx="228600" cy="0"/>
          </a:xfrm>
          <a:prstGeom prst="line">
            <a:avLst/>
          </a:prstGeom>
          <a:noFill/>
          <a:ln w="16510">
            <a:solidFill>
              <a:srgbClr val="D49A14"/>
            </a:solidFill>
            <a:prstDash val="solid"/>
            <a:tailEnd type="arrow"/>
          </a:ln>
        </p:spPr>
      </p:sp>
      <p:sp>
        <p:nvSpPr>
          <p:cNvPr id="25" name="Text 23"/>
          <p:cNvSpPr/>
          <p:nvPr/>
        </p:nvSpPr>
        <p:spPr>
          <a:xfrm>
            <a:off x="6697980" y="1696212"/>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REST props</a:t>
            </a:r>
            <a:endParaRPr lang="en-US" sz="750" dirty="0"/>
          </a:p>
        </p:txBody>
      </p:sp>
      <p:sp>
        <p:nvSpPr>
          <p:cNvPr id="26" name="Shape 24"/>
          <p:cNvSpPr/>
          <p:nvPr/>
        </p:nvSpPr>
        <p:spPr>
          <a:xfrm>
            <a:off x="1664208" y="1179576"/>
            <a:ext cx="292608" cy="292608"/>
          </a:xfrm>
          <a:prstGeom prst="ellipse">
            <a:avLst/>
          </a:prstGeom>
          <a:solidFill>
            <a:srgbClr val="D49A14"/>
          </a:solidFill>
          <a:ln w="12700">
            <a:solidFill>
              <a:srgbClr val="D49A14"/>
            </a:solidFill>
            <a:prstDash val="solid"/>
          </a:ln>
        </p:spPr>
      </p:sp>
      <p:sp>
        <p:nvSpPr>
          <p:cNvPr id="27" name="Text 25"/>
          <p:cNvSpPr/>
          <p:nvPr/>
        </p:nvSpPr>
        <p:spPr>
          <a:xfrm>
            <a:off x="1664208" y="1179576"/>
            <a:ext cx="292608" cy="292608"/>
          </a:xfrm>
          <a:prstGeom prst="rect">
            <a:avLst/>
          </a:prstGeom>
          <a:noFill/>
          <a:ln/>
        </p:spPr>
        <p:txBody>
          <a:bodyPr wrap="square" lIns="0" tIns="0" rIns="0" bIns="0" rtlCol="0" anchor="ctr"/>
          <a:lstStyle/>
          <a:p>
            <a:pPr algn="ctr" indent="0" marL="0">
              <a:buNone/>
            </a:pPr>
            <a:r>
              <a:rPr lang="en-US" sz="900" b="1" dirty="0">
                <a:solidFill>
                  <a:srgbClr val="180C05"/>
                </a:solidFill>
              </a:rPr>
              <a:t>1</a:t>
            </a:r>
            <a:endParaRPr lang="en-US" sz="900" dirty="0"/>
          </a:p>
        </p:txBody>
      </p:sp>
      <p:sp>
        <p:nvSpPr>
          <p:cNvPr id="28" name="Shape 26"/>
          <p:cNvSpPr/>
          <p:nvPr/>
        </p:nvSpPr>
        <p:spPr>
          <a:xfrm>
            <a:off x="3456432" y="1179576"/>
            <a:ext cx="292608" cy="292608"/>
          </a:xfrm>
          <a:prstGeom prst="ellipse">
            <a:avLst/>
          </a:prstGeom>
          <a:solidFill>
            <a:srgbClr val="D49A14"/>
          </a:solidFill>
          <a:ln w="12700">
            <a:solidFill>
              <a:srgbClr val="D49A14"/>
            </a:solidFill>
            <a:prstDash val="solid"/>
          </a:ln>
        </p:spPr>
      </p:sp>
      <p:sp>
        <p:nvSpPr>
          <p:cNvPr id="29" name="Text 27"/>
          <p:cNvSpPr/>
          <p:nvPr/>
        </p:nvSpPr>
        <p:spPr>
          <a:xfrm>
            <a:off x="3456432" y="1179576"/>
            <a:ext cx="292608" cy="292608"/>
          </a:xfrm>
          <a:prstGeom prst="rect">
            <a:avLst/>
          </a:prstGeom>
          <a:noFill/>
          <a:ln/>
        </p:spPr>
        <p:txBody>
          <a:bodyPr wrap="square" lIns="0" tIns="0" rIns="0" bIns="0" rtlCol="0" anchor="ctr"/>
          <a:lstStyle/>
          <a:p>
            <a:pPr algn="ctr" indent="0" marL="0">
              <a:buNone/>
            </a:pPr>
            <a:r>
              <a:rPr lang="en-US" sz="900" b="1" dirty="0">
                <a:solidFill>
                  <a:srgbClr val="180C05"/>
                </a:solidFill>
              </a:rPr>
              <a:t>2</a:t>
            </a:r>
            <a:endParaRPr lang="en-US" sz="900" dirty="0"/>
          </a:p>
        </p:txBody>
      </p:sp>
      <p:sp>
        <p:nvSpPr>
          <p:cNvPr id="30" name="Shape 28"/>
          <p:cNvSpPr/>
          <p:nvPr/>
        </p:nvSpPr>
        <p:spPr>
          <a:xfrm>
            <a:off x="5248656" y="1179576"/>
            <a:ext cx="292608" cy="292608"/>
          </a:xfrm>
          <a:prstGeom prst="ellipse">
            <a:avLst/>
          </a:prstGeom>
          <a:solidFill>
            <a:srgbClr val="D49A14"/>
          </a:solidFill>
          <a:ln w="12700">
            <a:solidFill>
              <a:srgbClr val="D49A14"/>
            </a:solidFill>
            <a:prstDash val="solid"/>
          </a:ln>
        </p:spPr>
      </p:sp>
      <p:sp>
        <p:nvSpPr>
          <p:cNvPr id="31" name="Text 29"/>
          <p:cNvSpPr/>
          <p:nvPr/>
        </p:nvSpPr>
        <p:spPr>
          <a:xfrm>
            <a:off x="5248656" y="1179576"/>
            <a:ext cx="292608" cy="292608"/>
          </a:xfrm>
          <a:prstGeom prst="rect">
            <a:avLst/>
          </a:prstGeom>
          <a:noFill/>
          <a:ln/>
        </p:spPr>
        <p:txBody>
          <a:bodyPr wrap="square" lIns="0" tIns="0" rIns="0" bIns="0" rtlCol="0" anchor="ctr"/>
          <a:lstStyle/>
          <a:p>
            <a:pPr algn="ctr" indent="0" marL="0">
              <a:buNone/>
            </a:pPr>
            <a:r>
              <a:rPr lang="en-US" sz="900" b="1" dirty="0">
                <a:solidFill>
                  <a:srgbClr val="180C05"/>
                </a:solidFill>
              </a:rPr>
              <a:t>3</a:t>
            </a:r>
            <a:endParaRPr lang="en-US" sz="900" dirty="0"/>
          </a:p>
        </p:txBody>
      </p:sp>
      <p:sp>
        <p:nvSpPr>
          <p:cNvPr id="32" name="Shape 30"/>
          <p:cNvSpPr/>
          <p:nvPr/>
        </p:nvSpPr>
        <p:spPr>
          <a:xfrm>
            <a:off x="411480" y="2834640"/>
            <a:ext cx="2286000" cy="804672"/>
          </a:xfrm>
          <a:prstGeom prst="rect">
            <a:avLst/>
          </a:prstGeom>
          <a:solidFill>
            <a:srgbClr val="281508"/>
          </a:solidFill>
          <a:ln w="6350">
            <a:solidFill>
              <a:srgbClr val="7B3A7A"/>
            </a:solidFill>
            <a:prstDash val="solid"/>
          </a:ln>
        </p:spPr>
      </p:sp>
      <p:sp>
        <p:nvSpPr>
          <p:cNvPr id="33" name="Text 31"/>
          <p:cNvSpPr/>
          <p:nvPr/>
        </p:nvSpPr>
        <p:spPr>
          <a:xfrm>
            <a:off x="502920" y="2834640"/>
            <a:ext cx="2103120" cy="804672"/>
          </a:xfrm>
          <a:prstGeom prst="rect">
            <a:avLst/>
          </a:prstGeom>
          <a:noFill/>
          <a:ln/>
        </p:spPr>
        <p:txBody>
          <a:bodyPr wrap="square" lIns="50800" tIns="50800" rIns="50800" bIns="50800" rtlCol="0" anchor="ctr"/>
          <a:lstStyle/>
          <a:p>
            <a:pPr indent="0" marL="0">
              <a:buNone/>
            </a:pPr>
            <a:r>
              <a:rPr lang="en-US" sz="850" dirty="0">
                <a:solidFill>
                  <a:srgbClr val="FBF0DD"/>
                </a:solidFill>
              </a:rPr>
              <a:t>API Key Gigya</a:t>
            </a:r>
            <a:endParaRPr lang="en-US" sz="850" dirty="0"/>
          </a:p>
          <a:p>
            <a:pPr indent="0" marL="0">
              <a:buNone/>
            </a:pPr>
            <a:r>
              <a:rPr lang="en-US" sz="850" dirty="0">
                <a:solidFill>
                  <a:srgbClr val="FBF0DD"/>
                </a:solidFill>
              </a:rPr>
              <a:t>4_DRIMLu7jk9bkKwpRRoQOuw</a:t>
            </a:r>
            <a:endParaRPr lang="en-US" sz="850" dirty="0"/>
          </a:p>
        </p:txBody>
      </p:sp>
      <p:sp>
        <p:nvSpPr>
          <p:cNvPr id="34" name="Shape 32"/>
          <p:cNvSpPr/>
          <p:nvPr/>
        </p:nvSpPr>
        <p:spPr>
          <a:xfrm>
            <a:off x="2926080" y="2834640"/>
            <a:ext cx="2286000" cy="804672"/>
          </a:xfrm>
          <a:prstGeom prst="rect">
            <a:avLst/>
          </a:prstGeom>
          <a:solidFill>
            <a:srgbClr val="281508"/>
          </a:solidFill>
          <a:ln w="6350">
            <a:solidFill>
              <a:srgbClr val="178A52"/>
            </a:solidFill>
            <a:prstDash val="solid"/>
          </a:ln>
        </p:spPr>
      </p:sp>
      <p:sp>
        <p:nvSpPr>
          <p:cNvPr id="35" name="Text 33"/>
          <p:cNvSpPr/>
          <p:nvPr/>
        </p:nvSpPr>
        <p:spPr>
          <a:xfrm>
            <a:off x="3017520" y="2834640"/>
            <a:ext cx="2103120" cy="804672"/>
          </a:xfrm>
          <a:prstGeom prst="rect">
            <a:avLst/>
          </a:prstGeom>
          <a:noFill/>
          <a:ln/>
        </p:spPr>
        <p:txBody>
          <a:bodyPr wrap="square" lIns="50800" tIns="50800" rIns="50800" bIns="50800" rtlCol="0" anchor="ctr"/>
          <a:lstStyle/>
          <a:p>
            <a:pPr indent="0" marL="0">
              <a:buNone/>
            </a:pPr>
            <a:r>
              <a:rPr lang="en-US" sz="850" dirty="0">
                <a:solidFill>
                  <a:srgbClr val="FBF0DD"/>
                </a:solidFill>
              </a:rPr>
              <a:t>App ID + Secret</a:t>
            </a:r>
            <a:endParaRPr lang="en-US" sz="850" dirty="0"/>
          </a:p>
          <a:p>
            <a:pPr indent="0" marL="0">
              <a:buNone/>
            </a:pPr>
            <a:r>
              <a:rPr lang="en-US" sz="850" dirty="0">
                <a:solidFill>
                  <a:srgbClr val="FBF0DD"/>
                </a:solidFill>
              </a:rPr>
              <a:t>DLonghiCoffeeIdKit-*</a:t>
            </a:r>
            <a:endParaRPr lang="en-US" sz="850" dirty="0"/>
          </a:p>
        </p:txBody>
      </p:sp>
      <p:sp>
        <p:nvSpPr>
          <p:cNvPr id="36" name="Shape 34"/>
          <p:cNvSpPr/>
          <p:nvPr/>
        </p:nvSpPr>
        <p:spPr>
          <a:xfrm>
            <a:off x="5440680" y="2834640"/>
            <a:ext cx="2286000" cy="804672"/>
          </a:xfrm>
          <a:prstGeom prst="rect">
            <a:avLst/>
          </a:prstGeom>
          <a:solidFill>
            <a:srgbClr val="281508"/>
          </a:solidFill>
          <a:ln w="6350">
            <a:solidFill>
              <a:srgbClr val="1A72B8"/>
            </a:solidFill>
            <a:prstDash val="solid"/>
          </a:ln>
        </p:spPr>
      </p:sp>
      <p:sp>
        <p:nvSpPr>
          <p:cNvPr id="37" name="Text 35"/>
          <p:cNvSpPr/>
          <p:nvPr/>
        </p:nvSpPr>
        <p:spPr>
          <a:xfrm>
            <a:off x="5532120" y="2834640"/>
            <a:ext cx="2103120" cy="804672"/>
          </a:xfrm>
          <a:prstGeom prst="rect">
            <a:avLst/>
          </a:prstGeom>
          <a:noFill/>
          <a:ln/>
        </p:spPr>
        <p:txBody>
          <a:bodyPr wrap="square" lIns="50800" tIns="50800" rIns="50800" bIns="50800" rtlCol="0" anchor="ctr"/>
          <a:lstStyle/>
          <a:p>
            <a:pPr indent="0" marL="0">
              <a:buNone/>
            </a:pPr>
            <a:r>
              <a:rPr lang="en-US" sz="850" dirty="0">
                <a:solidFill>
                  <a:srgbClr val="FBF0DD"/>
                </a:solidFill>
              </a:rPr>
              <a:t>Token cache</a:t>
            </a:r>
            <a:endParaRPr lang="en-US" sz="850" dirty="0"/>
          </a:p>
          <a:p>
            <a:pPr indent="0" marL="0">
              <a:buNone/>
            </a:pPr>
            <a:r>
              <a:rPr lang="en-US" sz="850" dirty="0">
                <a:solidFill>
                  <a:srgbClr val="FBF0DD"/>
                </a:solidFill>
              </a:rPr>
              <a:t>SemaphoreSlim</a:t>
            </a:r>
            <a:endParaRPr lang="en-US" sz="850" dirty="0"/>
          </a:p>
        </p:txBody>
      </p:sp>
      <p:sp>
        <p:nvSpPr>
          <p:cNvPr id="38" name="Shape 36"/>
          <p:cNvSpPr/>
          <p:nvPr/>
        </p:nvSpPr>
        <p:spPr>
          <a:xfrm>
            <a:off x="7315200" y="2834640"/>
            <a:ext cx="2286000" cy="804672"/>
          </a:xfrm>
          <a:prstGeom prst="rect">
            <a:avLst/>
          </a:prstGeom>
          <a:solidFill>
            <a:srgbClr val="281508"/>
          </a:solidFill>
          <a:ln w="6350">
            <a:solidFill>
              <a:srgbClr val="D49A14"/>
            </a:solidFill>
            <a:prstDash val="solid"/>
          </a:ln>
        </p:spPr>
      </p:sp>
      <p:sp>
        <p:nvSpPr>
          <p:cNvPr id="39" name="Text 37"/>
          <p:cNvSpPr/>
          <p:nvPr/>
        </p:nvSpPr>
        <p:spPr>
          <a:xfrm>
            <a:off x="7406640" y="2834640"/>
            <a:ext cx="2103120" cy="804672"/>
          </a:xfrm>
          <a:prstGeom prst="rect">
            <a:avLst/>
          </a:prstGeom>
          <a:noFill/>
          <a:ln/>
        </p:spPr>
        <p:txBody>
          <a:bodyPr wrap="square" lIns="50800" tIns="50800" rIns="50800" bIns="50800" rtlCol="0" anchor="ctr"/>
          <a:lstStyle/>
          <a:p>
            <a:pPr indent="0" marL="0">
              <a:buNone/>
            </a:pPr>
            <a:r>
              <a:rPr lang="en-US" sz="850" dirty="0">
                <a:solidFill>
                  <a:srgbClr val="FBF0DD"/>
                </a:solidFill>
              </a:rPr>
              <a:t>auth_token header</a:t>
            </a:r>
            <a:endParaRPr lang="en-US" sz="850" dirty="0"/>
          </a:p>
          <a:p>
            <a:pPr indent="0" marL="0">
              <a:buNone/>
            </a:pPr>
            <a:r>
              <a:rPr lang="en-US" sz="850" dirty="0">
                <a:solidFill>
                  <a:srgbClr val="FBF0DD"/>
                </a:solidFill>
              </a:rPr>
              <a:t>x-ayla-source: Mobile</a:t>
            </a:r>
            <a:endParaRPr lang="en-US" sz="850" dirty="0"/>
          </a:p>
        </p:txBody>
      </p:sp>
      <p:sp>
        <p:nvSpPr>
          <p:cNvPr id="40" name="Shape 38"/>
          <p:cNvSpPr/>
          <p:nvPr/>
        </p:nvSpPr>
        <p:spPr>
          <a:xfrm>
            <a:off x="411480" y="3822192"/>
            <a:ext cx="8412480" cy="594360"/>
          </a:xfrm>
          <a:prstGeom prst="rect">
            <a:avLst/>
          </a:prstGeom>
          <a:solidFill>
            <a:srgbClr val="0D0A07"/>
          </a:solidFill>
          <a:ln w="5080">
            <a:solidFill>
              <a:srgbClr val="4A2A14"/>
            </a:solidFill>
            <a:prstDash val="solid"/>
          </a:ln>
        </p:spPr>
      </p:sp>
      <p:sp>
        <p:nvSpPr>
          <p:cNvPr id="41" name="Text 39"/>
          <p:cNvSpPr/>
          <p:nvPr/>
        </p:nvSpPr>
        <p:spPr>
          <a:xfrm>
            <a:off x="548640" y="3822192"/>
            <a:ext cx="8229600" cy="594360"/>
          </a:xfrm>
          <a:prstGeom prst="rect">
            <a:avLst/>
          </a:prstGeom>
          <a:noFill/>
          <a:ln/>
        </p:spPr>
        <p:txBody>
          <a:bodyPr wrap="square" lIns="50800" tIns="50800" rIns="50800" bIns="50800" rtlCol="0" anchor="ctr"/>
          <a:lstStyle/>
          <a:p>
            <a:pPr algn="l" indent="0" marL="0">
              <a:buNone/>
            </a:pPr>
            <a:r>
              <a:rPr lang="en-US" sz="900" dirty="0">
                <a:solidFill>
                  <a:srgbClr val="F5B828"/>
                </a:solidFill>
                <a:latin typeface="Consolas" pitchFamily="34" charset="0"/>
                <a:ea typeface="Consolas" pitchFamily="34" charset="-122"/>
                <a:cs typeface="Consolas" pitchFamily="34" charset="-120"/>
              </a:rPr>
              <a:t>DelonghiAuthService.cs  -&gt;  GigyaLogin() -&gt; ExchangeToken() -&gt; AylaSignIn()  -&gt;  token cached in-memory, auto-refresh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Le protocole ECAM : structure du paquet binaire</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PROTOCOLE</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8 / 16</a:t>
            </a:r>
            <a:endParaRPr lang="en-US" sz="750" dirty="0"/>
          </a:p>
        </p:txBody>
      </p:sp>
      <p:sp>
        <p:nvSpPr>
          <p:cNvPr id="8" name="Shape 6"/>
          <p:cNvSpPr/>
          <p:nvPr/>
        </p:nvSpPr>
        <p:spPr>
          <a:xfrm>
            <a:off x="475488" y="987552"/>
            <a:ext cx="548640" cy="658368"/>
          </a:xfrm>
          <a:prstGeom prst="rect">
            <a:avLst/>
          </a:prstGeom>
          <a:solidFill>
            <a:srgbClr val="341A0A"/>
          </a:solidFill>
          <a:ln w="11430">
            <a:solidFill>
              <a:srgbClr val="1A72B8"/>
            </a:solidFill>
            <a:prstDash val="solid"/>
          </a:ln>
        </p:spPr>
      </p:sp>
      <p:sp>
        <p:nvSpPr>
          <p:cNvPr id="9" name="Text 7"/>
          <p:cNvSpPr/>
          <p:nvPr/>
        </p:nvSpPr>
        <p:spPr>
          <a:xfrm>
            <a:off x="475488" y="987552"/>
            <a:ext cx="548640" cy="658368"/>
          </a:xfrm>
          <a:prstGeom prst="rect">
            <a:avLst/>
          </a:prstGeom>
          <a:noFill/>
          <a:ln/>
        </p:spPr>
        <p:txBody>
          <a:bodyPr wrap="square" lIns="0" tIns="0" rIns="0" bIns="0" rtlCol="0" anchor="ctr"/>
          <a:lstStyle/>
          <a:p>
            <a:pPr algn="ctr" indent="0" marL="0">
              <a:buNone/>
            </a:pPr>
            <a:r>
              <a:rPr lang="en-US" sz="850" b="1" dirty="0">
                <a:solidFill>
                  <a:srgbClr val="1A72B8"/>
                </a:solidFill>
                <a:latin typeface="Consolas" pitchFamily="34" charset="0"/>
                <a:ea typeface="Consolas" pitchFamily="34" charset="-122"/>
                <a:cs typeface="Consolas" pitchFamily="34" charset="-120"/>
              </a:rPr>
              <a:t>D0</a:t>
            </a:r>
            <a:endParaRPr lang="en-US" sz="850" dirty="0"/>
          </a:p>
        </p:txBody>
      </p:sp>
      <p:sp>
        <p:nvSpPr>
          <p:cNvPr id="10" name="Text 8"/>
          <p:cNvSpPr/>
          <p:nvPr/>
        </p:nvSpPr>
        <p:spPr>
          <a:xfrm>
            <a:off x="429768"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header</a:t>
            </a:r>
            <a:endParaRPr lang="en-US" sz="700" dirty="0"/>
          </a:p>
        </p:txBody>
      </p:sp>
      <p:sp>
        <p:nvSpPr>
          <p:cNvPr id="11" name="Shape 9"/>
          <p:cNvSpPr/>
          <p:nvPr/>
        </p:nvSpPr>
        <p:spPr>
          <a:xfrm>
            <a:off x="1060704" y="987552"/>
            <a:ext cx="548640" cy="658368"/>
          </a:xfrm>
          <a:prstGeom prst="rect">
            <a:avLst/>
          </a:prstGeom>
          <a:solidFill>
            <a:srgbClr val="341A0A"/>
          </a:solidFill>
          <a:ln w="11430">
            <a:solidFill>
              <a:srgbClr val="1A72B8"/>
            </a:solidFill>
            <a:prstDash val="solid"/>
          </a:ln>
        </p:spPr>
      </p:sp>
      <p:sp>
        <p:nvSpPr>
          <p:cNvPr id="12" name="Text 10"/>
          <p:cNvSpPr/>
          <p:nvPr/>
        </p:nvSpPr>
        <p:spPr>
          <a:xfrm>
            <a:off x="1060704" y="987552"/>
            <a:ext cx="548640" cy="658368"/>
          </a:xfrm>
          <a:prstGeom prst="rect">
            <a:avLst/>
          </a:prstGeom>
          <a:noFill/>
          <a:ln/>
        </p:spPr>
        <p:txBody>
          <a:bodyPr wrap="square" lIns="0" tIns="0" rIns="0" bIns="0" rtlCol="0" anchor="ctr"/>
          <a:lstStyle/>
          <a:p>
            <a:pPr algn="ctr" indent="0" marL="0">
              <a:buNone/>
            </a:pPr>
            <a:r>
              <a:rPr lang="en-US" sz="850" b="1" dirty="0">
                <a:solidFill>
                  <a:srgbClr val="1A72B8"/>
                </a:solidFill>
                <a:latin typeface="Consolas" pitchFamily="34" charset="0"/>
                <a:ea typeface="Consolas" pitchFamily="34" charset="-122"/>
                <a:cs typeface="Consolas" pitchFamily="34" charset="-120"/>
              </a:rPr>
              <a:t>len</a:t>
            </a:r>
            <a:endParaRPr lang="en-US" sz="850" dirty="0"/>
          </a:p>
        </p:txBody>
      </p:sp>
      <p:sp>
        <p:nvSpPr>
          <p:cNvPr id="13" name="Text 11"/>
          <p:cNvSpPr/>
          <p:nvPr/>
        </p:nvSpPr>
        <p:spPr>
          <a:xfrm>
            <a:off x="1014984"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longueur-1</a:t>
            </a:r>
            <a:endParaRPr lang="en-US" sz="700" dirty="0"/>
          </a:p>
        </p:txBody>
      </p:sp>
      <p:sp>
        <p:nvSpPr>
          <p:cNvPr id="14" name="Shape 12"/>
          <p:cNvSpPr/>
          <p:nvPr/>
        </p:nvSpPr>
        <p:spPr>
          <a:xfrm>
            <a:off x="1645920" y="987552"/>
            <a:ext cx="548640" cy="658368"/>
          </a:xfrm>
          <a:prstGeom prst="rect">
            <a:avLst/>
          </a:prstGeom>
          <a:solidFill>
            <a:srgbClr val="341A0A"/>
          </a:solidFill>
          <a:ln w="11430">
            <a:solidFill>
              <a:srgbClr val="C64018"/>
            </a:solidFill>
            <a:prstDash val="solid"/>
          </a:ln>
        </p:spPr>
      </p:sp>
      <p:sp>
        <p:nvSpPr>
          <p:cNvPr id="15" name="Text 13"/>
          <p:cNvSpPr/>
          <p:nvPr/>
        </p:nvSpPr>
        <p:spPr>
          <a:xfrm>
            <a:off x="1645920" y="987552"/>
            <a:ext cx="548640" cy="658368"/>
          </a:xfrm>
          <a:prstGeom prst="rect">
            <a:avLst/>
          </a:prstGeom>
          <a:noFill/>
          <a:ln/>
        </p:spPr>
        <p:txBody>
          <a:bodyPr wrap="square" lIns="0" tIns="0" rIns="0" bIns="0" rtlCol="0" anchor="ctr"/>
          <a:lstStyle/>
          <a:p>
            <a:pPr algn="ctr" indent="0" marL="0">
              <a:buNone/>
            </a:pPr>
            <a:r>
              <a:rPr lang="en-US" sz="850" b="1" dirty="0">
                <a:solidFill>
                  <a:srgbClr val="C64018"/>
                </a:solidFill>
                <a:latin typeface="Consolas" pitchFamily="34" charset="0"/>
                <a:ea typeface="Consolas" pitchFamily="34" charset="-122"/>
                <a:cs typeface="Consolas" pitchFamily="34" charset="-120"/>
              </a:rPr>
              <a:t>83</a:t>
            </a:r>
            <a:endParaRPr lang="en-US" sz="850" dirty="0"/>
          </a:p>
        </p:txBody>
      </p:sp>
      <p:sp>
        <p:nvSpPr>
          <p:cNvPr id="16" name="Text 14"/>
          <p:cNvSpPr/>
          <p:nvPr/>
        </p:nvSpPr>
        <p:spPr>
          <a:xfrm>
            <a:off x="1600200"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cmd BREW</a:t>
            </a:r>
            <a:endParaRPr lang="en-US" sz="700" dirty="0"/>
          </a:p>
        </p:txBody>
      </p:sp>
      <p:sp>
        <p:nvSpPr>
          <p:cNvPr id="17" name="Shape 15"/>
          <p:cNvSpPr/>
          <p:nvPr/>
        </p:nvSpPr>
        <p:spPr>
          <a:xfrm>
            <a:off x="2231136" y="987552"/>
            <a:ext cx="548640" cy="658368"/>
          </a:xfrm>
          <a:prstGeom prst="rect">
            <a:avLst/>
          </a:prstGeom>
          <a:solidFill>
            <a:srgbClr val="341A0A"/>
          </a:solidFill>
          <a:ln w="11430">
            <a:solidFill>
              <a:srgbClr val="7B3A7A"/>
            </a:solidFill>
            <a:prstDash val="solid"/>
          </a:ln>
        </p:spPr>
      </p:sp>
      <p:sp>
        <p:nvSpPr>
          <p:cNvPr id="18" name="Text 16"/>
          <p:cNvSpPr/>
          <p:nvPr/>
        </p:nvSpPr>
        <p:spPr>
          <a:xfrm>
            <a:off x="2231136" y="987552"/>
            <a:ext cx="548640" cy="658368"/>
          </a:xfrm>
          <a:prstGeom prst="rect">
            <a:avLst/>
          </a:prstGeom>
          <a:noFill/>
          <a:ln/>
        </p:spPr>
        <p:txBody>
          <a:bodyPr wrap="square" lIns="0" tIns="0" rIns="0" bIns="0" rtlCol="0" anchor="ctr"/>
          <a:lstStyle/>
          <a:p>
            <a:pPr algn="ctr" indent="0" marL="0">
              <a:buNone/>
            </a:pPr>
            <a:r>
              <a:rPr lang="en-US" sz="850" b="1" dirty="0">
                <a:solidFill>
                  <a:srgbClr val="7B3A7A"/>
                </a:solidFill>
                <a:latin typeface="Consolas" pitchFamily="34" charset="0"/>
                <a:ea typeface="Consolas" pitchFamily="34" charset="-122"/>
                <a:cs typeface="Consolas" pitchFamily="34" charset="-120"/>
              </a:rPr>
              <a:t>F0</a:t>
            </a:r>
            <a:endParaRPr lang="en-US" sz="850" dirty="0"/>
          </a:p>
        </p:txBody>
      </p:sp>
      <p:sp>
        <p:nvSpPr>
          <p:cNvPr id="19" name="Text 17"/>
          <p:cNvSpPr/>
          <p:nvPr/>
        </p:nvSpPr>
        <p:spPr>
          <a:xfrm>
            <a:off x="2185416"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flags</a:t>
            </a:r>
            <a:endParaRPr lang="en-US" sz="700" dirty="0"/>
          </a:p>
        </p:txBody>
      </p:sp>
      <p:sp>
        <p:nvSpPr>
          <p:cNvPr id="20" name="Shape 18"/>
          <p:cNvSpPr/>
          <p:nvPr/>
        </p:nvSpPr>
        <p:spPr>
          <a:xfrm>
            <a:off x="2816352" y="987552"/>
            <a:ext cx="548640" cy="658368"/>
          </a:xfrm>
          <a:prstGeom prst="rect">
            <a:avLst/>
          </a:prstGeom>
          <a:solidFill>
            <a:srgbClr val="341A0A"/>
          </a:solidFill>
          <a:ln w="11430">
            <a:solidFill>
              <a:srgbClr val="178A52"/>
            </a:solidFill>
            <a:prstDash val="solid"/>
          </a:ln>
        </p:spPr>
      </p:sp>
      <p:sp>
        <p:nvSpPr>
          <p:cNvPr id="21" name="Text 19"/>
          <p:cNvSpPr/>
          <p:nvPr/>
        </p:nvSpPr>
        <p:spPr>
          <a:xfrm>
            <a:off x="2816352" y="987552"/>
            <a:ext cx="548640" cy="658368"/>
          </a:xfrm>
          <a:prstGeom prst="rect">
            <a:avLst/>
          </a:prstGeom>
          <a:noFill/>
          <a:ln/>
        </p:spPr>
        <p:txBody>
          <a:bodyPr wrap="square" lIns="0" tIns="0" rIns="0" bIns="0" rtlCol="0" anchor="ctr"/>
          <a:lstStyle/>
          <a:p>
            <a:pPr algn="ctr" indent="0" marL="0">
              <a:buNone/>
            </a:pPr>
            <a:r>
              <a:rPr lang="en-US" sz="850" b="1" dirty="0">
                <a:solidFill>
                  <a:srgbClr val="178A52"/>
                </a:solidFill>
                <a:latin typeface="Consolas" pitchFamily="34" charset="0"/>
                <a:ea typeface="Consolas" pitchFamily="34" charset="-122"/>
                <a:cs typeface="Consolas" pitchFamily="34" charset="-120"/>
              </a:rPr>
              <a:t>02</a:t>
            </a:r>
            <a:endParaRPr lang="en-US" sz="850" dirty="0"/>
          </a:p>
        </p:txBody>
      </p:sp>
      <p:sp>
        <p:nvSpPr>
          <p:cNvPr id="22" name="Text 20"/>
          <p:cNvSpPr/>
          <p:nvPr/>
        </p:nvSpPr>
        <p:spPr>
          <a:xfrm>
            <a:off x="2770632"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profil</a:t>
            </a:r>
            <a:endParaRPr lang="en-US" sz="700" dirty="0"/>
          </a:p>
        </p:txBody>
      </p:sp>
      <p:sp>
        <p:nvSpPr>
          <p:cNvPr id="23" name="Shape 21"/>
          <p:cNvSpPr/>
          <p:nvPr/>
        </p:nvSpPr>
        <p:spPr>
          <a:xfrm>
            <a:off x="3401568" y="987552"/>
            <a:ext cx="822960" cy="658368"/>
          </a:xfrm>
          <a:prstGeom prst="rect">
            <a:avLst/>
          </a:prstGeom>
          <a:solidFill>
            <a:srgbClr val="341A0A"/>
          </a:solidFill>
          <a:ln w="11430">
            <a:solidFill>
              <a:srgbClr val="D49A14"/>
            </a:solidFill>
            <a:prstDash val="solid"/>
          </a:ln>
        </p:spPr>
      </p:sp>
      <p:sp>
        <p:nvSpPr>
          <p:cNvPr id="24" name="Text 22"/>
          <p:cNvSpPr/>
          <p:nvPr/>
        </p:nvSpPr>
        <p:spPr>
          <a:xfrm>
            <a:off x="3401568" y="987552"/>
            <a:ext cx="822960" cy="658368"/>
          </a:xfrm>
          <a:prstGeom prst="rect">
            <a:avLst/>
          </a:prstGeom>
          <a:noFill/>
          <a:ln/>
        </p:spPr>
        <p:txBody>
          <a:bodyPr wrap="square" lIns="0" tIns="0" rIns="0" bIns="0" rtlCol="0" anchor="ctr"/>
          <a:lstStyle/>
          <a:p>
            <a:pPr algn="ctr" indent="0" marL="0">
              <a:buNone/>
            </a:pPr>
            <a:r>
              <a:rPr lang="en-US" sz="850" b="1" dirty="0">
                <a:solidFill>
                  <a:srgbClr val="D49A14"/>
                </a:solidFill>
                <a:latin typeface="Consolas" pitchFamily="34" charset="0"/>
                <a:ea typeface="Consolas" pitchFamily="34" charset="-122"/>
                <a:cs typeface="Consolas" pitchFamily="34" charset="-120"/>
              </a:rPr>
              <a:t>01</a:t>
            </a:r>
            <a:endParaRPr lang="en-US" sz="850" dirty="0"/>
          </a:p>
        </p:txBody>
      </p:sp>
      <p:sp>
        <p:nvSpPr>
          <p:cNvPr id="25" name="Text 23"/>
          <p:cNvSpPr/>
          <p:nvPr/>
        </p:nvSpPr>
        <p:spPr>
          <a:xfrm>
            <a:off x="3355848" y="1709928"/>
            <a:ext cx="914400" cy="347472"/>
          </a:xfrm>
          <a:prstGeom prst="rect">
            <a:avLst/>
          </a:prstGeom>
          <a:noFill/>
          <a:ln/>
        </p:spPr>
        <p:txBody>
          <a:bodyPr wrap="square" lIns="0" tIns="0" rIns="0" bIns="0" rtlCol="0" anchor="ctr"/>
          <a:lstStyle/>
          <a:p>
            <a:pPr algn="ctr" indent="0" marL="0">
              <a:buNone/>
            </a:pPr>
            <a:r>
              <a:rPr lang="en-US" sz="700" dirty="0">
                <a:solidFill>
                  <a:srgbClr val="9A7050"/>
                </a:solidFill>
              </a:rPr>
              <a:t>pid:COFFEE</a:t>
            </a:r>
            <a:endParaRPr lang="en-US" sz="700" dirty="0"/>
          </a:p>
        </p:txBody>
      </p:sp>
      <p:sp>
        <p:nvSpPr>
          <p:cNvPr id="26" name="Shape 24"/>
          <p:cNvSpPr/>
          <p:nvPr/>
        </p:nvSpPr>
        <p:spPr>
          <a:xfrm>
            <a:off x="4261104" y="987552"/>
            <a:ext cx="822960" cy="658368"/>
          </a:xfrm>
          <a:prstGeom prst="rect">
            <a:avLst/>
          </a:prstGeom>
          <a:solidFill>
            <a:srgbClr val="341A0A"/>
          </a:solidFill>
          <a:ln w="11430">
            <a:solidFill>
              <a:srgbClr val="D49A14"/>
            </a:solidFill>
            <a:prstDash val="solid"/>
          </a:ln>
        </p:spPr>
      </p:sp>
      <p:sp>
        <p:nvSpPr>
          <p:cNvPr id="27" name="Text 25"/>
          <p:cNvSpPr/>
          <p:nvPr/>
        </p:nvSpPr>
        <p:spPr>
          <a:xfrm>
            <a:off x="4261104" y="987552"/>
            <a:ext cx="822960" cy="658368"/>
          </a:xfrm>
          <a:prstGeom prst="rect">
            <a:avLst/>
          </a:prstGeom>
          <a:noFill/>
          <a:ln/>
        </p:spPr>
        <p:txBody>
          <a:bodyPr wrap="square" lIns="0" tIns="0" rIns="0" bIns="0" rtlCol="0" anchor="ctr"/>
          <a:lstStyle/>
          <a:p>
            <a:pPr algn="ctr" indent="0" marL="0">
              <a:buNone/>
            </a:pPr>
            <a:r>
              <a:rPr lang="en-US" sz="850" b="1" dirty="0">
                <a:solidFill>
                  <a:srgbClr val="D49A14"/>
                </a:solidFill>
                <a:latin typeface="Consolas" pitchFamily="34" charset="0"/>
                <a:ea typeface="Consolas" pitchFamily="34" charset="-122"/>
                <a:cs typeface="Consolas" pitchFamily="34" charset="-120"/>
              </a:rPr>
              <a:t>00 28</a:t>
            </a:r>
            <a:endParaRPr lang="en-US" sz="850" dirty="0"/>
          </a:p>
        </p:txBody>
      </p:sp>
      <p:sp>
        <p:nvSpPr>
          <p:cNvPr id="28" name="Text 26"/>
          <p:cNvSpPr/>
          <p:nvPr/>
        </p:nvSpPr>
        <p:spPr>
          <a:xfrm>
            <a:off x="4215384" y="1709928"/>
            <a:ext cx="914400" cy="347472"/>
          </a:xfrm>
          <a:prstGeom prst="rect">
            <a:avLst/>
          </a:prstGeom>
          <a:noFill/>
          <a:ln/>
        </p:spPr>
        <p:txBody>
          <a:bodyPr wrap="square" lIns="0" tIns="0" rIns="0" bIns="0" rtlCol="0" anchor="ctr"/>
          <a:lstStyle/>
          <a:p>
            <a:pPr algn="ctr" indent="0" marL="0">
              <a:buNone/>
            </a:pPr>
            <a:r>
              <a:rPr lang="en-US" sz="700" dirty="0">
                <a:solidFill>
                  <a:srgbClr val="9A7050"/>
                </a:solidFill>
              </a:rPr>
              <a:t>40 mL (16b)</a:t>
            </a:r>
            <a:endParaRPr lang="en-US" sz="700" dirty="0"/>
          </a:p>
        </p:txBody>
      </p:sp>
      <p:sp>
        <p:nvSpPr>
          <p:cNvPr id="29" name="Shape 27"/>
          <p:cNvSpPr/>
          <p:nvPr/>
        </p:nvSpPr>
        <p:spPr>
          <a:xfrm>
            <a:off x="5120640" y="987552"/>
            <a:ext cx="548640" cy="658368"/>
          </a:xfrm>
          <a:prstGeom prst="rect">
            <a:avLst/>
          </a:prstGeom>
          <a:solidFill>
            <a:srgbClr val="341A0A"/>
          </a:solidFill>
          <a:ln w="11430">
            <a:solidFill>
              <a:srgbClr val="F5B828"/>
            </a:solidFill>
            <a:prstDash val="solid"/>
          </a:ln>
        </p:spPr>
      </p:sp>
      <p:sp>
        <p:nvSpPr>
          <p:cNvPr id="30" name="Text 28"/>
          <p:cNvSpPr/>
          <p:nvPr/>
        </p:nvSpPr>
        <p:spPr>
          <a:xfrm>
            <a:off x="5120640" y="987552"/>
            <a:ext cx="548640" cy="658368"/>
          </a:xfrm>
          <a:prstGeom prst="rect">
            <a:avLst/>
          </a:prstGeom>
          <a:noFill/>
          <a:ln/>
        </p:spPr>
        <p:txBody>
          <a:bodyPr wrap="square" lIns="0" tIns="0" rIns="0" bIns="0" rtlCol="0" anchor="ctr"/>
          <a:lstStyle/>
          <a:p>
            <a:pPr algn="ctr" indent="0" marL="0">
              <a:buNone/>
            </a:pPr>
            <a:r>
              <a:rPr lang="en-US" sz="850" b="1" dirty="0">
                <a:solidFill>
                  <a:srgbClr val="F5B828"/>
                </a:solidFill>
                <a:latin typeface="Consolas" pitchFamily="34" charset="0"/>
                <a:ea typeface="Consolas" pitchFamily="34" charset="-122"/>
                <a:cs typeface="Consolas" pitchFamily="34" charset="-120"/>
              </a:rPr>
              <a:t>02</a:t>
            </a:r>
            <a:endParaRPr lang="en-US" sz="850" dirty="0"/>
          </a:p>
        </p:txBody>
      </p:sp>
      <p:sp>
        <p:nvSpPr>
          <p:cNvPr id="31" name="Text 29"/>
          <p:cNvSpPr/>
          <p:nvPr/>
        </p:nvSpPr>
        <p:spPr>
          <a:xfrm>
            <a:off x="5074920"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pid:GRIND</a:t>
            </a:r>
            <a:endParaRPr lang="en-US" sz="700" dirty="0"/>
          </a:p>
        </p:txBody>
      </p:sp>
      <p:sp>
        <p:nvSpPr>
          <p:cNvPr id="32" name="Shape 30"/>
          <p:cNvSpPr/>
          <p:nvPr/>
        </p:nvSpPr>
        <p:spPr>
          <a:xfrm>
            <a:off x="5705856" y="987552"/>
            <a:ext cx="548640" cy="658368"/>
          </a:xfrm>
          <a:prstGeom prst="rect">
            <a:avLst/>
          </a:prstGeom>
          <a:solidFill>
            <a:srgbClr val="341A0A"/>
          </a:solidFill>
          <a:ln w="11430">
            <a:solidFill>
              <a:srgbClr val="F5B828"/>
            </a:solidFill>
            <a:prstDash val="solid"/>
          </a:ln>
        </p:spPr>
      </p:sp>
      <p:sp>
        <p:nvSpPr>
          <p:cNvPr id="33" name="Text 31"/>
          <p:cNvSpPr/>
          <p:nvPr/>
        </p:nvSpPr>
        <p:spPr>
          <a:xfrm>
            <a:off x="5705856" y="987552"/>
            <a:ext cx="548640" cy="658368"/>
          </a:xfrm>
          <a:prstGeom prst="rect">
            <a:avLst/>
          </a:prstGeom>
          <a:noFill/>
          <a:ln/>
        </p:spPr>
        <p:txBody>
          <a:bodyPr wrap="square" lIns="0" tIns="0" rIns="0" bIns="0" rtlCol="0" anchor="ctr"/>
          <a:lstStyle/>
          <a:p>
            <a:pPr algn="ctr" indent="0" marL="0">
              <a:buNone/>
            </a:pPr>
            <a:r>
              <a:rPr lang="en-US" sz="850" b="1" dirty="0">
                <a:solidFill>
                  <a:srgbClr val="F5B828"/>
                </a:solidFill>
                <a:latin typeface="Consolas" pitchFamily="34" charset="0"/>
                <a:ea typeface="Consolas" pitchFamily="34" charset="-122"/>
                <a:cs typeface="Consolas" pitchFamily="34" charset="-120"/>
              </a:rPr>
              <a:t>05</a:t>
            </a:r>
            <a:endParaRPr lang="en-US" sz="850" dirty="0"/>
          </a:p>
        </p:txBody>
      </p:sp>
      <p:sp>
        <p:nvSpPr>
          <p:cNvPr id="34" name="Text 32"/>
          <p:cNvSpPr/>
          <p:nvPr/>
        </p:nvSpPr>
        <p:spPr>
          <a:xfrm>
            <a:off x="5660136"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niveau 5</a:t>
            </a:r>
            <a:endParaRPr lang="en-US" sz="700" dirty="0"/>
          </a:p>
        </p:txBody>
      </p:sp>
      <p:sp>
        <p:nvSpPr>
          <p:cNvPr id="35" name="Shape 33"/>
          <p:cNvSpPr/>
          <p:nvPr/>
        </p:nvSpPr>
        <p:spPr>
          <a:xfrm>
            <a:off x="6291072" y="987552"/>
            <a:ext cx="548640" cy="658368"/>
          </a:xfrm>
          <a:prstGeom prst="rect">
            <a:avLst/>
          </a:prstGeom>
          <a:solidFill>
            <a:srgbClr val="341A0A"/>
          </a:solidFill>
          <a:ln w="11430">
            <a:solidFill>
              <a:srgbClr val="2A8A40"/>
            </a:solidFill>
            <a:prstDash val="solid"/>
          </a:ln>
        </p:spPr>
      </p:sp>
      <p:sp>
        <p:nvSpPr>
          <p:cNvPr id="36" name="Text 34"/>
          <p:cNvSpPr/>
          <p:nvPr/>
        </p:nvSpPr>
        <p:spPr>
          <a:xfrm>
            <a:off x="6291072" y="987552"/>
            <a:ext cx="548640" cy="658368"/>
          </a:xfrm>
          <a:prstGeom prst="rect">
            <a:avLst/>
          </a:prstGeom>
          <a:noFill/>
          <a:ln/>
        </p:spPr>
        <p:txBody>
          <a:bodyPr wrap="square" lIns="0" tIns="0" rIns="0" bIns="0" rtlCol="0" anchor="ctr"/>
          <a:lstStyle/>
          <a:p>
            <a:pPr algn="ctr" indent="0" marL="0">
              <a:buNone/>
            </a:pPr>
            <a:r>
              <a:rPr lang="en-US" sz="850" b="1" dirty="0">
                <a:solidFill>
                  <a:srgbClr val="2A8A40"/>
                </a:solidFill>
                <a:latin typeface="Consolas" pitchFamily="34" charset="0"/>
                <a:ea typeface="Consolas" pitchFamily="34" charset="-122"/>
                <a:cs typeface="Consolas" pitchFamily="34" charset="-120"/>
              </a:rPr>
              <a:t>03</a:t>
            </a:r>
            <a:endParaRPr lang="en-US" sz="850" dirty="0"/>
          </a:p>
        </p:txBody>
      </p:sp>
      <p:sp>
        <p:nvSpPr>
          <p:cNvPr id="37" name="Text 35"/>
          <p:cNvSpPr/>
          <p:nvPr/>
        </p:nvSpPr>
        <p:spPr>
          <a:xfrm>
            <a:off x="6245352"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pid:TEMP</a:t>
            </a:r>
            <a:endParaRPr lang="en-US" sz="700" dirty="0"/>
          </a:p>
        </p:txBody>
      </p:sp>
      <p:sp>
        <p:nvSpPr>
          <p:cNvPr id="38" name="Shape 36"/>
          <p:cNvSpPr/>
          <p:nvPr/>
        </p:nvSpPr>
        <p:spPr>
          <a:xfrm>
            <a:off x="6876288" y="987552"/>
            <a:ext cx="548640" cy="658368"/>
          </a:xfrm>
          <a:prstGeom prst="rect">
            <a:avLst/>
          </a:prstGeom>
          <a:solidFill>
            <a:srgbClr val="341A0A"/>
          </a:solidFill>
          <a:ln w="11430">
            <a:solidFill>
              <a:srgbClr val="2A8A40"/>
            </a:solidFill>
            <a:prstDash val="solid"/>
          </a:ln>
        </p:spPr>
      </p:sp>
      <p:sp>
        <p:nvSpPr>
          <p:cNvPr id="39" name="Text 37"/>
          <p:cNvSpPr/>
          <p:nvPr/>
        </p:nvSpPr>
        <p:spPr>
          <a:xfrm>
            <a:off x="6876288" y="987552"/>
            <a:ext cx="548640" cy="658368"/>
          </a:xfrm>
          <a:prstGeom prst="rect">
            <a:avLst/>
          </a:prstGeom>
          <a:noFill/>
          <a:ln/>
        </p:spPr>
        <p:txBody>
          <a:bodyPr wrap="square" lIns="0" tIns="0" rIns="0" bIns="0" rtlCol="0" anchor="ctr"/>
          <a:lstStyle/>
          <a:p>
            <a:pPr algn="ctr" indent="0" marL="0">
              <a:buNone/>
            </a:pPr>
            <a:r>
              <a:rPr lang="en-US" sz="850" b="1" dirty="0">
                <a:solidFill>
                  <a:srgbClr val="2A8A40"/>
                </a:solidFill>
                <a:latin typeface="Consolas" pitchFamily="34" charset="0"/>
                <a:ea typeface="Consolas" pitchFamily="34" charset="-122"/>
                <a:cs typeface="Consolas" pitchFamily="34" charset="-120"/>
              </a:rPr>
              <a:t>01</a:t>
            </a:r>
            <a:endParaRPr lang="en-US" sz="850" dirty="0"/>
          </a:p>
        </p:txBody>
      </p:sp>
      <p:sp>
        <p:nvSpPr>
          <p:cNvPr id="40" name="Text 38"/>
          <p:cNvSpPr/>
          <p:nvPr/>
        </p:nvSpPr>
        <p:spPr>
          <a:xfrm>
            <a:off x="6830568" y="1709928"/>
            <a:ext cx="640080" cy="347472"/>
          </a:xfrm>
          <a:prstGeom prst="rect">
            <a:avLst/>
          </a:prstGeom>
          <a:noFill/>
          <a:ln/>
        </p:spPr>
        <p:txBody>
          <a:bodyPr wrap="square" lIns="0" tIns="0" rIns="0" bIns="0" rtlCol="0" anchor="ctr"/>
          <a:lstStyle/>
          <a:p>
            <a:pPr algn="ctr" indent="0" marL="0">
              <a:buNone/>
            </a:pPr>
            <a:r>
              <a:rPr lang="en-US" sz="700" dirty="0">
                <a:solidFill>
                  <a:srgbClr val="9A7050"/>
                </a:solidFill>
              </a:rPr>
              <a:t>Medium</a:t>
            </a:r>
            <a:endParaRPr lang="en-US" sz="700" dirty="0"/>
          </a:p>
        </p:txBody>
      </p:sp>
      <p:sp>
        <p:nvSpPr>
          <p:cNvPr id="41" name="Shape 39"/>
          <p:cNvSpPr/>
          <p:nvPr/>
        </p:nvSpPr>
        <p:spPr>
          <a:xfrm>
            <a:off x="7461504" y="987552"/>
            <a:ext cx="822960" cy="658368"/>
          </a:xfrm>
          <a:prstGeom prst="rect">
            <a:avLst/>
          </a:prstGeom>
          <a:solidFill>
            <a:srgbClr val="341A0A"/>
          </a:solidFill>
          <a:ln w="11430">
            <a:solidFill>
              <a:srgbClr val="9A7050"/>
            </a:solidFill>
            <a:prstDash val="solid"/>
          </a:ln>
        </p:spPr>
      </p:sp>
      <p:sp>
        <p:nvSpPr>
          <p:cNvPr id="42" name="Text 40"/>
          <p:cNvSpPr/>
          <p:nvPr/>
        </p:nvSpPr>
        <p:spPr>
          <a:xfrm>
            <a:off x="7461504" y="987552"/>
            <a:ext cx="822960" cy="658368"/>
          </a:xfrm>
          <a:prstGeom prst="rect">
            <a:avLst/>
          </a:prstGeom>
          <a:noFill/>
          <a:ln/>
        </p:spPr>
        <p:txBody>
          <a:bodyPr wrap="square" lIns="0" tIns="0" rIns="0" bIns="0" rtlCol="0" anchor="ctr"/>
          <a:lstStyle/>
          <a:p>
            <a:pPr algn="ctr" indent="0" marL="0">
              <a:buNone/>
            </a:pPr>
            <a:r>
              <a:rPr lang="en-US" sz="850" b="1" dirty="0">
                <a:solidFill>
                  <a:srgbClr val="9A7050"/>
                </a:solidFill>
                <a:latin typeface="Consolas" pitchFamily="34" charset="0"/>
                <a:ea typeface="Consolas" pitchFamily="34" charset="-122"/>
                <a:cs typeface="Consolas" pitchFamily="34" charset="-120"/>
              </a:rPr>
              <a:t>CRC_H CRC_L</a:t>
            </a:r>
            <a:endParaRPr lang="en-US" sz="850" dirty="0"/>
          </a:p>
        </p:txBody>
      </p:sp>
      <p:sp>
        <p:nvSpPr>
          <p:cNvPr id="43" name="Text 41"/>
          <p:cNvSpPr/>
          <p:nvPr/>
        </p:nvSpPr>
        <p:spPr>
          <a:xfrm>
            <a:off x="7415784" y="1709928"/>
            <a:ext cx="914400" cy="347472"/>
          </a:xfrm>
          <a:prstGeom prst="rect">
            <a:avLst/>
          </a:prstGeom>
          <a:noFill/>
          <a:ln/>
        </p:spPr>
        <p:txBody>
          <a:bodyPr wrap="square" lIns="0" tIns="0" rIns="0" bIns="0" rtlCol="0" anchor="ctr"/>
          <a:lstStyle/>
          <a:p>
            <a:pPr algn="ctr" indent="0" marL="0">
              <a:buNone/>
            </a:pPr>
            <a:r>
              <a:rPr lang="en-US" sz="700" dirty="0">
                <a:solidFill>
                  <a:srgbClr val="9A7050"/>
                </a:solidFill>
              </a:rPr>
              <a:t>CRC-16</a:t>
            </a:r>
            <a:endParaRPr lang="en-US" sz="700" dirty="0"/>
          </a:p>
        </p:txBody>
      </p:sp>
      <p:sp>
        <p:nvSpPr>
          <p:cNvPr id="44" name="Shape 42"/>
          <p:cNvSpPr/>
          <p:nvPr/>
        </p:nvSpPr>
        <p:spPr>
          <a:xfrm>
            <a:off x="475488" y="2240280"/>
            <a:ext cx="8412480" cy="530352"/>
          </a:xfrm>
          <a:prstGeom prst="rect">
            <a:avLst/>
          </a:prstGeom>
          <a:solidFill>
            <a:srgbClr val="281508"/>
          </a:solidFill>
          <a:ln w="6350">
            <a:solidFill>
              <a:srgbClr val="D49A14"/>
            </a:solidFill>
            <a:prstDash val="solid"/>
          </a:ln>
        </p:spPr>
      </p:sp>
      <p:sp>
        <p:nvSpPr>
          <p:cNvPr id="45" name="Text 43"/>
          <p:cNvSpPr/>
          <p:nvPr/>
        </p:nvSpPr>
        <p:spPr>
          <a:xfrm>
            <a:off x="594360" y="2240280"/>
            <a:ext cx="8229600" cy="530352"/>
          </a:xfrm>
          <a:prstGeom prst="rect">
            <a:avLst/>
          </a:prstGeom>
          <a:noFill/>
          <a:ln/>
        </p:spPr>
        <p:txBody>
          <a:bodyPr wrap="square" lIns="50800" tIns="50800" rIns="50800" bIns="50800" rtlCol="0" anchor="ctr"/>
          <a:lstStyle/>
          <a:p>
            <a:pPr algn="l" indent="0" marL="0">
              <a:buNone/>
            </a:pPr>
            <a:r>
              <a:rPr lang="en-US" sz="1000" dirty="0">
                <a:solidFill>
                  <a:srgbClr val="F5B828"/>
                </a:solidFill>
                <a:latin typeface="Consolas" pitchFamily="34" charset="0"/>
                <a:ea typeface="Consolas" pitchFamily="34" charset="-122"/>
                <a:cs typeface="Consolas" pitchFamily="34" charset="-120"/>
              </a:rPr>
              <a:t>CRC-16 / SPI-FUJITSU  -  Polynome : 0x1021  Init : 0x1D0F  Calcule sur tous les octets SAUF les 2 derniers</a:t>
            </a:r>
            <a:endParaRPr lang="en-US" sz="1000" dirty="0"/>
          </a:p>
        </p:txBody>
      </p:sp>
      <p:sp>
        <p:nvSpPr>
          <p:cNvPr id="46" name="Text 44"/>
          <p:cNvSpPr/>
          <p:nvPr/>
        </p:nvSpPr>
        <p:spPr>
          <a:xfrm>
            <a:off x="475488" y="2926080"/>
            <a:ext cx="2286000" cy="274320"/>
          </a:xfrm>
          <a:prstGeom prst="rect">
            <a:avLst/>
          </a:prstGeom>
          <a:noFill/>
          <a:ln/>
        </p:spPr>
        <p:txBody>
          <a:bodyPr wrap="square" lIns="0" tIns="0" rIns="0" bIns="0" rtlCol="0" anchor="ctr"/>
          <a:lstStyle/>
          <a:p>
            <a:pPr indent="0" marL="0">
              <a:buNone/>
            </a:pPr>
            <a:r>
              <a:rPr lang="en-US" sz="950" b="1" dirty="0">
                <a:solidFill>
                  <a:srgbClr val="9A7050"/>
                </a:solidFill>
              </a:rPr>
              <a:t>Commandes ECAM connues :</a:t>
            </a:r>
            <a:endParaRPr lang="en-US" sz="950" dirty="0"/>
          </a:p>
        </p:txBody>
      </p:sp>
      <p:sp>
        <p:nvSpPr>
          <p:cNvPr id="47" name="Shape 45"/>
          <p:cNvSpPr/>
          <p:nvPr/>
        </p:nvSpPr>
        <p:spPr>
          <a:xfrm>
            <a:off x="2834640" y="2852928"/>
            <a:ext cx="722376" cy="384048"/>
          </a:xfrm>
          <a:prstGeom prst="rect">
            <a:avLst/>
          </a:prstGeom>
          <a:solidFill>
            <a:srgbClr val="341A0A"/>
          </a:solidFill>
          <a:ln w="5080">
            <a:solidFill>
              <a:srgbClr val="178A52"/>
            </a:solidFill>
            <a:prstDash val="solid"/>
          </a:ln>
        </p:spPr>
      </p:sp>
      <p:sp>
        <p:nvSpPr>
          <p:cNvPr id="48" name="Text 46"/>
          <p:cNvSpPr/>
          <p:nvPr/>
        </p:nvSpPr>
        <p:spPr>
          <a:xfrm>
            <a:off x="2834640"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0x75</a:t>
            </a:r>
            <a:endParaRPr lang="en-US" sz="750" dirty="0"/>
          </a:p>
          <a:p>
            <a:pPr algn="ctr" indent="0" marL="0">
              <a:buNone/>
            </a:pPr>
            <a:r>
              <a:rPr lang="en-US" sz="700" dirty="0">
                <a:solidFill>
                  <a:srgbClr val="9A7050"/>
                </a:solidFill>
              </a:rPr>
              <a:t>POWER_ON</a:t>
            </a:r>
            <a:endParaRPr lang="en-US" sz="750" dirty="0"/>
          </a:p>
        </p:txBody>
      </p:sp>
      <p:sp>
        <p:nvSpPr>
          <p:cNvPr id="49" name="Shape 47"/>
          <p:cNvSpPr/>
          <p:nvPr/>
        </p:nvSpPr>
        <p:spPr>
          <a:xfrm>
            <a:off x="3621024" y="2852928"/>
            <a:ext cx="722376" cy="384048"/>
          </a:xfrm>
          <a:prstGeom prst="rect">
            <a:avLst/>
          </a:prstGeom>
          <a:solidFill>
            <a:srgbClr val="341A0A"/>
          </a:solidFill>
          <a:ln w="5080">
            <a:solidFill>
              <a:srgbClr val="178A52"/>
            </a:solidFill>
            <a:prstDash val="solid"/>
          </a:ln>
        </p:spPr>
      </p:sp>
      <p:sp>
        <p:nvSpPr>
          <p:cNvPr id="50" name="Text 48"/>
          <p:cNvSpPr/>
          <p:nvPr/>
        </p:nvSpPr>
        <p:spPr>
          <a:xfrm>
            <a:off x="3621024"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0x80</a:t>
            </a:r>
            <a:endParaRPr lang="en-US" sz="750" dirty="0"/>
          </a:p>
          <a:p>
            <a:pPr algn="ctr" indent="0" marL="0">
              <a:buNone/>
            </a:pPr>
            <a:r>
              <a:rPr lang="en-US" sz="700" dirty="0">
                <a:solidFill>
                  <a:srgbClr val="9A7050"/>
                </a:solidFill>
              </a:rPr>
              <a:t>POWER_OFF</a:t>
            </a:r>
            <a:endParaRPr lang="en-US" sz="750" dirty="0"/>
          </a:p>
        </p:txBody>
      </p:sp>
      <p:sp>
        <p:nvSpPr>
          <p:cNvPr id="51" name="Shape 49"/>
          <p:cNvSpPr/>
          <p:nvPr/>
        </p:nvSpPr>
        <p:spPr>
          <a:xfrm>
            <a:off x="4407408" y="2852928"/>
            <a:ext cx="722376" cy="384048"/>
          </a:xfrm>
          <a:prstGeom prst="rect">
            <a:avLst/>
          </a:prstGeom>
          <a:solidFill>
            <a:srgbClr val="341A0A"/>
          </a:solidFill>
          <a:ln w="5080">
            <a:solidFill>
              <a:srgbClr val="178A52"/>
            </a:solidFill>
            <a:prstDash val="solid"/>
          </a:ln>
        </p:spPr>
      </p:sp>
      <p:sp>
        <p:nvSpPr>
          <p:cNvPr id="52" name="Text 50"/>
          <p:cNvSpPr/>
          <p:nvPr/>
        </p:nvSpPr>
        <p:spPr>
          <a:xfrm>
            <a:off x="4407408"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0x83</a:t>
            </a:r>
            <a:endParaRPr lang="en-US" sz="750" dirty="0"/>
          </a:p>
          <a:p>
            <a:pPr algn="ctr" indent="0" marL="0">
              <a:buNone/>
            </a:pPr>
            <a:r>
              <a:rPr lang="en-US" sz="700" dirty="0">
                <a:solidFill>
                  <a:srgbClr val="9A7050"/>
                </a:solidFill>
              </a:rPr>
              <a:t>BREW</a:t>
            </a:r>
            <a:endParaRPr lang="en-US" sz="750" dirty="0"/>
          </a:p>
        </p:txBody>
      </p:sp>
      <p:sp>
        <p:nvSpPr>
          <p:cNvPr id="53" name="Shape 51"/>
          <p:cNvSpPr/>
          <p:nvPr/>
        </p:nvSpPr>
        <p:spPr>
          <a:xfrm>
            <a:off x="5193792" y="2852928"/>
            <a:ext cx="722376" cy="384048"/>
          </a:xfrm>
          <a:prstGeom prst="rect">
            <a:avLst/>
          </a:prstGeom>
          <a:solidFill>
            <a:srgbClr val="341A0A"/>
          </a:solidFill>
          <a:ln w="5080">
            <a:solidFill>
              <a:srgbClr val="178A52"/>
            </a:solidFill>
            <a:prstDash val="solid"/>
          </a:ln>
        </p:spPr>
      </p:sp>
      <p:sp>
        <p:nvSpPr>
          <p:cNvPr id="54" name="Text 52"/>
          <p:cNvSpPr/>
          <p:nvPr/>
        </p:nvSpPr>
        <p:spPr>
          <a:xfrm>
            <a:off x="5193792"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0x84</a:t>
            </a:r>
            <a:endParaRPr lang="en-US" sz="750" dirty="0"/>
          </a:p>
          <a:p>
            <a:pPr algn="ctr" indent="0" marL="0">
              <a:buNone/>
            </a:pPr>
            <a:r>
              <a:rPr lang="en-US" sz="700" dirty="0">
                <a:solidFill>
                  <a:srgbClr val="9A7050"/>
                </a:solidFill>
              </a:rPr>
              <a:t>CANCEL</a:t>
            </a:r>
            <a:endParaRPr lang="en-US" sz="750" dirty="0"/>
          </a:p>
        </p:txBody>
      </p:sp>
      <p:sp>
        <p:nvSpPr>
          <p:cNvPr id="55" name="Shape 53"/>
          <p:cNvSpPr/>
          <p:nvPr/>
        </p:nvSpPr>
        <p:spPr>
          <a:xfrm>
            <a:off x="5980176" y="2852928"/>
            <a:ext cx="722376" cy="384048"/>
          </a:xfrm>
          <a:prstGeom prst="rect">
            <a:avLst/>
          </a:prstGeom>
          <a:solidFill>
            <a:srgbClr val="341A0A"/>
          </a:solidFill>
          <a:ln w="5080">
            <a:solidFill>
              <a:srgbClr val="178A52"/>
            </a:solidFill>
            <a:prstDash val="solid"/>
          </a:ln>
        </p:spPr>
      </p:sp>
      <p:sp>
        <p:nvSpPr>
          <p:cNvPr id="56" name="Text 54"/>
          <p:cNvSpPr/>
          <p:nvPr/>
        </p:nvSpPr>
        <p:spPr>
          <a:xfrm>
            <a:off x="5980176"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0x8F</a:t>
            </a:r>
            <a:endParaRPr lang="en-US" sz="750" dirty="0"/>
          </a:p>
          <a:p>
            <a:pPr algn="ctr" indent="0" marL="0">
              <a:buNone/>
            </a:pPr>
            <a:r>
              <a:rPr lang="en-US" sz="700" dirty="0">
                <a:solidFill>
                  <a:srgbClr val="9A7050"/>
                </a:solidFill>
              </a:rPr>
              <a:t>PING</a:t>
            </a:r>
            <a:endParaRPr lang="en-US" sz="750" dirty="0"/>
          </a:p>
        </p:txBody>
      </p:sp>
      <p:sp>
        <p:nvSpPr>
          <p:cNvPr id="57" name="Shape 55"/>
          <p:cNvSpPr/>
          <p:nvPr/>
        </p:nvSpPr>
        <p:spPr>
          <a:xfrm>
            <a:off x="6766560" y="2852928"/>
            <a:ext cx="722376" cy="384048"/>
          </a:xfrm>
          <a:prstGeom prst="rect">
            <a:avLst/>
          </a:prstGeom>
          <a:solidFill>
            <a:srgbClr val="341A0A"/>
          </a:solidFill>
          <a:ln w="5080">
            <a:solidFill>
              <a:srgbClr val="178A52"/>
            </a:solidFill>
            <a:prstDash val="solid"/>
          </a:ln>
        </p:spPr>
      </p:sp>
      <p:sp>
        <p:nvSpPr>
          <p:cNvPr id="58" name="Text 56"/>
          <p:cNvSpPr/>
          <p:nvPr/>
        </p:nvSpPr>
        <p:spPr>
          <a:xfrm>
            <a:off x="6766560"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0x95</a:t>
            </a:r>
            <a:endParaRPr lang="en-US" sz="750" dirty="0"/>
          </a:p>
          <a:p>
            <a:pPr algn="ctr" indent="0" marL="0">
              <a:buNone/>
            </a:pPr>
            <a:r>
              <a:rPr lang="en-US" sz="700" dirty="0">
                <a:solidFill>
                  <a:srgbClr val="9A7050"/>
                </a:solidFill>
              </a:rPr>
              <a:t>SETTINGS</a:t>
            </a:r>
            <a:endParaRPr lang="en-US" sz="750" dirty="0"/>
          </a:p>
        </p:txBody>
      </p:sp>
      <p:sp>
        <p:nvSpPr>
          <p:cNvPr id="59" name="Shape 57"/>
          <p:cNvSpPr/>
          <p:nvPr/>
        </p:nvSpPr>
        <p:spPr>
          <a:xfrm>
            <a:off x="7552944" y="2852928"/>
            <a:ext cx="722376" cy="384048"/>
          </a:xfrm>
          <a:prstGeom prst="rect">
            <a:avLst/>
          </a:prstGeom>
          <a:solidFill>
            <a:srgbClr val="341A0A"/>
          </a:solidFill>
          <a:ln w="5080">
            <a:solidFill>
              <a:srgbClr val="178A52"/>
            </a:solidFill>
            <a:prstDash val="solid"/>
          </a:ln>
        </p:spPr>
      </p:sp>
      <p:sp>
        <p:nvSpPr>
          <p:cNvPr id="60" name="Text 58"/>
          <p:cNvSpPr/>
          <p:nvPr/>
        </p:nvSpPr>
        <p:spPr>
          <a:xfrm>
            <a:off x="7552944"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0xA1</a:t>
            </a:r>
            <a:endParaRPr lang="en-US" sz="750" dirty="0"/>
          </a:p>
          <a:p>
            <a:pPr algn="ctr" indent="0" marL="0">
              <a:buNone/>
            </a:pPr>
            <a:r>
              <a:rPr lang="en-US" sz="700" dirty="0">
                <a:solidFill>
                  <a:srgbClr val="9A7050"/>
                </a:solidFill>
              </a:rPr>
              <a:t>PROFILE</a:t>
            </a:r>
            <a:endParaRPr lang="en-US" sz="750" dirty="0"/>
          </a:p>
        </p:txBody>
      </p:sp>
      <p:sp>
        <p:nvSpPr>
          <p:cNvPr id="61" name="Shape 59"/>
          <p:cNvSpPr/>
          <p:nvPr/>
        </p:nvSpPr>
        <p:spPr>
          <a:xfrm>
            <a:off x="8339328" y="2852928"/>
            <a:ext cx="722376" cy="384048"/>
          </a:xfrm>
          <a:prstGeom prst="rect">
            <a:avLst/>
          </a:prstGeom>
          <a:solidFill>
            <a:srgbClr val="341A0A"/>
          </a:solidFill>
          <a:ln w="5080">
            <a:solidFill>
              <a:srgbClr val="178A52"/>
            </a:solidFill>
            <a:prstDash val="solid"/>
          </a:ln>
        </p:spPr>
      </p:sp>
      <p:sp>
        <p:nvSpPr>
          <p:cNvPr id="62" name="Text 60"/>
          <p:cNvSpPr/>
          <p:nvPr/>
        </p:nvSpPr>
        <p:spPr>
          <a:xfrm>
            <a:off x="8339328"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0xA4</a:t>
            </a:r>
            <a:endParaRPr lang="en-US" sz="750" dirty="0"/>
          </a:p>
          <a:p>
            <a:pPr algn="ctr" indent="0" marL="0">
              <a:buNone/>
            </a:pPr>
            <a:r>
              <a:rPr lang="en-US" sz="700" dirty="0">
                <a:solidFill>
                  <a:srgbClr val="9A7050"/>
                </a:solidFill>
              </a:rPr>
              <a:t>RENAME</a:t>
            </a:r>
            <a:endParaRPr lang="en-US" sz="750" dirty="0"/>
          </a:p>
        </p:txBody>
      </p:sp>
      <p:sp>
        <p:nvSpPr>
          <p:cNvPr id="63" name="Shape 61"/>
          <p:cNvSpPr/>
          <p:nvPr/>
        </p:nvSpPr>
        <p:spPr>
          <a:xfrm>
            <a:off x="9125712" y="2852928"/>
            <a:ext cx="722376" cy="384048"/>
          </a:xfrm>
          <a:prstGeom prst="rect">
            <a:avLst/>
          </a:prstGeom>
          <a:solidFill>
            <a:srgbClr val="341A0A"/>
          </a:solidFill>
          <a:ln w="5080">
            <a:solidFill>
              <a:srgbClr val="178A52"/>
            </a:solidFill>
            <a:prstDash val="solid"/>
          </a:ln>
        </p:spPr>
      </p:sp>
      <p:sp>
        <p:nvSpPr>
          <p:cNvPr id="64" name="Text 62"/>
          <p:cNvSpPr/>
          <p:nvPr/>
        </p:nvSpPr>
        <p:spPr>
          <a:xfrm>
            <a:off x="9125712" y="2852928"/>
            <a:ext cx="722376" cy="384048"/>
          </a:xfrm>
          <a:prstGeom prst="rect">
            <a:avLst/>
          </a:prstGeom>
          <a:noFill/>
          <a:ln/>
        </p:spPr>
        <p:txBody>
          <a:bodyPr wrap="square" lIns="25400" tIns="25400" rIns="25400" bIns="25400" rtlCol="0" anchor="ctr"/>
          <a:lstStyle/>
          <a:p>
            <a:pPr algn="ctr" indent="0" marL="0">
              <a:buNone/>
            </a:pPr>
            <a:r>
              <a:rPr lang="en-US" sz="750" b="1" dirty="0">
                <a:solidFill>
                  <a:srgbClr val="178A52"/>
                </a:solidFill>
              </a:rPr>
              <a:t>0xA6</a:t>
            </a:r>
            <a:endParaRPr lang="en-US" sz="750" dirty="0"/>
          </a:p>
          <a:p>
            <a:pPr algn="ctr" indent="0" marL="0">
              <a:buNone/>
            </a:pPr>
            <a:r>
              <a:rPr lang="en-US" sz="700" dirty="0">
                <a:solidFill>
                  <a:srgbClr val="9A7050"/>
                </a:solidFill>
              </a:rPr>
              <a:t>RECIPE</a:t>
            </a:r>
            <a:endParaRPr lang="en-US" sz="750" dirty="0"/>
          </a:p>
        </p:txBody>
      </p:sp>
      <p:sp>
        <p:nvSpPr>
          <p:cNvPr id="65" name="Shape 63"/>
          <p:cNvSpPr/>
          <p:nvPr/>
        </p:nvSpPr>
        <p:spPr>
          <a:xfrm>
            <a:off x="475488" y="3401568"/>
            <a:ext cx="8412480" cy="384048"/>
          </a:xfrm>
          <a:prstGeom prst="rect">
            <a:avLst/>
          </a:prstGeom>
          <a:solidFill>
            <a:srgbClr val="281508"/>
          </a:solidFill>
          <a:ln w="5080">
            <a:solidFill>
              <a:srgbClr val="4A2A14"/>
            </a:solidFill>
            <a:prstDash val="solid"/>
          </a:ln>
        </p:spPr>
      </p:sp>
      <p:sp>
        <p:nvSpPr>
          <p:cNvPr id="66" name="Text 64"/>
          <p:cNvSpPr/>
          <p:nvPr/>
        </p:nvSpPr>
        <p:spPr>
          <a:xfrm>
            <a:off x="594360" y="3401568"/>
            <a:ext cx="8229600" cy="384048"/>
          </a:xfrm>
          <a:prstGeom prst="rect">
            <a:avLst/>
          </a:prstGeom>
          <a:noFill/>
          <a:ln/>
        </p:spPr>
        <p:txBody>
          <a:bodyPr wrap="square" lIns="0" tIns="0" rIns="0" bIns="0" rtlCol="0" anchor="ctr"/>
          <a:lstStyle/>
          <a:p>
            <a:pPr algn="l" indent="0" marL="0">
              <a:buNone/>
            </a:pPr>
            <a:r>
              <a:rPr lang="en-US" sz="900" dirty="0">
                <a:solidFill>
                  <a:srgbClr val="9A7050"/>
                </a:solidFill>
              </a:rPr>
              <a:t>Format donnees : TLV (Tag-Length-Value) - big params COFFEE/MILK/HOT_WATER sur 2 octets (16-bit), autres sur 1 octet</a:t>
            </a:r>
            <a:endParaRPr lang="en-US" sz="900" dirty="0"/>
          </a:p>
        </p:txBody>
      </p:sp>
      <p:sp>
        <p:nvSpPr>
          <p:cNvPr id="67" name="Text 65"/>
          <p:cNvSpPr/>
          <p:nvPr/>
        </p:nvSpPr>
        <p:spPr>
          <a:xfrm>
            <a:off x="475488" y="3913632"/>
            <a:ext cx="8412480" cy="320040"/>
          </a:xfrm>
          <a:prstGeom prst="rect">
            <a:avLst/>
          </a:prstGeom>
          <a:noFill/>
          <a:ln/>
        </p:spPr>
        <p:txBody>
          <a:bodyPr wrap="square" lIns="0" tIns="0" rIns="0" bIns="0" rtlCol="0" anchor="ctr"/>
          <a:lstStyle/>
          <a:p>
            <a:pPr algn="l" indent="0" marL="0">
              <a:buNone/>
            </a:pPr>
            <a:r>
              <a:rPr lang="en-US" sz="900" i="1" dirty="0">
                <a:solidFill>
                  <a:srgbClr val="9A7050"/>
                </a:solidFill>
              </a:rPr>
              <a:t>Transport : paquets ECAM encodes Base64 -&gt; valeurs de proprietes Ayla (app_data_request / data_request)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Architecture : transport IoT - Ayla Networks</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ARCHITECTURE</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9 / 16</a:t>
            </a:r>
            <a:endParaRPr lang="en-US" sz="750" dirty="0"/>
          </a:p>
        </p:txBody>
      </p:sp>
      <p:sp>
        <p:nvSpPr>
          <p:cNvPr id="8" name="Shape 6"/>
          <p:cNvSpPr/>
          <p:nvPr/>
        </p:nvSpPr>
        <p:spPr>
          <a:xfrm>
            <a:off x="457200" y="960120"/>
            <a:ext cx="2377440" cy="3794760"/>
          </a:xfrm>
          <a:prstGeom prst="rect">
            <a:avLst/>
          </a:prstGeom>
          <a:solidFill>
            <a:srgbClr val="341A0A"/>
          </a:solidFill>
          <a:ln w="12700">
            <a:solidFill>
              <a:srgbClr val="1A72B8"/>
            </a:solidFill>
            <a:prstDash val="solid"/>
          </a:ln>
        </p:spPr>
      </p:sp>
      <p:sp>
        <p:nvSpPr>
          <p:cNvPr id="9" name="Shape 7"/>
          <p:cNvSpPr/>
          <p:nvPr/>
        </p:nvSpPr>
        <p:spPr>
          <a:xfrm>
            <a:off x="457200" y="960120"/>
            <a:ext cx="2377440" cy="73152"/>
          </a:xfrm>
          <a:prstGeom prst="rect">
            <a:avLst/>
          </a:prstGeom>
          <a:solidFill>
            <a:srgbClr val="1A72B8"/>
          </a:solidFill>
          <a:ln w="12700">
            <a:solidFill>
              <a:srgbClr val="1A72B8"/>
            </a:solidFill>
            <a:prstDash val="solid"/>
          </a:ln>
        </p:spPr>
      </p:sp>
      <p:sp>
        <p:nvSpPr>
          <p:cNvPr id="10" name="Text 8"/>
          <p:cNvSpPr/>
          <p:nvPr/>
        </p:nvSpPr>
        <p:spPr>
          <a:xfrm>
            <a:off x="457200" y="1069848"/>
            <a:ext cx="2377440" cy="713232"/>
          </a:xfrm>
          <a:prstGeom prst="rect">
            <a:avLst/>
          </a:prstGeom>
          <a:noFill/>
          <a:ln/>
        </p:spPr>
        <p:txBody>
          <a:bodyPr wrap="square" lIns="0" tIns="0" rIns="0" bIns="0" rtlCol="0" anchor="ctr"/>
          <a:lstStyle/>
          <a:p>
            <a:pPr algn="ctr" indent="0" marL="0">
              <a:buNone/>
            </a:pPr>
            <a:r>
              <a:rPr lang="en-US" sz="1200" b="1" dirty="0">
                <a:solidFill>
                  <a:srgbClr val="FBF0DD"/>
                </a:solidFill>
              </a:rPr>
              <a:t>McpDelonghi</a:t>
            </a:r>
            <a:endParaRPr lang="en-US" sz="1200" dirty="0"/>
          </a:p>
          <a:p>
            <a:pPr algn="ctr" indent="0" marL="0">
              <a:buNone/>
            </a:pPr>
            <a:r>
              <a:rPr lang="en-US" sz="1200" b="1" dirty="0">
                <a:solidFill>
                  <a:srgbClr val="FBF0DD"/>
                </a:solidFill>
              </a:rPr>
              <a:t>.NET 10</a:t>
            </a:r>
            <a:endParaRPr lang="en-US" sz="1200" dirty="0"/>
          </a:p>
        </p:txBody>
      </p:sp>
      <p:sp>
        <p:nvSpPr>
          <p:cNvPr id="11" name="Shape 9"/>
          <p:cNvSpPr/>
          <p:nvPr/>
        </p:nvSpPr>
        <p:spPr>
          <a:xfrm>
            <a:off x="585216" y="1828800"/>
            <a:ext cx="2121408" cy="530352"/>
          </a:xfrm>
          <a:prstGeom prst="rect">
            <a:avLst/>
          </a:prstGeom>
          <a:solidFill>
            <a:srgbClr val="281508"/>
          </a:solidFill>
          <a:ln w="4445">
            <a:solidFill>
              <a:srgbClr val="1A72B8"/>
            </a:solidFill>
            <a:prstDash val="solid"/>
          </a:ln>
        </p:spPr>
      </p:sp>
      <p:sp>
        <p:nvSpPr>
          <p:cNvPr id="12" name="Text 10"/>
          <p:cNvSpPr/>
          <p:nvPr/>
        </p:nvSpPr>
        <p:spPr>
          <a:xfrm>
            <a:off x="585216" y="1828800"/>
            <a:ext cx="21214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AylaApiClient</a:t>
            </a:r>
            <a:endParaRPr lang="en-US" sz="900" dirty="0"/>
          </a:p>
        </p:txBody>
      </p:sp>
      <p:sp>
        <p:nvSpPr>
          <p:cNvPr id="13" name="Shape 11"/>
          <p:cNvSpPr/>
          <p:nvPr/>
        </p:nvSpPr>
        <p:spPr>
          <a:xfrm>
            <a:off x="585216" y="2414016"/>
            <a:ext cx="2121408" cy="530352"/>
          </a:xfrm>
          <a:prstGeom prst="rect">
            <a:avLst/>
          </a:prstGeom>
          <a:solidFill>
            <a:srgbClr val="281508"/>
          </a:solidFill>
          <a:ln w="4445">
            <a:solidFill>
              <a:srgbClr val="1A72B8"/>
            </a:solidFill>
            <a:prstDash val="solid"/>
          </a:ln>
        </p:spPr>
      </p:sp>
      <p:sp>
        <p:nvSpPr>
          <p:cNvPr id="14" name="Text 12"/>
          <p:cNvSpPr/>
          <p:nvPr/>
        </p:nvSpPr>
        <p:spPr>
          <a:xfrm>
            <a:off x="585216" y="2414016"/>
            <a:ext cx="21214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DelonghiAuthService</a:t>
            </a:r>
            <a:endParaRPr lang="en-US" sz="900" dirty="0"/>
          </a:p>
        </p:txBody>
      </p:sp>
      <p:sp>
        <p:nvSpPr>
          <p:cNvPr id="15" name="Shape 13"/>
          <p:cNvSpPr/>
          <p:nvPr/>
        </p:nvSpPr>
        <p:spPr>
          <a:xfrm>
            <a:off x="585216" y="2999232"/>
            <a:ext cx="2121408" cy="530352"/>
          </a:xfrm>
          <a:prstGeom prst="rect">
            <a:avLst/>
          </a:prstGeom>
          <a:solidFill>
            <a:srgbClr val="281508"/>
          </a:solidFill>
          <a:ln w="4445">
            <a:solidFill>
              <a:srgbClr val="1A72B8"/>
            </a:solidFill>
            <a:prstDash val="solid"/>
          </a:ln>
        </p:spPr>
      </p:sp>
      <p:sp>
        <p:nvSpPr>
          <p:cNvPr id="16" name="Text 14"/>
          <p:cNvSpPr/>
          <p:nvPr/>
        </p:nvSpPr>
        <p:spPr>
          <a:xfrm>
            <a:off x="585216" y="2999232"/>
            <a:ext cx="21214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EcamPacket</a:t>
            </a:r>
            <a:endParaRPr lang="en-US" sz="900" dirty="0"/>
          </a:p>
        </p:txBody>
      </p:sp>
      <p:sp>
        <p:nvSpPr>
          <p:cNvPr id="17" name="Shape 15"/>
          <p:cNvSpPr/>
          <p:nvPr/>
        </p:nvSpPr>
        <p:spPr>
          <a:xfrm>
            <a:off x="585216" y="3584448"/>
            <a:ext cx="2121408" cy="530352"/>
          </a:xfrm>
          <a:prstGeom prst="rect">
            <a:avLst/>
          </a:prstGeom>
          <a:solidFill>
            <a:srgbClr val="281508"/>
          </a:solidFill>
          <a:ln w="4445">
            <a:solidFill>
              <a:srgbClr val="1A72B8"/>
            </a:solidFill>
            <a:prstDash val="solid"/>
          </a:ln>
        </p:spPr>
      </p:sp>
      <p:sp>
        <p:nvSpPr>
          <p:cNvPr id="18" name="Text 16"/>
          <p:cNvSpPr/>
          <p:nvPr/>
        </p:nvSpPr>
        <p:spPr>
          <a:xfrm>
            <a:off x="585216" y="3584448"/>
            <a:ext cx="21214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Crc16</a:t>
            </a:r>
            <a:endParaRPr lang="en-US" sz="900" dirty="0"/>
          </a:p>
        </p:txBody>
      </p:sp>
      <p:sp>
        <p:nvSpPr>
          <p:cNvPr id="19" name="Shape 17"/>
          <p:cNvSpPr/>
          <p:nvPr/>
        </p:nvSpPr>
        <p:spPr>
          <a:xfrm>
            <a:off x="3337560" y="960120"/>
            <a:ext cx="2606040" cy="3794760"/>
          </a:xfrm>
          <a:prstGeom prst="rect">
            <a:avLst/>
          </a:prstGeom>
          <a:solidFill>
            <a:srgbClr val="341A0A"/>
          </a:solidFill>
          <a:ln w="12700">
            <a:solidFill>
              <a:srgbClr val="7B3A7A"/>
            </a:solidFill>
            <a:prstDash val="solid"/>
          </a:ln>
        </p:spPr>
      </p:sp>
      <p:sp>
        <p:nvSpPr>
          <p:cNvPr id="20" name="Shape 18"/>
          <p:cNvSpPr/>
          <p:nvPr/>
        </p:nvSpPr>
        <p:spPr>
          <a:xfrm>
            <a:off x="3337560" y="960120"/>
            <a:ext cx="2606040" cy="73152"/>
          </a:xfrm>
          <a:prstGeom prst="rect">
            <a:avLst/>
          </a:prstGeom>
          <a:solidFill>
            <a:srgbClr val="7B3A7A"/>
          </a:solidFill>
          <a:ln w="12700">
            <a:solidFill>
              <a:srgbClr val="7B3A7A"/>
            </a:solidFill>
            <a:prstDash val="solid"/>
          </a:ln>
        </p:spPr>
      </p:sp>
      <p:sp>
        <p:nvSpPr>
          <p:cNvPr id="21" name="Text 19"/>
          <p:cNvSpPr/>
          <p:nvPr/>
        </p:nvSpPr>
        <p:spPr>
          <a:xfrm>
            <a:off x="3337560" y="1069848"/>
            <a:ext cx="2606040" cy="713232"/>
          </a:xfrm>
          <a:prstGeom prst="rect">
            <a:avLst/>
          </a:prstGeom>
          <a:noFill/>
          <a:ln/>
        </p:spPr>
        <p:txBody>
          <a:bodyPr wrap="square" lIns="0" tIns="0" rIns="0" bIns="0" rtlCol="0" anchor="ctr"/>
          <a:lstStyle/>
          <a:p>
            <a:pPr algn="ctr" indent="0" marL="0">
              <a:buNone/>
            </a:pPr>
            <a:r>
              <a:rPr lang="en-US" sz="1200" b="1" dirty="0">
                <a:solidFill>
                  <a:srgbClr val="FBF0DD"/>
                </a:solidFill>
              </a:rPr>
              <a:t>Ayla Networks</a:t>
            </a:r>
            <a:endParaRPr lang="en-US" sz="1200" dirty="0"/>
          </a:p>
          <a:p>
            <a:pPr algn="ctr" indent="0" marL="0">
              <a:buNone/>
            </a:pPr>
            <a:r>
              <a:rPr lang="en-US" sz="1200" b="1" dirty="0">
                <a:solidFill>
                  <a:srgbClr val="FBF0DD"/>
                </a:solidFill>
              </a:rPr>
              <a:t>IoT Cloud (EU)</a:t>
            </a:r>
            <a:endParaRPr lang="en-US" sz="1200" dirty="0"/>
          </a:p>
        </p:txBody>
      </p:sp>
      <p:sp>
        <p:nvSpPr>
          <p:cNvPr id="22" name="Shape 20"/>
          <p:cNvSpPr/>
          <p:nvPr/>
        </p:nvSpPr>
        <p:spPr>
          <a:xfrm>
            <a:off x="3465576" y="1828800"/>
            <a:ext cx="2350008" cy="530352"/>
          </a:xfrm>
          <a:prstGeom prst="rect">
            <a:avLst/>
          </a:prstGeom>
          <a:solidFill>
            <a:srgbClr val="281508"/>
          </a:solidFill>
          <a:ln w="4445">
            <a:solidFill>
              <a:srgbClr val="7B3A7A"/>
            </a:solidFill>
            <a:prstDash val="solid"/>
          </a:ln>
        </p:spPr>
      </p:sp>
      <p:sp>
        <p:nvSpPr>
          <p:cNvPr id="23" name="Text 21"/>
          <p:cNvSpPr/>
          <p:nvPr/>
        </p:nvSpPr>
        <p:spPr>
          <a:xfrm>
            <a:off x="3465576" y="1828800"/>
            <a:ext cx="23500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user-field-eu (auth)</a:t>
            </a:r>
            <a:endParaRPr lang="en-US" sz="900" dirty="0"/>
          </a:p>
        </p:txBody>
      </p:sp>
      <p:sp>
        <p:nvSpPr>
          <p:cNvPr id="24" name="Shape 22"/>
          <p:cNvSpPr/>
          <p:nvPr/>
        </p:nvSpPr>
        <p:spPr>
          <a:xfrm>
            <a:off x="3465576" y="2414016"/>
            <a:ext cx="2350008" cy="530352"/>
          </a:xfrm>
          <a:prstGeom prst="rect">
            <a:avLst/>
          </a:prstGeom>
          <a:solidFill>
            <a:srgbClr val="281508"/>
          </a:solidFill>
          <a:ln w="4445">
            <a:solidFill>
              <a:srgbClr val="7B3A7A"/>
            </a:solidFill>
            <a:prstDash val="solid"/>
          </a:ln>
        </p:spPr>
      </p:sp>
      <p:sp>
        <p:nvSpPr>
          <p:cNvPr id="25" name="Text 23"/>
          <p:cNvSpPr/>
          <p:nvPr/>
        </p:nvSpPr>
        <p:spPr>
          <a:xfrm>
            <a:off x="3465576" y="2414016"/>
            <a:ext cx="23500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ads-eu (device)</a:t>
            </a:r>
            <a:endParaRPr lang="en-US" sz="900" dirty="0"/>
          </a:p>
        </p:txBody>
      </p:sp>
      <p:sp>
        <p:nvSpPr>
          <p:cNvPr id="26" name="Shape 24"/>
          <p:cNvSpPr/>
          <p:nvPr/>
        </p:nvSpPr>
        <p:spPr>
          <a:xfrm>
            <a:off x="3465576" y="2999232"/>
            <a:ext cx="2350008" cy="530352"/>
          </a:xfrm>
          <a:prstGeom prst="rect">
            <a:avLst/>
          </a:prstGeom>
          <a:solidFill>
            <a:srgbClr val="281508"/>
          </a:solidFill>
          <a:ln w="4445">
            <a:solidFill>
              <a:srgbClr val="7B3A7A"/>
            </a:solidFill>
            <a:prstDash val="solid"/>
          </a:ln>
        </p:spPr>
      </p:sp>
      <p:sp>
        <p:nvSpPr>
          <p:cNvPr id="27" name="Text 25"/>
          <p:cNvSpPr/>
          <p:nvPr/>
        </p:nvSpPr>
        <p:spPr>
          <a:xfrm>
            <a:off x="3465576" y="2999232"/>
            <a:ext cx="23500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app_data_request</a:t>
            </a:r>
            <a:endParaRPr lang="en-US" sz="900" dirty="0"/>
          </a:p>
        </p:txBody>
      </p:sp>
      <p:sp>
        <p:nvSpPr>
          <p:cNvPr id="28" name="Shape 26"/>
          <p:cNvSpPr/>
          <p:nvPr/>
        </p:nvSpPr>
        <p:spPr>
          <a:xfrm>
            <a:off x="3465576" y="3584448"/>
            <a:ext cx="2350008" cy="530352"/>
          </a:xfrm>
          <a:prstGeom prst="rect">
            <a:avLst/>
          </a:prstGeom>
          <a:solidFill>
            <a:srgbClr val="281508"/>
          </a:solidFill>
          <a:ln w="4445">
            <a:solidFill>
              <a:srgbClr val="7B3A7A"/>
            </a:solidFill>
            <a:prstDash val="solid"/>
          </a:ln>
        </p:spPr>
      </p:sp>
      <p:sp>
        <p:nvSpPr>
          <p:cNvPr id="29" name="Text 27"/>
          <p:cNvSpPr/>
          <p:nvPr/>
        </p:nvSpPr>
        <p:spPr>
          <a:xfrm>
            <a:off x="3465576" y="3584448"/>
            <a:ext cx="23500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d302_monitor_machine</a:t>
            </a:r>
            <a:endParaRPr lang="en-US" sz="900" dirty="0"/>
          </a:p>
        </p:txBody>
      </p:sp>
      <p:sp>
        <p:nvSpPr>
          <p:cNvPr id="30" name="Shape 28"/>
          <p:cNvSpPr/>
          <p:nvPr/>
        </p:nvSpPr>
        <p:spPr>
          <a:xfrm>
            <a:off x="3465576" y="4169664"/>
            <a:ext cx="2350008" cy="530352"/>
          </a:xfrm>
          <a:prstGeom prst="rect">
            <a:avLst/>
          </a:prstGeom>
          <a:solidFill>
            <a:srgbClr val="281508"/>
          </a:solidFill>
          <a:ln w="4445">
            <a:solidFill>
              <a:srgbClr val="7B3A7A"/>
            </a:solidFill>
            <a:prstDash val="solid"/>
          </a:ln>
        </p:spPr>
      </p:sp>
      <p:sp>
        <p:nvSpPr>
          <p:cNvPr id="31" name="Text 29"/>
          <p:cNvSpPr/>
          <p:nvPr/>
        </p:nvSpPr>
        <p:spPr>
          <a:xfrm>
            <a:off x="3465576" y="4169664"/>
            <a:ext cx="235000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Base64 ECAM payload</a:t>
            </a:r>
            <a:endParaRPr lang="en-US" sz="900" dirty="0"/>
          </a:p>
        </p:txBody>
      </p:sp>
      <p:sp>
        <p:nvSpPr>
          <p:cNvPr id="32" name="Shape 30"/>
          <p:cNvSpPr/>
          <p:nvPr/>
        </p:nvSpPr>
        <p:spPr>
          <a:xfrm>
            <a:off x="6446520" y="960120"/>
            <a:ext cx="2423160" cy="3794760"/>
          </a:xfrm>
          <a:prstGeom prst="rect">
            <a:avLst/>
          </a:prstGeom>
          <a:solidFill>
            <a:srgbClr val="341A0A"/>
          </a:solidFill>
          <a:ln w="12700">
            <a:solidFill>
              <a:srgbClr val="C64018"/>
            </a:solidFill>
            <a:prstDash val="solid"/>
          </a:ln>
        </p:spPr>
      </p:sp>
      <p:sp>
        <p:nvSpPr>
          <p:cNvPr id="33" name="Shape 31"/>
          <p:cNvSpPr/>
          <p:nvPr/>
        </p:nvSpPr>
        <p:spPr>
          <a:xfrm>
            <a:off x="6446520" y="960120"/>
            <a:ext cx="2423160" cy="73152"/>
          </a:xfrm>
          <a:prstGeom prst="rect">
            <a:avLst/>
          </a:prstGeom>
          <a:solidFill>
            <a:srgbClr val="C64018"/>
          </a:solidFill>
          <a:ln w="12700">
            <a:solidFill>
              <a:srgbClr val="C64018"/>
            </a:solidFill>
            <a:prstDash val="solid"/>
          </a:ln>
        </p:spPr>
      </p:sp>
      <p:sp>
        <p:nvSpPr>
          <p:cNvPr id="34" name="Text 32"/>
          <p:cNvSpPr/>
          <p:nvPr/>
        </p:nvSpPr>
        <p:spPr>
          <a:xfrm>
            <a:off x="6446520" y="1069848"/>
            <a:ext cx="2423160" cy="713232"/>
          </a:xfrm>
          <a:prstGeom prst="rect">
            <a:avLst/>
          </a:prstGeom>
          <a:noFill/>
          <a:ln/>
        </p:spPr>
        <p:txBody>
          <a:bodyPr wrap="square" lIns="0" tIns="0" rIns="0" bIns="0" rtlCol="0" anchor="ctr"/>
          <a:lstStyle/>
          <a:p>
            <a:pPr algn="ctr" indent="0" marL="0">
              <a:buNone/>
            </a:pPr>
            <a:r>
              <a:rPr lang="en-US" sz="1200" b="1" dirty="0">
                <a:solidFill>
                  <a:srgbClr val="FBF0DD"/>
                </a:solidFill>
              </a:rPr>
              <a:t>De'Longhi</a:t>
            </a:r>
            <a:endParaRPr lang="en-US" sz="1200" dirty="0"/>
          </a:p>
          <a:p>
            <a:pPr algn="ctr" indent="0" marL="0">
              <a:buNone/>
            </a:pPr>
            <a:r>
              <a:rPr lang="en-US" sz="1200" b="1" dirty="0">
                <a:solidFill>
                  <a:srgbClr val="FBF0DD"/>
                </a:solidFill>
              </a:rPr>
              <a:t>Eletta Explore</a:t>
            </a:r>
            <a:endParaRPr lang="en-US" sz="1200" dirty="0"/>
          </a:p>
        </p:txBody>
      </p:sp>
      <p:sp>
        <p:nvSpPr>
          <p:cNvPr id="35" name="Shape 33"/>
          <p:cNvSpPr/>
          <p:nvPr/>
        </p:nvSpPr>
        <p:spPr>
          <a:xfrm>
            <a:off x="6574536" y="1828800"/>
            <a:ext cx="2167128" cy="530352"/>
          </a:xfrm>
          <a:prstGeom prst="rect">
            <a:avLst/>
          </a:prstGeom>
          <a:solidFill>
            <a:srgbClr val="281508"/>
          </a:solidFill>
          <a:ln w="4445">
            <a:solidFill>
              <a:srgbClr val="C64018"/>
            </a:solidFill>
            <a:prstDash val="solid"/>
          </a:ln>
        </p:spPr>
      </p:sp>
      <p:sp>
        <p:nvSpPr>
          <p:cNvPr id="36" name="Text 34"/>
          <p:cNvSpPr/>
          <p:nvPr/>
        </p:nvSpPr>
        <p:spPr>
          <a:xfrm>
            <a:off x="6574536" y="1828800"/>
            <a:ext cx="216712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WiFi + Ayla Agent</a:t>
            </a:r>
            <a:endParaRPr lang="en-US" sz="900" dirty="0"/>
          </a:p>
        </p:txBody>
      </p:sp>
      <p:sp>
        <p:nvSpPr>
          <p:cNvPr id="37" name="Shape 35"/>
          <p:cNvSpPr/>
          <p:nvPr/>
        </p:nvSpPr>
        <p:spPr>
          <a:xfrm>
            <a:off x="6574536" y="2414016"/>
            <a:ext cx="2167128" cy="530352"/>
          </a:xfrm>
          <a:prstGeom prst="rect">
            <a:avLst/>
          </a:prstGeom>
          <a:solidFill>
            <a:srgbClr val="281508"/>
          </a:solidFill>
          <a:ln w="4445">
            <a:solidFill>
              <a:srgbClr val="C64018"/>
            </a:solidFill>
            <a:prstDash val="solid"/>
          </a:ln>
        </p:spPr>
      </p:sp>
      <p:sp>
        <p:nvSpPr>
          <p:cNvPr id="38" name="Text 36"/>
          <p:cNvSpPr/>
          <p:nvPr/>
        </p:nvSpPr>
        <p:spPr>
          <a:xfrm>
            <a:off x="6574536" y="2414016"/>
            <a:ext cx="216712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ECAM CPU</a:t>
            </a:r>
            <a:endParaRPr lang="en-US" sz="900" dirty="0"/>
          </a:p>
        </p:txBody>
      </p:sp>
      <p:sp>
        <p:nvSpPr>
          <p:cNvPr id="39" name="Shape 37"/>
          <p:cNvSpPr/>
          <p:nvPr/>
        </p:nvSpPr>
        <p:spPr>
          <a:xfrm>
            <a:off x="6574536" y="2999232"/>
            <a:ext cx="2167128" cy="530352"/>
          </a:xfrm>
          <a:prstGeom prst="rect">
            <a:avLst/>
          </a:prstGeom>
          <a:solidFill>
            <a:srgbClr val="281508"/>
          </a:solidFill>
          <a:ln w="4445">
            <a:solidFill>
              <a:srgbClr val="C64018"/>
            </a:solidFill>
            <a:prstDash val="solid"/>
          </a:ln>
        </p:spPr>
      </p:sp>
      <p:sp>
        <p:nvSpPr>
          <p:cNvPr id="40" name="Text 38"/>
          <p:cNvSpPr/>
          <p:nvPr/>
        </p:nvSpPr>
        <p:spPr>
          <a:xfrm>
            <a:off x="6574536" y="2999232"/>
            <a:ext cx="216712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CRC-16 validation</a:t>
            </a:r>
            <a:endParaRPr lang="en-US" sz="900" dirty="0"/>
          </a:p>
        </p:txBody>
      </p:sp>
      <p:sp>
        <p:nvSpPr>
          <p:cNvPr id="41" name="Shape 39"/>
          <p:cNvSpPr/>
          <p:nvPr/>
        </p:nvSpPr>
        <p:spPr>
          <a:xfrm>
            <a:off x="6574536" y="3584448"/>
            <a:ext cx="2167128" cy="530352"/>
          </a:xfrm>
          <a:prstGeom prst="rect">
            <a:avLst/>
          </a:prstGeom>
          <a:solidFill>
            <a:srgbClr val="281508"/>
          </a:solidFill>
          <a:ln w="4445">
            <a:solidFill>
              <a:srgbClr val="C64018"/>
            </a:solidFill>
            <a:prstDash val="solid"/>
          </a:ln>
        </p:spPr>
      </p:sp>
      <p:sp>
        <p:nvSpPr>
          <p:cNvPr id="42" name="Text 40"/>
          <p:cNvSpPr/>
          <p:nvPr/>
        </p:nvSpPr>
        <p:spPr>
          <a:xfrm>
            <a:off x="6574536" y="3584448"/>
            <a:ext cx="2167128" cy="530352"/>
          </a:xfrm>
          <a:prstGeom prst="rect">
            <a:avLst/>
          </a:prstGeom>
          <a:noFill/>
          <a:ln/>
        </p:spPr>
        <p:txBody>
          <a:bodyPr wrap="square" lIns="25400" tIns="25400" rIns="25400" bIns="25400" rtlCol="0" anchor="ctr"/>
          <a:lstStyle/>
          <a:p>
            <a:pPr algn="ctr" indent="0" marL="0">
              <a:buNone/>
            </a:pPr>
            <a:r>
              <a:rPr lang="en-US" sz="900" dirty="0">
                <a:solidFill>
                  <a:srgbClr val="FBF0DD"/>
                </a:solidFill>
                <a:latin typeface="Consolas" pitchFamily="34" charset="0"/>
                <a:ea typeface="Consolas" pitchFamily="34" charset="-122"/>
                <a:cs typeface="Consolas" pitchFamily="34" charset="-120"/>
              </a:rPr>
              <a:t>Binary UART bus</a:t>
            </a:r>
            <a:endParaRPr lang="en-US" sz="900" dirty="0"/>
          </a:p>
        </p:txBody>
      </p:sp>
      <p:sp>
        <p:nvSpPr>
          <p:cNvPr id="43" name="Shape 41"/>
          <p:cNvSpPr/>
          <p:nvPr/>
        </p:nvSpPr>
        <p:spPr>
          <a:xfrm>
            <a:off x="2834640" y="2857500"/>
            <a:ext cx="502920" cy="0"/>
          </a:xfrm>
          <a:prstGeom prst="line">
            <a:avLst/>
          </a:prstGeom>
          <a:noFill/>
          <a:ln w="16510">
            <a:solidFill>
              <a:srgbClr val="D49A14"/>
            </a:solidFill>
            <a:prstDash val="solid"/>
            <a:tailEnd type="arrow"/>
          </a:ln>
        </p:spPr>
      </p:sp>
      <p:sp>
        <p:nvSpPr>
          <p:cNvPr id="44" name="Text 42"/>
          <p:cNvSpPr/>
          <p:nvPr/>
        </p:nvSpPr>
        <p:spPr>
          <a:xfrm>
            <a:off x="2491740" y="2610612"/>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HTTPS</a:t>
            </a:r>
            <a:endParaRPr lang="en-US" sz="750" dirty="0"/>
          </a:p>
          <a:p>
            <a:pPr algn="ctr" indent="0" marL="0">
              <a:buNone/>
            </a:pPr>
            <a:r>
              <a:rPr lang="en-US" sz="750" dirty="0">
                <a:solidFill>
                  <a:srgbClr val="9A7050"/>
                </a:solidFill>
              </a:rPr>
              <a:t>REST API</a:t>
            </a:r>
            <a:endParaRPr lang="en-US" sz="750" dirty="0"/>
          </a:p>
        </p:txBody>
      </p:sp>
      <p:sp>
        <p:nvSpPr>
          <p:cNvPr id="45" name="Shape 43"/>
          <p:cNvSpPr/>
          <p:nvPr/>
        </p:nvSpPr>
        <p:spPr>
          <a:xfrm>
            <a:off x="5943600" y="2857500"/>
            <a:ext cx="502920" cy="0"/>
          </a:xfrm>
          <a:prstGeom prst="line">
            <a:avLst/>
          </a:prstGeom>
          <a:noFill/>
          <a:ln w="16510">
            <a:solidFill>
              <a:srgbClr val="D49A14"/>
            </a:solidFill>
            <a:prstDash val="solid"/>
            <a:tailEnd type="arrow"/>
          </a:ln>
        </p:spPr>
      </p:sp>
      <p:sp>
        <p:nvSpPr>
          <p:cNvPr id="46" name="Text 44"/>
          <p:cNvSpPr/>
          <p:nvPr/>
        </p:nvSpPr>
        <p:spPr>
          <a:xfrm>
            <a:off x="5600700" y="2610612"/>
            <a:ext cx="1188720" cy="237744"/>
          </a:xfrm>
          <a:prstGeom prst="rect">
            <a:avLst/>
          </a:prstGeom>
          <a:noFill/>
          <a:ln/>
        </p:spPr>
        <p:txBody>
          <a:bodyPr wrap="square" lIns="0" tIns="0" rIns="0" bIns="0" rtlCol="0" anchor="ctr"/>
          <a:lstStyle/>
          <a:p>
            <a:pPr algn="ctr" indent="0" marL="0">
              <a:buNone/>
            </a:pPr>
            <a:r>
              <a:rPr lang="en-US" sz="750" dirty="0">
                <a:solidFill>
                  <a:srgbClr val="9A7050"/>
                </a:solidFill>
              </a:rPr>
              <a:t>MQTT /</a:t>
            </a:r>
            <a:endParaRPr lang="en-US" sz="750" dirty="0"/>
          </a:p>
          <a:p>
            <a:pPr algn="ctr" indent="0" marL="0">
              <a:buNone/>
            </a:pPr>
            <a:r>
              <a:rPr lang="en-US" sz="750" dirty="0">
                <a:solidFill>
                  <a:srgbClr val="9A7050"/>
                </a:solidFill>
              </a:rPr>
              <a:t>WebSocket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Construire le serveur MCP en C# (.NET 10)</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IMPLEMENTATION</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10 / 16</a:t>
            </a:r>
            <a:endParaRPr lang="en-US" sz="750" dirty="0"/>
          </a:p>
        </p:txBody>
      </p:sp>
      <p:sp>
        <p:nvSpPr>
          <p:cNvPr id="8" name="Shape 6"/>
          <p:cNvSpPr/>
          <p:nvPr/>
        </p:nvSpPr>
        <p:spPr>
          <a:xfrm>
            <a:off x="548640" y="960120"/>
            <a:ext cx="2670048" cy="3840480"/>
          </a:xfrm>
          <a:prstGeom prst="rect">
            <a:avLst/>
          </a:prstGeom>
          <a:solidFill>
            <a:srgbClr val="341A0A"/>
          </a:solidFill>
          <a:ln w="9525">
            <a:solidFill>
              <a:srgbClr val="1A72B8"/>
            </a:solidFill>
            <a:prstDash val="solid"/>
          </a:ln>
        </p:spPr>
      </p:sp>
      <p:sp>
        <p:nvSpPr>
          <p:cNvPr id="9" name="Shape 7"/>
          <p:cNvSpPr/>
          <p:nvPr/>
        </p:nvSpPr>
        <p:spPr>
          <a:xfrm>
            <a:off x="548640" y="960120"/>
            <a:ext cx="2670048" cy="73152"/>
          </a:xfrm>
          <a:prstGeom prst="rect">
            <a:avLst/>
          </a:prstGeom>
          <a:solidFill>
            <a:srgbClr val="1A72B8"/>
          </a:solidFill>
          <a:ln w="12700">
            <a:solidFill>
              <a:srgbClr val="1A72B8"/>
            </a:solidFill>
            <a:prstDash val="solid"/>
          </a:ln>
        </p:spPr>
      </p:sp>
      <p:sp>
        <p:nvSpPr>
          <p:cNvPr id="10" name="Text 8"/>
          <p:cNvSpPr/>
          <p:nvPr/>
        </p:nvSpPr>
        <p:spPr>
          <a:xfrm>
            <a:off x="548640" y="1097280"/>
            <a:ext cx="2670048" cy="594360"/>
          </a:xfrm>
          <a:prstGeom prst="rect">
            <a:avLst/>
          </a:prstGeom>
          <a:noFill/>
          <a:ln/>
        </p:spPr>
        <p:txBody>
          <a:bodyPr wrap="square" lIns="0" tIns="0" rIns="0" bIns="0" rtlCol="0" anchor="ctr"/>
          <a:lstStyle/>
          <a:p>
            <a:pPr algn="ctr" indent="0" marL="0">
              <a:buNone/>
            </a:pPr>
            <a:r>
              <a:rPr lang="en-US" sz="2600" b="1" dirty="0">
                <a:solidFill>
                  <a:srgbClr val="1A72B8"/>
                </a:solidFill>
              </a:rPr>
              <a:t>SDK</a:t>
            </a:r>
            <a:endParaRPr lang="en-US" sz="2600" dirty="0"/>
          </a:p>
        </p:txBody>
      </p:sp>
      <p:sp>
        <p:nvSpPr>
          <p:cNvPr id="11" name="Text 9"/>
          <p:cNvSpPr/>
          <p:nvPr/>
        </p:nvSpPr>
        <p:spPr>
          <a:xfrm>
            <a:off x="658368" y="1755648"/>
            <a:ext cx="2450592" cy="438912"/>
          </a:xfrm>
          <a:prstGeom prst="rect">
            <a:avLst/>
          </a:prstGeom>
          <a:noFill/>
          <a:ln/>
        </p:spPr>
        <p:txBody>
          <a:bodyPr wrap="square" lIns="0" tIns="0" rIns="0" bIns="0" rtlCol="0" anchor="ctr"/>
          <a:lstStyle/>
          <a:p>
            <a:pPr algn="ctr" indent="0" marL="0">
              <a:buNone/>
            </a:pPr>
            <a:r>
              <a:rPr lang="en-US" sz="1200" b="1" dirty="0">
                <a:solidFill>
                  <a:srgbClr val="FBF0DD"/>
                </a:solidFill>
              </a:rPr>
              <a:t>ModelContextProtocol SDK</a:t>
            </a:r>
            <a:endParaRPr lang="en-US" sz="1200" dirty="0"/>
          </a:p>
        </p:txBody>
      </p:sp>
      <p:sp>
        <p:nvSpPr>
          <p:cNvPr id="12" name="Shape 10"/>
          <p:cNvSpPr/>
          <p:nvPr/>
        </p:nvSpPr>
        <p:spPr>
          <a:xfrm>
            <a:off x="658368" y="2258568"/>
            <a:ext cx="2450592" cy="987552"/>
          </a:xfrm>
          <a:prstGeom prst="rect">
            <a:avLst/>
          </a:prstGeom>
          <a:solidFill>
            <a:srgbClr val="0D0A07"/>
          </a:solidFill>
          <a:ln w="5080">
            <a:solidFill>
              <a:srgbClr val="4A2A14"/>
            </a:solidFill>
            <a:prstDash val="solid"/>
          </a:ln>
        </p:spPr>
      </p:sp>
      <p:sp>
        <p:nvSpPr>
          <p:cNvPr id="13" name="Text 11"/>
          <p:cNvSpPr/>
          <p:nvPr/>
        </p:nvSpPr>
        <p:spPr>
          <a:xfrm>
            <a:off x="731520" y="2258568"/>
            <a:ext cx="2331720" cy="987552"/>
          </a:xfrm>
          <a:prstGeom prst="rect">
            <a:avLst/>
          </a:prstGeom>
          <a:noFill/>
          <a:ln/>
        </p:spPr>
        <p:txBody>
          <a:bodyPr wrap="square" lIns="63500" tIns="63500" rIns="63500" bIns="63500" rtlCol="0" anchor="ctr"/>
          <a:lstStyle/>
          <a:p>
            <a:pPr algn="l" indent="0" marL="0">
              <a:buNone/>
            </a:pPr>
            <a:r>
              <a:rPr lang="en-US" sz="900" dirty="0">
                <a:solidFill>
                  <a:srgbClr val="1A72B8"/>
                </a:solidFill>
                <a:latin typeface="Consolas" pitchFamily="34" charset="0"/>
                <a:ea typeface="Consolas" pitchFamily="34" charset="-122"/>
                <a:cs typeface="Consolas" pitchFamily="34" charset="-120"/>
              </a:rPr>
              <a:t>AddMcpServer()</a:t>
            </a:r>
            <a:endParaRPr lang="en-US" sz="900" dirty="0"/>
          </a:p>
          <a:p>
            <a:pPr algn="l" indent="0" marL="0">
              <a:buNone/>
            </a:pPr>
            <a:r>
              <a:rPr lang="en-US" sz="900" dirty="0">
                <a:solidFill>
                  <a:srgbClr val="1A72B8"/>
                </a:solidFill>
                <a:latin typeface="Consolas" pitchFamily="34" charset="0"/>
                <a:ea typeface="Consolas" pitchFamily="34" charset="-122"/>
                <a:cs typeface="Consolas" pitchFamily="34" charset="-120"/>
              </a:rPr>
              <a:t> .WithStdioServerTransport()</a:t>
            </a:r>
            <a:endParaRPr lang="en-US" sz="900" dirty="0"/>
          </a:p>
          <a:p>
            <a:pPr algn="l" indent="0" marL="0">
              <a:buNone/>
            </a:pPr>
            <a:r>
              <a:rPr lang="en-US" sz="900" dirty="0">
                <a:solidFill>
                  <a:srgbClr val="1A72B8"/>
                </a:solidFill>
                <a:latin typeface="Consolas" pitchFamily="34" charset="0"/>
                <a:ea typeface="Consolas" pitchFamily="34" charset="-122"/>
                <a:cs typeface="Consolas" pitchFamily="34" charset="-120"/>
              </a:rPr>
              <a:t> .WithToolsFromAssembly()</a:t>
            </a:r>
            <a:endParaRPr lang="en-US" sz="900" dirty="0"/>
          </a:p>
        </p:txBody>
      </p:sp>
      <p:sp>
        <p:nvSpPr>
          <p:cNvPr id="14" name="Shape 12"/>
          <p:cNvSpPr/>
          <p:nvPr/>
        </p:nvSpPr>
        <p:spPr>
          <a:xfrm>
            <a:off x="731520" y="3310128"/>
            <a:ext cx="2304288" cy="0"/>
          </a:xfrm>
          <a:prstGeom prst="line">
            <a:avLst/>
          </a:prstGeom>
          <a:noFill/>
          <a:ln w="5080">
            <a:solidFill>
              <a:srgbClr val="4A2A14"/>
            </a:solidFill>
            <a:prstDash val="solid"/>
          </a:ln>
        </p:spPr>
      </p:sp>
      <p:sp>
        <p:nvSpPr>
          <p:cNvPr id="15" name="Text 13"/>
          <p:cNvSpPr/>
          <p:nvPr/>
        </p:nvSpPr>
        <p:spPr>
          <a:xfrm>
            <a:off x="658368" y="3383280"/>
            <a:ext cx="2450592" cy="658368"/>
          </a:xfrm>
          <a:prstGeom prst="rect">
            <a:avLst/>
          </a:prstGeom>
          <a:noFill/>
          <a:ln/>
        </p:spPr>
        <p:txBody>
          <a:bodyPr wrap="square" lIns="0" tIns="0" rIns="0" bIns="0" rtlCol="0" anchor="ctr"/>
          <a:lstStyle/>
          <a:p>
            <a:pPr algn="ctr" indent="0" marL="0">
              <a:buNone/>
            </a:pPr>
            <a:r>
              <a:rPr lang="en-US" sz="950" dirty="0">
                <a:solidFill>
                  <a:srgbClr val="9A7050"/>
                </a:solidFill>
              </a:rPr>
              <a:t>Enregistrement automatique</a:t>
            </a:r>
            <a:endParaRPr lang="en-US" sz="950" dirty="0"/>
          </a:p>
          <a:p>
            <a:pPr algn="ctr" indent="0" marL="0">
              <a:buNone/>
            </a:pPr>
            <a:r>
              <a:rPr lang="en-US" sz="950" dirty="0">
                <a:solidFill>
                  <a:srgbClr val="9A7050"/>
                </a:solidFill>
              </a:rPr>
              <a:t>des outils par reflexion .NET</a:t>
            </a:r>
            <a:endParaRPr lang="en-US" sz="950" dirty="0"/>
          </a:p>
        </p:txBody>
      </p:sp>
      <p:sp>
        <p:nvSpPr>
          <p:cNvPr id="16" name="Shape 14"/>
          <p:cNvSpPr/>
          <p:nvPr/>
        </p:nvSpPr>
        <p:spPr>
          <a:xfrm>
            <a:off x="3383280" y="960120"/>
            <a:ext cx="2670048" cy="3840480"/>
          </a:xfrm>
          <a:prstGeom prst="rect">
            <a:avLst/>
          </a:prstGeom>
          <a:solidFill>
            <a:srgbClr val="341A0A"/>
          </a:solidFill>
          <a:ln w="9525">
            <a:solidFill>
              <a:srgbClr val="178A52"/>
            </a:solidFill>
            <a:prstDash val="solid"/>
          </a:ln>
        </p:spPr>
      </p:sp>
      <p:sp>
        <p:nvSpPr>
          <p:cNvPr id="17" name="Shape 15"/>
          <p:cNvSpPr/>
          <p:nvPr/>
        </p:nvSpPr>
        <p:spPr>
          <a:xfrm>
            <a:off x="3383280" y="960120"/>
            <a:ext cx="2670048" cy="73152"/>
          </a:xfrm>
          <a:prstGeom prst="rect">
            <a:avLst/>
          </a:prstGeom>
          <a:solidFill>
            <a:srgbClr val="178A52"/>
          </a:solidFill>
          <a:ln w="12700">
            <a:solidFill>
              <a:srgbClr val="178A52"/>
            </a:solidFill>
            <a:prstDash val="solid"/>
          </a:ln>
        </p:spPr>
      </p:sp>
      <p:sp>
        <p:nvSpPr>
          <p:cNvPr id="18" name="Text 16"/>
          <p:cNvSpPr/>
          <p:nvPr/>
        </p:nvSpPr>
        <p:spPr>
          <a:xfrm>
            <a:off x="3383280" y="1097280"/>
            <a:ext cx="2670048" cy="594360"/>
          </a:xfrm>
          <a:prstGeom prst="rect">
            <a:avLst/>
          </a:prstGeom>
          <a:noFill/>
          <a:ln/>
        </p:spPr>
        <p:txBody>
          <a:bodyPr wrap="square" lIns="0" tIns="0" rIns="0" bIns="0" rtlCol="0" anchor="ctr"/>
          <a:lstStyle/>
          <a:p>
            <a:pPr algn="ctr" indent="0" marL="0">
              <a:buNone/>
            </a:pPr>
            <a:r>
              <a:rPr lang="en-US" sz="2600" b="1" dirty="0">
                <a:solidFill>
                  <a:srgbClr val="178A52"/>
                </a:solidFill>
              </a:rPr>
              <a:t>ATT</a:t>
            </a:r>
            <a:endParaRPr lang="en-US" sz="2600" dirty="0"/>
          </a:p>
        </p:txBody>
      </p:sp>
      <p:sp>
        <p:nvSpPr>
          <p:cNvPr id="19" name="Text 17"/>
          <p:cNvSpPr/>
          <p:nvPr/>
        </p:nvSpPr>
        <p:spPr>
          <a:xfrm>
            <a:off x="3493008" y="1755648"/>
            <a:ext cx="2450592" cy="438912"/>
          </a:xfrm>
          <a:prstGeom prst="rect">
            <a:avLst/>
          </a:prstGeom>
          <a:noFill/>
          <a:ln/>
        </p:spPr>
        <p:txBody>
          <a:bodyPr wrap="square" lIns="0" tIns="0" rIns="0" bIns="0" rtlCol="0" anchor="ctr"/>
          <a:lstStyle/>
          <a:p>
            <a:pPr algn="ctr" indent="0" marL="0">
              <a:buNone/>
            </a:pPr>
            <a:r>
              <a:rPr lang="en-US" sz="1200" b="1" dirty="0">
                <a:solidFill>
                  <a:srgbClr val="FBF0DD"/>
                </a:solidFill>
              </a:rPr>
              <a:t>Pattern Tool Attribute</a:t>
            </a:r>
            <a:endParaRPr lang="en-US" sz="1200" dirty="0"/>
          </a:p>
        </p:txBody>
      </p:sp>
      <p:sp>
        <p:nvSpPr>
          <p:cNvPr id="20" name="Shape 18"/>
          <p:cNvSpPr/>
          <p:nvPr/>
        </p:nvSpPr>
        <p:spPr>
          <a:xfrm>
            <a:off x="3493008" y="2258568"/>
            <a:ext cx="2450592" cy="987552"/>
          </a:xfrm>
          <a:prstGeom prst="rect">
            <a:avLst/>
          </a:prstGeom>
          <a:solidFill>
            <a:srgbClr val="0D0A07"/>
          </a:solidFill>
          <a:ln w="5080">
            <a:solidFill>
              <a:srgbClr val="4A2A14"/>
            </a:solidFill>
            <a:prstDash val="solid"/>
          </a:ln>
        </p:spPr>
      </p:sp>
      <p:sp>
        <p:nvSpPr>
          <p:cNvPr id="21" name="Text 19"/>
          <p:cNvSpPr/>
          <p:nvPr/>
        </p:nvSpPr>
        <p:spPr>
          <a:xfrm>
            <a:off x="3566160" y="2258568"/>
            <a:ext cx="2331720" cy="987552"/>
          </a:xfrm>
          <a:prstGeom prst="rect">
            <a:avLst/>
          </a:prstGeom>
          <a:noFill/>
          <a:ln/>
        </p:spPr>
        <p:txBody>
          <a:bodyPr wrap="square" lIns="63500" tIns="63500" rIns="63500" bIns="63500" rtlCol="0" anchor="ctr"/>
          <a:lstStyle/>
          <a:p>
            <a:pPr algn="l" indent="0" marL="0">
              <a:buNone/>
            </a:pPr>
            <a:r>
              <a:rPr lang="en-US" sz="900" dirty="0">
                <a:solidFill>
                  <a:srgbClr val="178A52"/>
                </a:solidFill>
                <a:latin typeface="Consolas" pitchFamily="34" charset="0"/>
                <a:ea typeface="Consolas" pitchFamily="34" charset="-122"/>
                <a:cs typeface="Consolas" pitchFamily="34" charset="-120"/>
              </a:rPr>
              <a:t>[McpServerToolType]</a:t>
            </a:r>
            <a:endParaRPr lang="en-US" sz="900" dirty="0"/>
          </a:p>
          <a:p>
            <a:pPr algn="l" indent="0" marL="0">
              <a:buNone/>
            </a:pPr>
            <a:r>
              <a:rPr lang="en-US" sz="900" dirty="0">
                <a:solidFill>
                  <a:srgbClr val="178A52"/>
                </a:solidFill>
                <a:latin typeface="Consolas" pitchFamily="34" charset="0"/>
                <a:ea typeface="Consolas" pitchFamily="34" charset="-122"/>
                <a:cs typeface="Consolas" pitchFamily="34" charset="-120"/>
              </a:rPr>
              <a:t>[McpServerTool]</a:t>
            </a:r>
            <a:endParaRPr lang="en-US" sz="900" dirty="0"/>
          </a:p>
          <a:p>
            <a:pPr algn="l" indent="0" marL="0">
              <a:buNone/>
            </a:pPr>
            <a:r>
              <a:rPr lang="en-US" sz="900" dirty="0">
                <a:solidFill>
                  <a:srgbClr val="178A52"/>
                </a:solidFill>
                <a:latin typeface="Consolas" pitchFamily="34" charset="0"/>
                <a:ea typeface="Consolas" pitchFamily="34" charset="-122"/>
                <a:cs typeface="Consolas" pitchFamily="34" charset="-120"/>
              </a:rPr>
              <a:t>[Description("...")]</a:t>
            </a:r>
            <a:endParaRPr lang="en-US" sz="900" dirty="0"/>
          </a:p>
        </p:txBody>
      </p:sp>
      <p:sp>
        <p:nvSpPr>
          <p:cNvPr id="22" name="Shape 20"/>
          <p:cNvSpPr/>
          <p:nvPr/>
        </p:nvSpPr>
        <p:spPr>
          <a:xfrm>
            <a:off x="3566160" y="3310128"/>
            <a:ext cx="2304288" cy="0"/>
          </a:xfrm>
          <a:prstGeom prst="line">
            <a:avLst/>
          </a:prstGeom>
          <a:noFill/>
          <a:ln w="5080">
            <a:solidFill>
              <a:srgbClr val="4A2A14"/>
            </a:solidFill>
            <a:prstDash val="solid"/>
          </a:ln>
        </p:spPr>
      </p:sp>
      <p:sp>
        <p:nvSpPr>
          <p:cNvPr id="23" name="Text 21"/>
          <p:cNvSpPr/>
          <p:nvPr/>
        </p:nvSpPr>
        <p:spPr>
          <a:xfrm>
            <a:off x="3493008" y="3383280"/>
            <a:ext cx="2450592" cy="658368"/>
          </a:xfrm>
          <a:prstGeom prst="rect">
            <a:avLst/>
          </a:prstGeom>
          <a:noFill/>
          <a:ln/>
        </p:spPr>
        <p:txBody>
          <a:bodyPr wrap="square" lIns="0" tIns="0" rIns="0" bIns="0" rtlCol="0" anchor="ctr"/>
          <a:lstStyle/>
          <a:p>
            <a:pPr algn="ctr" indent="0" marL="0">
              <a:buNone/>
            </a:pPr>
            <a:r>
              <a:rPr lang="en-US" sz="950" dirty="0">
                <a:solidFill>
                  <a:srgbClr val="9A7050"/>
                </a:solidFill>
              </a:rPr>
              <a:t>Chaque methode C# devient</a:t>
            </a:r>
            <a:endParaRPr lang="en-US" sz="950" dirty="0"/>
          </a:p>
          <a:p>
            <a:pPr algn="ctr" indent="0" marL="0">
              <a:buNone/>
            </a:pPr>
            <a:r>
              <a:rPr lang="en-US" sz="950" dirty="0">
                <a:solidFill>
                  <a:srgbClr val="9A7050"/>
                </a:solidFill>
              </a:rPr>
              <a:t>un outil MCP expose au modele</a:t>
            </a:r>
            <a:endParaRPr lang="en-US" sz="950" dirty="0"/>
          </a:p>
        </p:txBody>
      </p:sp>
      <p:sp>
        <p:nvSpPr>
          <p:cNvPr id="24" name="Shape 22"/>
          <p:cNvSpPr/>
          <p:nvPr/>
        </p:nvSpPr>
        <p:spPr>
          <a:xfrm>
            <a:off x="6217920" y="960120"/>
            <a:ext cx="2670048" cy="3840480"/>
          </a:xfrm>
          <a:prstGeom prst="rect">
            <a:avLst/>
          </a:prstGeom>
          <a:solidFill>
            <a:srgbClr val="341A0A"/>
          </a:solidFill>
          <a:ln w="9525">
            <a:solidFill>
              <a:srgbClr val="D49A14"/>
            </a:solidFill>
            <a:prstDash val="solid"/>
          </a:ln>
        </p:spPr>
      </p:sp>
      <p:sp>
        <p:nvSpPr>
          <p:cNvPr id="25" name="Shape 23"/>
          <p:cNvSpPr/>
          <p:nvPr/>
        </p:nvSpPr>
        <p:spPr>
          <a:xfrm>
            <a:off x="6217920" y="960120"/>
            <a:ext cx="2670048" cy="73152"/>
          </a:xfrm>
          <a:prstGeom prst="rect">
            <a:avLst/>
          </a:prstGeom>
          <a:solidFill>
            <a:srgbClr val="D49A14"/>
          </a:solidFill>
          <a:ln w="12700">
            <a:solidFill>
              <a:srgbClr val="D49A14"/>
            </a:solidFill>
            <a:prstDash val="solid"/>
          </a:ln>
        </p:spPr>
      </p:sp>
      <p:sp>
        <p:nvSpPr>
          <p:cNvPr id="26" name="Text 24"/>
          <p:cNvSpPr/>
          <p:nvPr/>
        </p:nvSpPr>
        <p:spPr>
          <a:xfrm>
            <a:off x="6217920" y="1097280"/>
            <a:ext cx="2670048" cy="594360"/>
          </a:xfrm>
          <a:prstGeom prst="rect">
            <a:avLst/>
          </a:prstGeom>
          <a:noFill/>
          <a:ln/>
        </p:spPr>
        <p:txBody>
          <a:bodyPr wrap="square" lIns="0" tIns="0" rIns="0" bIns="0" rtlCol="0" anchor="ctr"/>
          <a:lstStyle/>
          <a:p>
            <a:pPr algn="ctr" indent="0" marL="0">
              <a:buNone/>
            </a:pPr>
            <a:r>
              <a:rPr lang="en-US" sz="2600" b="1" dirty="0">
                <a:solidFill>
                  <a:srgbClr val="D49A14"/>
                </a:solidFill>
              </a:rPr>
              <a:t>AUTH</a:t>
            </a:r>
            <a:endParaRPr lang="en-US" sz="2600" dirty="0"/>
          </a:p>
        </p:txBody>
      </p:sp>
      <p:sp>
        <p:nvSpPr>
          <p:cNvPr id="27" name="Text 25"/>
          <p:cNvSpPr/>
          <p:nvPr/>
        </p:nvSpPr>
        <p:spPr>
          <a:xfrm>
            <a:off x="6327648" y="1755648"/>
            <a:ext cx="2450592" cy="438912"/>
          </a:xfrm>
          <a:prstGeom prst="rect">
            <a:avLst/>
          </a:prstGeom>
          <a:noFill/>
          <a:ln/>
        </p:spPr>
        <p:txBody>
          <a:bodyPr wrap="square" lIns="0" tIns="0" rIns="0" bIns="0" rtlCol="0" anchor="ctr"/>
          <a:lstStyle/>
          <a:p>
            <a:pPr algn="ctr" indent="0" marL="0">
              <a:buNone/>
            </a:pPr>
            <a:r>
              <a:rPr lang="en-US" sz="1200" b="1" dirty="0">
                <a:solidFill>
                  <a:srgbClr val="FBF0DD"/>
                </a:solidFill>
              </a:rPr>
              <a:t>Auth + Client IoT</a:t>
            </a:r>
            <a:endParaRPr lang="en-US" sz="1200" dirty="0"/>
          </a:p>
        </p:txBody>
      </p:sp>
      <p:sp>
        <p:nvSpPr>
          <p:cNvPr id="28" name="Shape 26"/>
          <p:cNvSpPr/>
          <p:nvPr/>
        </p:nvSpPr>
        <p:spPr>
          <a:xfrm>
            <a:off x="6327648" y="2258568"/>
            <a:ext cx="2450592" cy="987552"/>
          </a:xfrm>
          <a:prstGeom prst="rect">
            <a:avLst/>
          </a:prstGeom>
          <a:solidFill>
            <a:srgbClr val="0D0A07"/>
          </a:solidFill>
          <a:ln w="5080">
            <a:solidFill>
              <a:srgbClr val="4A2A14"/>
            </a:solidFill>
            <a:prstDash val="solid"/>
          </a:ln>
        </p:spPr>
      </p:sp>
      <p:sp>
        <p:nvSpPr>
          <p:cNvPr id="29" name="Text 27"/>
          <p:cNvSpPr/>
          <p:nvPr/>
        </p:nvSpPr>
        <p:spPr>
          <a:xfrm>
            <a:off x="6400800" y="2258568"/>
            <a:ext cx="2331720" cy="987552"/>
          </a:xfrm>
          <a:prstGeom prst="rect">
            <a:avLst/>
          </a:prstGeom>
          <a:noFill/>
          <a:ln/>
        </p:spPr>
        <p:txBody>
          <a:bodyPr wrap="square" lIns="63500" tIns="63500" rIns="63500" bIns="63500" rtlCol="0" anchor="ctr"/>
          <a:lstStyle/>
          <a:p>
            <a:pPr algn="l" indent="0" marL="0">
              <a:buNone/>
            </a:pPr>
            <a:r>
              <a:rPr lang="en-US" sz="900" dirty="0">
                <a:solidFill>
                  <a:srgbClr val="D49A14"/>
                </a:solidFill>
                <a:latin typeface="Consolas" pitchFamily="34" charset="0"/>
                <a:ea typeface="Consolas" pitchFamily="34" charset="-122"/>
                <a:cs typeface="Consolas" pitchFamily="34" charset="-120"/>
              </a:rPr>
              <a:t>DelonghiAuthService</a:t>
            </a:r>
            <a:endParaRPr lang="en-US" sz="900" dirty="0"/>
          </a:p>
          <a:p>
            <a:pPr algn="l" indent="0" marL="0">
              <a:buNone/>
            </a:pPr>
            <a:r>
              <a:rPr lang="en-US" sz="900" dirty="0">
                <a:solidFill>
                  <a:srgbClr val="D49A14"/>
                </a:solidFill>
                <a:latin typeface="Consolas" pitchFamily="34" charset="0"/>
                <a:ea typeface="Consolas" pitchFamily="34" charset="-122"/>
                <a:cs typeface="Consolas" pitchFamily="34" charset="-120"/>
              </a:rPr>
              <a:t>AylaApiClient</a:t>
            </a:r>
            <a:endParaRPr lang="en-US" sz="900" dirty="0"/>
          </a:p>
          <a:p>
            <a:pPr algn="l" indent="0" marL="0">
              <a:buNone/>
            </a:pPr>
            <a:r>
              <a:rPr lang="en-US" sz="900" dirty="0">
                <a:solidFill>
                  <a:srgbClr val="D49A14"/>
                </a:solidFill>
                <a:latin typeface="Consolas" pitchFamily="34" charset="0"/>
                <a:ea typeface="Consolas" pitchFamily="34" charset="-122"/>
                <a:cs typeface="Consolas" pitchFamily="34" charset="-120"/>
              </a:rPr>
              <a:t>EcamPacket / Crc16</a:t>
            </a:r>
            <a:endParaRPr lang="en-US" sz="900" dirty="0"/>
          </a:p>
        </p:txBody>
      </p:sp>
      <p:sp>
        <p:nvSpPr>
          <p:cNvPr id="30" name="Shape 28"/>
          <p:cNvSpPr/>
          <p:nvPr/>
        </p:nvSpPr>
        <p:spPr>
          <a:xfrm>
            <a:off x="6400800" y="3310128"/>
            <a:ext cx="2304288" cy="0"/>
          </a:xfrm>
          <a:prstGeom prst="line">
            <a:avLst/>
          </a:prstGeom>
          <a:noFill/>
          <a:ln w="5080">
            <a:solidFill>
              <a:srgbClr val="4A2A14"/>
            </a:solidFill>
            <a:prstDash val="solid"/>
          </a:ln>
        </p:spPr>
      </p:sp>
      <p:sp>
        <p:nvSpPr>
          <p:cNvPr id="31" name="Text 29"/>
          <p:cNvSpPr/>
          <p:nvPr/>
        </p:nvSpPr>
        <p:spPr>
          <a:xfrm>
            <a:off x="6327648" y="3383280"/>
            <a:ext cx="2450592" cy="658368"/>
          </a:xfrm>
          <a:prstGeom prst="rect">
            <a:avLst/>
          </a:prstGeom>
          <a:noFill/>
          <a:ln/>
        </p:spPr>
        <p:txBody>
          <a:bodyPr wrap="square" lIns="0" tIns="0" rIns="0" bIns="0" rtlCol="0" anchor="ctr"/>
          <a:lstStyle/>
          <a:p>
            <a:pPr algn="ctr" indent="0" marL="0">
              <a:buNone/>
            </a:pPr>
            <a:r>
              <a:rPr lang="en-US" sz="950" dirty="0">
                <a:solidFill>
                  <a:srgbClr val="9A7050"/>
                </a:solidFill>
              </a:rPr>
              <a:t>Token cache thread-safe</a:t>
            </a:r>
            <a:endParaRPr lang="en-US" sz="950" dirty="0"/>
          </a:p>
          <a:p>
            <a:pPr algn="ctr" indent="0" marL="0">
              <a:buNone/>
            </a:pPr>
            <a:r>
              <a:rPr lang="en-US" sz="950" dirty="0">
                <a:solidFill>
                  <a:srgbClr val="9A7050"/>
                </a:solidFill>
              </a:rPr>
              <a:t>Fallback app/data_request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Architecture : vue d'ensemble - de l'IA a la cafetiere</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ARCHITECTURE</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11 / 16</a:t>
            </a:r>
            <a:endParaRPr lang="en-US" sz="750" dirty="0"/>
          </a:p>
        </p:txBody>
      </p:sp>
      <p:sp>
        <p:nvSpPr>
          <p:cNvPr id="8" name="Shape 6"/>
          <p:cNvSpPr/>
          <p:nvPr/>
        </p:nvSpPr>
        <p:spPr>
          <a:xfrm>
            <a:off x="457200" y="987552"/>
            <a:ext cx="5303520" cy="694944"/>
          </a:xfrm>
          <a:prstGeom prst="rect">
            <a:avLst/>
          </a:prstGeom>
          <a:solidFill>
            <a:srgbClr val="341A0A"/>
          </a:solidFill>
          <a:ln w="11430">
            <a:solidFill>
              <a:srgbClr val="1A72B8"/>
            </a:solidFill>
            <a:prstDash val="solid"/>
          </a:ln>
        </p:spPr>
      </p:sp>
      <p:sp>
        <p:nvSpPr>
          <p:cNvPr id="9" name="Shape 7"/>
          <p:cNvSpPr/>
          <p:nvPr/>
        </p:nvSpPr>
        <p:spPr>
          <a:xfrm>
            <a:off x="457200" y="987552"/>
            <a:ext cx="73152" cy="694944"/>
          </a:xfrm>
          <a:prstGeom prst="rect">
            <a:avLst/>
          </a:prstGeom>
          <a:solidFill>
            <a:srgbClr val="1A72B8"/>
          </a:solidFill>
          <a:ln w="12700">
            <a:solidFill>
              <a:srgbClr val="1A72B8"/>
            </a:solidFill>
            <a:prstDash val="solid"/>
          </a:ln>
        </p:spPr>
      </p:sp>
      <p:sp>
        <p:nvSpPr>
          <p:cNvPr id="10" name="Text 8"/>
          <p:cNvSpPr/>
          <p:nvPr/>
        </p:nvSpPr>
        <p:spPr>
          <a:xfrm>
            <a:off x="685800" y="1033272"/>
            <a:ext cx="5029200" cy="347472"/>
          </a:xfrm>
          <a:prstGeom prst="rect">
            <a:avLst/>
          </a:prstGeom>
          <a:noFill/>
          <a:ln/>
        </p:spPr>
        <p:txBody>
          <a:bodyPr wrap="square" lIns="0" tIns="0" rIns="0" bIns="0" rtlCol="0" anchor="ctr"/>
          <a:lstStyle/>
          <a:p>
            <a:pPr indent="0" marL="0">
              <a:buNone/>
            </a:pPr>
            <a:r>
              <a:rPr lang="en-US" sz="1200" b="1" dirty="0">
                <a:solidFill>
                  <a:srgbClr val="FBF0DD"/>
                </a:solidFill>
              </a:rPr>
              <a:t>AI Agent</a:t>
            </a:r>
            <a:endParaRPr lang="en-US" sz="1200" dirty="0"/>
          </a:p>
        </p:txBody>
      </p:sp>
      <p:sp>
        <p:nvSpPr>
          <p:cNvPr id="11" name="Text 9"/>
          <p:cNvSpPr/>
          <p:nvPr/>
        </p:nvSpPr>
        <p:spPr>
          <a:xfrm>
            <a:off x="685800" y="1353312"/>
            <a:ext cx="5029200" cy="256032"/>
          </a:xfrm>
          <a:prstGeom prst="rect">
            <a:avLst/>
          </a:prstGeom>
          <a:noFill/>
          <a:ln/>
        </p:spPr>
        <p:txBody>
          <a:bodyPr wrap="square" lIns="0" tIns="0" rIns="0" bIns="0" rtlCol="0" anchor="ctr"/>
          <a:lstStyle/>
          <a:p>
            <a:pPr indent="0" marL="0">
              <a:buNone/>
            </a:pPr>
            <a:r>
              <a:rPr lang="en-US" sz="850" dirty="0">
                <a:solidFill>
                  <a:srgbClr val="9A7050"/>
                </a:solidFill>
              </a:rPr>
              <a:t>GitHub Copilot  VS Code  Claude  Cursor  etc.</a:t>
            </a:r>
            <a:endParaRPr lang="en-US" sz="850" dirty="0"/>
          </a:p>
        </p:txBody>
      </p:sp>
      <p:sp>
        <p:nvSpPr>
          <p:cNvPr id="12" name="Shape 10"/>
          <p:cNvSpPr/>
          <p:nvPr/>
        </p:nvSpPr>
        <p:spPr>
          <a:xfrm>
            <a:off x="457200" y="1920240"/>
            <a:ext cx="5303520" cy="694944"/>
          </a:xfrm>
          <a:prstGeom prst="rect">
            <a:avLst/>
          </a:prstGeom>
          <a:solidFill>
            <a:srgbClr val="341A0A"/>
          </a:solidFill>
          <a:ln w="11430">
            <a:solidFill>
              <a:srgbClr val="178A52"/>
            </a:solidFill>
            <a:prstDash val="solid"/>
          </a:ln>
        </p:spPr>
      </p:sp>
      <p:sp>
        <p:nvSpPr>
          <p:cNvPr id="13" name="Shape 11"/>
          <p:cNvSpPr/>
          <p:nvPr/>
        </p:nvSpPr>
        <p:spPr>
          <a:xfrm>
            <a:off x="457200" y="1920240"/>
            <a:ext cx="73152" cy="694944"/>
          </a:xfrm>
          <a:prstGeom prst="rect">
            <a:avLst/>
          </a:prstGeom>
          <a:solidFill>
            <a:srgbClr val="178A52"/>
          </a:solidFill>
          <a:ln w="12700">
            <a:solidFill>
              <a:srgbClr val="178A52"/>
            </a:solidFill>
            <a:prstDash val="solid"/>
          </a:ln>
        </p:spPr>
      </p:sp>
      <p:sp>
        <p:nvSpPr>
          <p:cNvPr id="14" name="Text 12"/>
          <p:cNvSpPr/>
          <p:nvPr/>
        </p:nvSpPr>
        <p:spPr>
          <a:xfrm>
            <a:off x="685800" y="1965960"/>
            <a:ext cx="5029200" cy="347472"/>
          </a:xfrm>
          <a:prstGeom prst="rect">
            <a:avLst/>
          </a:prstGeom>
          <a:noFill/>
          <a:ln/>
        </p:spPr>
        <p:txBody>
          <a:bodyPr wrap="square" lIns="0" tIns="0" rIns="0" bIns="0" rtlCol="0" anchor="ctr"/>
          <a:lstStyle/>
          <a:p>
            <a:pPr indent="0" marL="0">
              <a:buNone/>
            </a:pPr>
            <a:r>
              <a:rPr lang="en-US" sz="1200" b="1" dirty="0">
                <a:solidFill>
                  <a:srgbClr val="FBF0DD"/>
                </a:solidFill>
              </a:rPr>
              <a:t>McpDelonghi Server (.NET 10)</a:t>
            </a:r>
            <a:endParaRPr lang="en-US" sz="1200" dirty="0"/>
          </a:p>
        </p:txBody>
      </p:sp>
      <p:sp>
        <p:nvSpPr>
          <p:cNvPr id="15" name="Text 13"/>
          <p:cNvSpPr/>
          <p:nvPr/>
        </p:nvSpPr>
        <p:spPr>
          <a:xfrm>
            <a:off x="685800" y="2286000"/>
            <a:ext cx="5029200" cy="256032"/>
          </a:xfrm>
          <a:prstGeom prst="rect">
            <a:avLst/>
          </a:prstGeom>
          <a:noFill/>
          <a:ln/>
        </p:spPr>
        <p:txBody>
          <a:bodyPr wrap="square" lIns="0" tIns="0" rIns="0" bIns="0" rtlCol="0" anchor="ctr"/>
          <a:lstStyle/>
          <a:p>
            <a:pPr indent="0" marL="0">
              <a:buNone/>
            </a:pPr>
            <a:r>
              <a:rPr lang="en-US" sz="850" dirty="0">
                <a:solidFill>
                  <a:srgbClr val="9A7050"/>
                </a:solidFill>
              </a:rPr>
              <a:t>BrewTools  StatusTools  MachineryTools  (stdio)</a:t>
            </a:r>
            <a:endParaRPr lang="en-US" sz="850" dirty="0"/>
          </a:p>
        </p:txBody>
      </p:sp>
      <p:sp>
        <p:nvSpPr>
          <p:cNvPr id="16" name="Shape 14"/>
          <p:cNvSpPr/>
          <p:nvPr/>
        </p:nvSpPr>
        <p:spPr>
          <a:xfrm>
            <a:off x="457200" y="2852928"/>
            <a:ext cx="5303520" cy="694944"/>
          </a:xfrm>
          <a:prstGeom prst="rect">
            <a:avLst/>
          </a:prstGeom>
          <a:solidFill>
            <a:srgbClr val="341A0A"/>
          </a:solidFill>
          <a:ln w="11430">
            <a:solidFill>
              <a:srgbClr val="7B3A7A"/>
            </a:solidFill>
            <a:prstDash val="solid"/>
          </a:ln>
        </p:spPr>
      </p:sp>
      <p:sp>
        <p:nvSpPr>
          <p:cNvPr id="17" name="Shape 15"/>
          <p:cNvSpPr/>
          <p:nvPr/>
        </p:nvSpPr>
        <p:spPr>
          <a:xfrm>
            <a:off x="457200" y="2852928"/>
            <a:ext cx="73152" cy="694944"/>
          </a:xfrm>
          <a:prstGeom prst="rect">
            <a:avLst/>
          </a:prstGeom>
          <a:solidFill>
            <a:srgbClr val="7B3A7A"/>
          </a:solidFill>
          <a:ln w="12700">
            <a:solidFill>
              <a:srgbClr val="7B3A7A"/>
            </a:solidFill>
            <a:prstDash val="solid"/>
          </a:ln>
        </p:spPr>
      </p:sp>
      <p:sp>
        <p:nvSpPr>
          <p:cNvPr id="18" name="Text 16"/>
          <p:cNvSpPr/>
          <p:nvPr/>
        </p:nvSpPr>
        <p:spPr>
          <a:xfrm>
            <a:off x="685800" y="2898648"/>
            <a:ext cx="5029200" cy="347472"/>
          </a:xfrm>
          <a:prstGeom prst="rect">
            <a:avLst/>
          </a:prstGeom>
          <a:noFill/>
          <a:ln/>
        </p:spPr>
        <p:txBody>
          <a:bodyPr wrap="square" lIns="0" tIns="0" rIns="0" bIns="0" rtlCol="0" anchor="ctr"/>
          <a:lstStyle/>
          <a:p>
            <a:pPr indent="0" marL="0">
              <a:buNone/>
            </a:pPr>
            <a:r>
              <a:rPr lang="en-US" sz="1200" b="1" dirty="0">
                <a:solidFill>
                  <a:srgbClr val="FBF0DD"/>
                </a:solidFill>
              </a:rPr>
              <a:t>Ayla Networks IoT Cloud EU</a:t>
            </a:r>
            <a:endParaRPr lang="en-US" sz="1200" dirty="0"/>
          </a:p>
        </p:txBody>
      </p:sp>
      <p:sp>
        <p:nvSpPr>
          <p:cNvPr id="19" name="Text 17"/>
          <p:cNvSpPr/>
          <p:nvPr/>
        </p:nvSpPr>
        <p:spPr>
          <a:xfrm>
            <a:off x="685800" y="3218688"/>
            <a:ext cx="5029200" cy="256032"/>
          </a:xfrm>
          <a:prstGeom prst="rect">
            <a:avLst/>
          </a:prstGeom>
          <a:noFill/>
          <a:ln/>
        </p:spPr>
        <p:txBody>
          <a:bodyPr wrap="square" lIns="0" tIns="0" rIns="0" bIns="0" rtlCol="0" anchor="ctr"/>
          <a:lstStyle/>
          <a:p>
            <a:pPr indent="0" marL="0">
              <a:buNone/>
            </a:pPr>
            <a:r>
              <a:rPr lang="en-US" sz="850" dirty="0">
                <a:solidFill>
                  <a:srgbClr val="9A7050"/>
                </a:solidFill>
              </a:rPr>
              <a:t>user-field-eu.aylanetworks.com  ads-eu.aylanetworks.com</a:t>
            </a:r>
            <a:endParaRPr lang="en-US" sz="850" dirty="0"/>
          </a:p>
        </p:txBody>
      </p:sp>
      <p:sp>
        <p:nvSpPr>
          <p:cNvPr id="20" name="Shape 18"/>
          <p:cNvSpPr/>
          <p:nvPr/>
        </p:nvSpPr>
        <p:spPr>
          <a:xfrm>
            <a:off x="457200" y="3785616"/>
            <a:ext cx="5303520" cy="713232"/>
          </a:xfrm>
          <a:prstGeom prst="rect">
            <a:avLst/>
          </a:prstGeom>
          <a:solidFill>
            <a:srgbClr val="341A0A"/>
          </a:solidFill>
          <a:ln w="11430">
            <a:solidFill>
              <a:srgbClr val="C64018"/>
            </a:solidFill>
            <a:prstDash val="solid"/>
          </a:ln>
        </p:spPr>
      </p:sp>
      <p:sp>
        <p:nvSpPr>
          <p:cNvPr id="21" name="Shape 19"/>
          <p:cNvSpPr/>
          <p:nvPr/>
        </p:nvSpPr>
        <p:spPr>
          <a:xfrm>
            <a:off x="457200" y="3785616"/>
            <a:ext cx="73152" cy="713232"/>
          </a:xfrm>
          <a:prstGeom prst="rect">
            <a:avLst/>
          </a:prstGeom>
          <a:solidFill>
            <a:srgbClr val="C64018"/>
          </a:solidFill>
          <a:ln w="12700">
            <a:solidFill>
              <a:srgbClr val="C64018"/>
            </a:solidFill>
            <a:prstDash val="solid"/>
          </a:ln>
        </p:spPr>
      </p:sp>
      <p:sp>
        <p:nvSpPr>
          <p:cNvPr id="22" name="Text 20"/>
          <p:cNvSpPr/>
          <p:nvPr/>
        </p:nvSpPr>
        <p:spPr>
          <a:xfrm>
            <a:off x="685800" y="3831336"/>
            <a:ext cx="5029200" cy="347472"/>
          </a:xfrm>
          <a:prstGeom prst="rect">
            <a:avLst/>
          </a:prstGeom>
          <a:noFill/>
          <a:ln/>
        </p:spPr>
        <p:txBody>
          <a:bodyPr wrap="square" lIns="0" tIns="0" rIns="0" bIns="0" rtlCol="0" anchor="ctr"/>
          <a:lstStyle/>
          <a:p>
            <a:pPr indent="0" marL="0">
              <a:buNone/>
            </a:pPr>
            <a:r>
              <a:rPr lang="en-US" sz="1200" b="1" dirty="0">
                <a:solidFill>
                  <a:srgbClr val="FBF0DD"/>
                </a:solidFill>
              </a:rPr>
              <a:t>De'Longhi Eletta Explore</a:t>
            </a:r>
            <a:endParaRPr lang="en-US" sz="1200" dirty="0"/>
          </a:p>
        </p:txBody>
      </p:sp>
      <p:sp>
        <p:nvSpPr>
          <p:cNvPr id="23" name="Text 21"/>
          <p:cNvSpPr/>
          <p:nvPr/>
        </p:nvSpPr>
        <p:spPr>
          <a:xfrm>
            <a:off x="685800" y="4151376"/>
            <a:ext cx="5029200" cy="256032"/>
          </a:xfrm>
          <a:prstGeom prst="rect">
            <a:avLst/>
          </a:prstGeom>
          <a:noFill/>
          <a:ln/>
        </p:spPr>
        <p:txBody>
          <a:bodyPr wrap="square" lIns="0" tIns="0" rIns="0" bIns="0" rtlCol="0" anchor="ctr"/>
          <a:lstStyle/>
          <a:p>
            <a:pPr indent="0" marL="0">
              <a:buNone/>
            </a:pPr>
            <a:r>
              <a:rPr lang="en-US" sz="850" dirty="0">
                <a:solidFill>
                  <a:srgbClr val="9A7050"/>
                </a:solidFill>
              </a:rPr>
              <a:t>WiFi Module  ECAM CPU  CRC-16 SPI-FUJITSU  Binary Protocol</a:t>
            </a:r>
            <a:endParaRPr lang="en-US" sz="850" dirty="0"/>
          </a:p>
        </p:txBody>
      </p:sp>
      <p:sp>
        <p:nvSpPr>
          <p:cNvPr id="24" name="Shape 22"/>
          <p:cNvSpPr/>
          <p:nvPr/>
        </p:nvSpPr>
        <p:spPr>
          <a:xfrm>
            <a:off x="3108960" y="1682496"/>
            <a:ext cx="0" cy="237744"/>
          </a:xfrm>
          <a:prstGeom prst="line">
            <a:avLst/>
          </a:prstGeom>
          <a:noFill/>
          <a:ln w="16510">
            <a:solidFill>
              <a:srgbClr val="D49A14"/>
            </a:solidFill>
            <a:prstDash val="solid"/>
            <a:tailEnd type="arrow"/>
          </a:ln>
        </p:spPr>
      </p:sp>
      <p:sp>
        <p:nvSpPr>
          <p:cNvPr id="25" name="Text 23"/>
          <p:cNvSpPr/>
          <p:nvPr/>
        </p:nvSpPr>
        <p:spPr>
          <a:xfrm>
            <a:off x="3200400" y="1682496"/>
            <a:ext cx="1463040" cy="237744"/>
          </a:xfrm>
          <a:prstGeom prst="rect">
            <a:avLst/>
          </a:prstGeom>
          <a:noFill/>
          <a:ln/>
        </p:spPr>
        <p:txBody>
          <a:bodyPr wrap="square" lIns="0" tIns="0" rIns="0" bIns="0" rtlCol="0" anchor="ctr"/>
          <a:lstStyle/>
          <a:p>
            <a:pPr indent="0" marL="0">
              <a:buNone/>
            </a:pPr>
            <a:r>
              <a:rPr lang="en-US" sz="750" dirty="0">
                <a:solidFill>
                  <a:srgbClr val="9A7050"/>
                </a:solidFill>
              </a:rPr>
              <a:t>MCP Protocol (stdio)</a:t>
            </a:r>
            <a:endParaRPr lang="en-US" sz="750" dirty="0"/>
          </a:p>
        </p:txBody>
      </p:sp>
      <p:sp>
        <p:nvSpPr>
          <p:cNvPr id="26" name="Shape 24"/>
          <p:cNvSpPr/>
          <p:nvPr/>
        </p:nvSpPr>
        <p:spPr>
          <a:xfrm>
            <a:off x="3108960" y="2615184"/>
            <a:ext cx="0" cy="237744"/>
          </a:xfrm>
          <a:prstGeom prst="line">
            <a:avLst/>
          </a:prstGeom>
          <a:noFill/>
          <a:ln w="16510">
            <a:solidFill>
              <a:srgbClr val="D49A14"/>
            </a:solidFill>
            <a:prstDash val="solid"/>
            <a:tailEnd type="arrow"/>
          </a:ln>
        </p:spPr>
      </p:sp>
      <p:sp>
        <p:nvSpPr>
          <p:cNvPr id="27" name="Text 25"/>
          <p:cNvSpPr/>
          <p:nvPr/>
        </p:nvSpPr>
        <p:spPr>
          <a:xfrm>
            <a:off x="3200400" y="2615184"/>
            <a:ext cx="1463040" cy="237744"/>
          </a:xfrm>
          <a:prstGeom prst="rect">
            <a:avLst/>
          </a:prstGeom>
          <a:noFill/>
          <a:ln/>
        </p:spPr>
        <p:txBody>
          <a:bodyPr wrap="square" lIns="0" tIns="0" rIns="0" bIns="0" rtlCol="0" anchor="ctr"/>
          <a:lstStyle/>
          <a:p>
            <a:pPr indent="0" marL="0">
              <a:buNone/>
            </a:pPr>
            <a:r>
              <a:rPr lang="en-US" sz="750" dirty="0">
                <a:solidFill>
                  <a:srgbClr val="9A7050"/>
                </a:solidFill>
              </a:rPr>
              <a:t>HTTPS REST API</a:t>
            </a:r>
            <a:endParaRPr lang="en-US" sz="750" dirty="0"/>
          </a:p>
        </p:txBody>
      </p:sp>
      <p:sp>
        <p:nvSpPr>
          <p:cNvPr id="28" name="Shape 26"/>
          <p:cNvSpPr/>
          <p:nvPr/>
        </p:nvSpPr>
        <p:spPr>
          <a:xfrm>
            <a:off x="3108960" y="3547872"/>
            <a:ext cx="0" cy="237744"/>
          </a:xfrm>
          <a:prstGeom prst="line">
            <a:avLst/>
          </a:prstGeom>
          <a:noFill/>
          <a:ln w="16510">
            <a:solidFill>
              <a:srgbClr val="D49A14"/>
            </a:solidFill>
            <a:prstDash val="solid"/>
            <a:tailEnd type="arrow"/>
          </a:ln>
        </p:spPr>
      </p:sp>
      <p:sp>
        <p:nvSpPr>
          <p:cNvPr id="29" name="Text 27"/>
          <p:cNvSpPr/>
          <p:nvPr/>
        </p:nvSpPr>
        <p:spPr>
          <a:xfrm>
            <a:off x="3200400" y="3547872"/>
            <a:ext cx="1463040" cy="237744"/>
          </a:xfrm>
          <a:prstGeom prst="rect">
            <a:avLst/>
          </a:prstGeom>
          <a:noFill/>
          <a:ln/>
        </p:spPr>
        <p:txBody>
          <a:bodyPr wrap="square" lIns="0" tIns="0" rIns="0" bIns="0" rtlCol="0" anchor="ctr"/>
          <a:lstStyle/>
          <a:p>
            <a:pPr indent="0" marL="0">
              <a:buNone/>
            </a:pPr>
            <a:r>
              <a:rPr lang="en-US" sz="750" dirty="0">
                <a:solidFill>
                  <a:srgbClr val="9A7050"/>
                </a:solidFill>
              </a:rPr>
              <a:t>Base64 ECAM packets</a:t>
            </a:r>
            <a:endParaRPr lang="en-US" sz="750" dirty="0"/>
          </a:p>
        </p:txBody>
      </p:sp>
      <p:sp>
        <p:nvSpPr>
          <p:cNvPr id="30" name="Shape 28"/>
          <p:cNvSpPr/>
          <p:nvPr/>
        </p:nvSpPr>
        <p:spPr>
          <a:xfrm>
            <a:off x="6080760" y="1060704"/>
            <a:ext cx="2788920" cy="530352"/>
          </a:xfrm>
          <a:prstGeom prst="rect">
            <a:avLst/>
          </a:prstGeom>
          <a:solidFill>
            <a:srgbClr val="281508"/>
          </a:solidFill>
          <a:ln w="6350">
            <a:solidFill>
              <a:srgbClr val="1A72B8"/>
            </a:solidFill>
            <a:prstDash val="solid"/>
          </a:ln>
        </p:spPr>
      </p:sp>
      <p:sp>
        <p:nvSpPr>
          <p:cNvPr id="31" name="Text 29"/>
          <p:cNvSpPr/>
          <p:nvPr/>
        </p:nvSpPr>
        <p:spPr>
          <a:xfrm>
            <a:off x="6080760" y="1060704"/>
            <a:ext cx="2788920" cy="548640"/>
          </a:xfrm>
          <a:prstGeom prst="rect">
            <a:avLst/>
          </a:prstGeom>
          <a:noFill/>
          <a:ln/>
        </p:spPr>
        <p:txBody>
          <a:bodyPr wrap="square" lIns="0" tIns="0" rIns="0" bIns="0" rtlCol="0" anchor="ctr"/>
          <a:lstStyle/>
          <a:p>
            <a:pPr algn="ctr" indent="0" marL="0">
              <a:buNone/>
            </a:pPr>
            <a:r>
              <a:rPr lang="en-US" sz="1000" dirty="0">
                <a:solidFill>
                  <a:srgbClr val="1A72B8"/>
                </a:solidFill>
              </a:rPr>
              <a:t>JSON-RPC 2.0</a:t>
            </a:r>
            <a:endParaRPr lang="en-US" sz="1000" dirty="0"/>
          </a:p>
          <a:p>
            <a:pPr algn="ctr" indent="0" marL="0">
              <a:buNone/>
            </a:pPr>
            <a:r>
              <a:rPr lang="en-US" sz="1000" dirty="0">
                <a:solidFill>
                  <a:srgbClr val="1A72B8"/>
                </a:solidFill>
              </a:rPr>
              <a:t>tool calls</a:t>
            </a:r>
            <a:endParaRPr lang="en-US" sz="1000" dirty="0"/>
          </a:p>
        </p:txBody>
      </p:sp>
      <p:sp>
        <p:nvSpPr>
          <p:cNvPr id="32" name="Shape 30"/>
          <p:cNvSpPr/>
          <p:nvPr/>
        </p:nvSpPr>
        <p:spPr>
          <a:xfrm>
            <a:off x="6080760" y="1993392"/>
            <a:ext cx="2788920" cy="530352"/>
          </a:xfrm>
          <a:prstGeom prst="rect">
            <a:avLst/>
          </a:prstGeom>
          <a:solidFill>
            <a:srgbClr val="281508"/>
          </a:solidFill>
          <a:ln w="6350">
            <a:solidFill>
              <a:srgbClr val="178A52"/>
            </a:solidFill>
            <a:prstDash val="solid"/>
          </a:ln>
        </p:spPr>
      </p:sp>
      <p:sp>
        <p:nvSpPr>
          <p:cNvPr id="33" name="Text 31"/>
          <p:cNvSpPr/>
          <p:nvPr/>
        </p:nvSpPr>
        <p:spPr>
          <a:xfrm>
            <a:off x="6080760" y="1993392"/>
            <a:ext cx="2788920" cy="548640"/>
          </a:xfrm>
          <a:prstGeom prst="rect">
            <a:avLst/>
          </a:prstGeom>
          <a:noFill/>
          <a:ln/>
        </p:spPr>
        <p:txBody>
          <a:bodyPr wrap="square" lIns="0" tIns="0" rIns="0" bIns="0" rtlCol="0" anchor="ctr"/>
          <a:lstStyle/>
          <a:p>
            <a:pPr algn="ctr" indent="0" marL="0">
              <a:buNone/>
            </a:pPr>
            <a:r>
              <a:rPr lang="en-US" sz="1000" dirty="0">
                <a:solidFill>
                  <a:srgbClr val="178A52"/>
                </a:solidFill>
              </a:rPr>
              <a:t>C# DI</a:t>
            </a:r>
            <a:endParaRPr lang="en-US" sz="1000" dirty="0"/>
          </a:p>
          <a:p>
            <a:pPr algn="ctr" indent="0" marL="0">
              <a:buNone/>
            </a:pPr>
            <a:r>
              <a:rPr lang="en-US" sz="1000" dirty="0">
                <a:solidFill>
                  <a:srgbClr val="178A52"/>
                </a:solidFill>
              </a:rPr>
              <a:t>HttpClient</a:t>
            </a:r>
            <a:endParaRPr lang="en-US" sz="1000" dirty="0"/>
          </a:p>
        </p:txBody>
      </p:sp>
      <p:sp>
        <p:nvSpPr>
          <p:cNvPr id="34" name="Shape 32"/>
          <p:cNvSpPr/>
          <p:nvPr/>
        </p:nvSpPr>
        <p:spPr>
          <a:xfrm>
            <a:off x="6080760" y="2926080"/>
            <a:ext cx="2788920" cy="530352"/>
          </a:xfrm>
          <a:prstGeom prst="rect">
            <a:avLst/>
          </a:prstGeom>
          <a:solidFill>
            <a:srgbClr val="281508"/>
          </a:solidFill>
          <a:ln w="6350">
            <a:solidFill>
              <a:srgbClr val="7B3A7A"/>
            </a:solidFill>
            <a:prstDash val="solid"/>
          </a:ln>
        </p:spPr>
      </p:sp>
      <p:sp>
        <p:nvSpPr>
          <p:cNvPr id="35" name="Text 33"/>
          <p:cNvSpPr/>
          <p:nvPr/>
        </p:nvSpPr>
        <p:spPr>
          <a:xfrm>
            <a:off x="6080760" y="2926080"/>
            <a:ext cx="2788920" cy="548640"/>
          </a:xfrm>
          <a:prstGeom prst="rect">
            <a:avLst/>
          </a:prstGeom>
          <a:noFill/>
          <a:ln/>
        </p:spPr>
        <p:txBody>
          <a:bodyPr wrap="square" lIns="0" tIns="0" rIns="0" bIns="0" rtlCol="0" anchor="ctr"/>
          <a:lstStyle/>
          <a:p>
            <a:pPr algn="ctr" indent="0" marL="0">
              <a:buNone/>
            </a:pPr>
            <a:r>
              <a:rPr lang="en-US" sz="1000" dirty="0">
                <a:solidFill>
                  <a:srgbClr val="7B3A7A"/>
                </a:solidFill>
              </a:rPr>
              <a:t>Gigya EU1</a:t>
            </a:r>
            <a:endParaRPr lang="en-US" sz="1000" dirty="0"/>
          </a:p>
          <a:p>
            <a:pPr algn="ctr" indent="0" marL="0">
              <a:buNone/>
            </a:pPr>
            <a:r>
              <a:rPr lang="en-US" sz="1000" dirty="0">
                <a:solidFill>
                  <a:srgbClr val="7B3A7A"/>
                </a:solidFill>
              </a:rPr>
              <a:t>-&gt; JWT token</a:t>
            </a:r>
            <a:endParaRPr lang="en-US" sz="1000" dirty="0"/>
          </a:p>
        </p:txBody>
      </p:sp>
      <p:sp>
        <p:nvSpPr>
          <p:cNvPr id="36" name="Shape 34"/>
          <p:cNvSpPr/>
          <p:nvPr/>
        </p:nvSpPr>
        <p:spPr>
          <a:xfrm>
            <a:off x="6080760" y="3858768"/>
            <a:ext cx="2788920" cy="566928"/>
          </a:xfrm>
          <a:prstGeom prst="rect">
            <a:avLst/>
          </a:prstGeom>
          <a:solidFill>
            <a:srgbClr val="281508"/>
          </a:solidFill>
          <a:ln w="6350">
            <a:solidFill>
              <a:srgbClr val="C64018"/>
            </a:solidFill>
            <a:prstDash val="solid"/>
          </a:ln>
        </p:spPr>
      </p:sp>
      <p:sp>
        <p:nvSpPr>
          <p:cNvPr id="37" name="Text 35"/>
          <p:cNvSpPr/>
          <p:nvPr/>
        </p:nvSpPr>
        <p:spPr>
          <a:xfrm>
            <a:off x="6080760" y="3858768"/>
            <a:ext cx="2788920" cy="548640"/>
          </a:xfrm>
          <a:prstGeom prst="rect">
            <a:avLst/>
          </a:prstGeom>
          <a:noFill/>
          <a:ln/>
        </p:spPr>
        <p:txBody>
          <a:bodyPr wrap="square" lIns="0" tIns="0" rIns="0" bIns="0" rtlCol="0" anchor="ctr"/>
          <a:lstStyle/>
          <a:p>
            <a:pPr algn="ctr" indent="0" marL="0">
              <a:buNone/>
            </a:pPr>
            <a:r>
              <a:rPr lang="en-US" sz="1000" dirty="0">
                <a:solidFill>
                  <a:srgbClr val="C64018"/>
                </a:solidFill>
              </a:rPr>
              <a:t>cmd 0x83</a:t>
            </a:r>
            <a:endParaRPr lang="en-US" sz="1000" dirty="0"/>
          </a:p>
          <a:p>
            <a:pPr algn="ctr" indent="0" marL="0">
              <a:buNone/>
            </a:pPr>
            <a:r>
              <a:rPr lang="en-US" sz="1000" dirty="0">
                <a:solidFill>
                  <a:srgbClr val="C64018"/>
                </a:solidFill>
              </a:rPr>
              <a:t>+ CRC-16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Les outils MCP exposes</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IMPLEMENTATION</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12 / 16</a:t>
            </a:r>
            <a:endParaRPr lang="en-US" sz="750" dirty="0"/>
          </a:p>
        </p:txBody>
      </p:sp>
      <p:sp>
        <p:nvSpPr>
          <p:cNvPr id="8" name="Shape 6"/>
          <p:cNvSpPr/>
          <p:nvPr/>
        </p:nvSpPr>
        <p:spPr>
          <a:xfrm>
            <a:off x="384048" y="960120"/>
            <a:ext cx="1197864" cy="685800"/>
          </a:xfrm>
          <a:prstGeom prst="rect">
            <a:avLst/>
          </a:prstGeom>
          <a:solidFill>
            <a:srgbClr val="341A0A"/>
          </a:solidFill>
          <a:ln w="5080">
            <a:solidFill>
              <a:srgbClr val="178A52"/>
            </a:solidFill>
            <a:prstDash val="solid"/>
          </a:ln>
        </p:spPr>
      </p:sp>
      <p:sp>
        <p:nvSpPr>
          <p:cNvPr id="9" name="Text 7"/>
          <p:cNvSpPr/>
          <p:nvPr/>
        </p:nvSpPr>
        <p:spPr>
          <a:xfrm>
            <a:off x="384048" y="960120"/>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get_machine_status</a:t>
            </a:r>
            <a:endParaRPr lang="en-US" sz="750" dirty="0"/>
          </a:p>
          <a:p>
            <a:pPr algn="ctr" indent="0" marL="0">
              <a:buNone/>
            </a:pPr>
            <a:r>
              <a:rPr lang="en-US" sz="750" dirty="0">
                <a:solidFill>
                  <a:srgbClr val="178A52"/>
                </a:solidFill>
              </a:rPr>
              <a:t>Status</a:t>
            </a:r>
            <a:endParaRPr lang="en-US" sz="750" dirty="0"/>
          </a:p>
        </p:txBody>
      </p:sp>
      <p:sp>
        <p:nvSpPr>
          <p:cNvPr id="10" name="Shape 8"/>
          <p:cNvSpPr/>
          <p:nvPr/>
        </p:nvSpPr>
        <p:spPr>
          <a:xfrm>
            <a:off x="1609344" y="960120"/>
            <a:ext cx="1197864" cy="685800"/>
          </a:xfrm>
          <a:prstGeom prst="rect">
            <a:avLst/>
          </a:prstGeom>
          <a:solidFill>
            <a:srgbClr val="341A0A"/>
          </a:solidFill>
          <a:ln w="5080">
            <a:solidFill>
              <a:srgbClr val="178A52"/>
            </a:solidFill>
            <a:prstDash val="solid"/>
          </a:ln>
        </p:spPr>
      </p:sp>
      <p:sp>
        <p:nvSpPr>
          <p:cNvPr id="11" name="Text 9"/>
          <p:cNvSpPr/>
          <p:nvPr/>
        </p:nvSpPr>
        <p:spPr>
          <a:xfrm>
            <a:off x="1609344" y="960120"/>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get_maintenance_info</a:t>
            </a:r>
            <a:endParaRPr lang="en-US" sz="750" dirty="0"/>
          </a:p>
          <a:p>
            <a:pPr algn="ctr" indent="0" marL="0">
              <a:buNone/>
            </a:pPr>
            <a:r>
              <a:rPr lang="en-US" sz="750" dirty="0">
                <a:solidFill>
                  <a:srgbClr val="178A52"/>
                </a:solidFill>
              </a:rPr>
              <a:t>Status</a:t>
            </a:r>
            <a:endParaRPr lang="en-US" sz="750" dirty="0"/>
          </a:p>
        </p:txBody>
      </p:sp>
      <p:sp>
        <p:nvSpPr>
          <p:cNvPr id="12" name="Shape 10"/>
          <p:cNvSpPr/>
          <p:nvPr/>
        </p:nvSpPr>
        <p:spPr>
          <a:xfrm>
            <a:off x="2834640" y="960120"/>
            <a:ext cx="1197864" cy="685800"/>
          </a:xfrm>
          <a:prstGeom prst="rect">
            <a:avLst/>
          </a:prstGeom>
          <a:solidFill>
            <a:srgbClr val="341A0A"/>
          </a:solidFill>
          <a:ln w="5080">
            <a:solidFill>
              <a:srgbClr val="178A52"/>
            </a:solidFill>
            <a:prstDash val="solid"/>
          </a:ln>
        </p:spPr>
      </p:sp>
      <p:sp>
        <p:nvSpPr>
          <p:cNvPr id="13" name="Text 11"/>
          <p:cNvSpPr/>
          <p:nvPr/>
        </p:nvSpPr>
        <p:spPr>
          <a:xfrm>
            <a:off x="2834640" y="960120"/>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get_beverage_counters</a:t>
            </a:r>
            <a:endParaRPr lang="en-US" sz="750" dirty="0"/>
          </a:p>
          <a:p>
            <a:pPr algn="ctr" indent="0" marL="0">
              <a:buNone/>
            </a:pPr>
            <a:r>
              <a:rPr lang="en-US" sz="750" dirty="0">
                <a:solidFill>
                  <a:srgbClr val="178A52"/>
                </a:solidFill>
              </a:rPr>
              <a:t>Status</a:t>
            </a:r>
            <a:endParaRPr lang="en-US" sz="750" dirty="0"/>
          </a:p>
        </p:txBody>
      </p:sp>
      <p:sp>
        <p:nvSpPr>
          <p:cNvPr id="14" name="Shape 12"/>
          <p:cNvSpPr/>
          <p:nvPr/>
        </p:nvSpPr>
        <p:spPr>
          <a:xfrm>
            <a:off x="4059936" y="960120"/>
            <a:ext cx="1197864" cy="685800"/>
          </a:xfrm>
          <a:prstGeom prst="rect">
            <a:avLst/>
          </a:prstGeom>
          <a:solidFill>
            <a:srgbClr val="341A0A"/>
          </a:solidFill>
          <a:ln w="5080">
            <a:solidFill>
              <a:srgbClr val="178A52"/>
            </a:solidFill>
            <a:prstDash val="solid"/>
          </a:ln>
        </p:spPr>
      </p:sp>
      <p:sp>
        <p:nvSpPr>
          <p:cNvPr id="15" name="Text 13"/>
          <p:cNvSpPr/>
          <p:nvPr/>
        </p:nvSpPr>
        <p:spPr>
          <a:xfrm>
            <a:off x="4059936" y="960120"/>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get_profiles</a:t>
            </a:r>
            <a:endParaRPr lang="en-US" sz="750" dirty="0"/>
          </a:p>
          <a:p>
            <a:pPr algn="ctr" indent="0" marL="0">
              <a:buNone/>
            </a:pPr>
            <a:r>
              <a:rPr lang="en-US" sz="750" dirty="0">
                <a:solidFill>
                  <a:srgbClr val="178A52"/>
                </a:solidFill>
              </a:rPr>
              <a:t>Status</a:t>
            </a:r>
            <a:endParaRPr lang="en-US" sz="750" dirty="0"/>
          </a:p>
        </p:txBody>
      </p:sp>
      <p:sp>
        <p:nvSpPr>
          <p:cNvPr id="16" name="Shape 14"/>
          <p:cNvSpPr/>
          <p:nvPr/>
        </p:nvSpPr>
        <p:spPr>
          <a:xfrm>
            <a:off x="5285232" y="960120"/>
            <a:ext cx="1197864" cy="685800"/>
          </a:xfrm>
          <a:prstGeom prst="rect">
            <a:avLst/>
          </a:prstGeom>
          <a:solidFill>
            <a:srgbClr val="341A0A"/>
          </a:solidFill>
          <a:ln w="13970">
            <a:solidFill>
              <a:srgbClr val="D49A14"/>
            </a:solidFill>
            <a:prstDash val="solid"/>
          </a:ln>
        </p:spPr>
      </p:sp>
      <p:sp>
        <p:nvSpPr>
          <p:cNvPr id="17" name="Shape 15"/>
          <p:cNvSpPr/>
          <p:nvPr/>
        </p:nvSpPr>
        <p:spPr>
          <a:xfrm>
            <a:off x="5285232" y="960120"/>
            <a:ext cx="1197864" cy="64008"/>
          </a:xfrm>
          <a:prstGeom prst="rect">
            <a:avLst/>
          </a:prstGeom>
          <a:solidFill>
            <a:srgbClr val="D49A14"/>
          </a:solidFill>
          <a:ln w="12700">
            <a:solidFill>
              <a:srgbClr val="D49A14"/>
            </a:solidFill>
            <a:prstDash val="solid"/>
          </a:ln>
        </p:spPr>
      </p:sp>
      <p:sp>
        <p:nvSpPr>
          <p:cNvPr id="18" name="Text 16"/>
          <p:cNvSpPr/>
          <p:nvPr/>
        </p:nvSpPr>
        <p:spPr>
          <a:xfrm>
            <a:off x="5285232" y="960120"/>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get_device_info</a:t>
            </a:r>
            <a:endParaRPr lang="en-US" sz="750" dirty="0"/>
          </a:p>
          <a:p>
            <a:pPr algn="ctr" indent="0" marL="0">
              <a:buNone/>
            </a:pPr>
            <a:r>
              <a:rPr lang="en-US" sz="750" dirty="0">
                <a:solidFill>
                  <a:srgbClr val="D49A14"/>
                </a:solidFill>
              </a:rPr>
              <a:t>Status NEW</a:t>
            </a:r>
            <a:endParaRPr lang="en-US" sz="750" dirty="0"/>
          </a:p>
        </p:txBody>
      </p:sp>
      <p:sp>
        <p:nvSpPr>
          <p:cNvPr id="19" name="Shape 17"/>
          <p:cNvSpPr/>
          <p:nvPr/>
        </p:nvSpPr>
        <p:spPr>
          <a:xfrm>
            <a:off x="6510528" y="960120"/>
            <a:ext cx="1197864" cy="685800"/>
          </a:xfrm>
          <a:prstGeom prst="rect">
            <a:avLst/>
          </a:prstGeom>
          <a:solidFill>
            <a:srgbClr val="341A0A"/>
          </a:solidFill>
          <a:ln w="13970">
            <a:solidFill>
              <a:srgbClr val="D49A14"/>
            </a:solidFill>
            <a:prstDash val="solid"/>
          </a:ln>
        </p:spPr>
      </p:sp>
      <p:sp>
        <p:nvSpPr>
          <p:cNvPr id="20" name="Shape 18"/>
          <p:cNvSpPr/>
          <p:nvPr/>
        </p:nvSpPr>
        <p:spPr>
          <a:xfrm>
            <a:off x="6510528" y="960120"/>
            <a:ext cx="1197864" cy="64008"/>
          </a:xfrm>
          <a:prstGeom prst="rect">
            <a:avLst/>
          </a:prstGeom>
          <a:solidFill>
            <a:srgbClr val="D49A14"/>
          </a:solidFill>
          <a:ln w="12700">
            <a:solidFill>
              <a:srgbClr val="D49A14"/>
            </a:solidFill>
            <a:prstDash val="solid"/>
          </a:ln>
        </p:spPr>
      </p:sp>
      <p:sp>
        <p:nvSpPr>
          <p:cNvPr id="21" name="Text 19"/>
          <p:cNvSpPr/>
          <p:nvPr/>
        </p:nvSpPr>
        <p:spPr>
          <a:xfrm>
            <a:off x="6510528" y="960120"/>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get_machine_settings</a:t>
            </a:r>
            <a:endParaRPr lang="en-US" sz="750" dirty="0"/>
          </a:p>
          <a:p>
            <a:pPr algn="ctr" indent="0" marL="0">
              <a:buNone/>
            </a:pPr>
            <a:r>
              <a:rPr lang="en-US" sz="750" dirty="0">
                <a:solidFill>
                  <a:srgbClr val="D49A14"/>
                </a:solidFill>
              </a:rPr>
              <a:t>Status NEW</a:t>
            </a:r>
            <a:endParaRPr lang="en-US" sz="750" dirty="0"/>
          </a:p>
        </p:txBody>
      </p:sp>
      <p:sp>
        <p:nvSpPr>
          <p:cNvPr id="22" name="Shape 20"/>
          <p:cNvSpPr/>
          <p:nvPr/>
        </p:nvSpPr>
        <p:spPr>
          <a:xfrm>
            <a:off x="7735824" y="960120"/>
            <a:ext cx="1197864" cy="685800"/>
          </a:xfrm>
          <a:prstGeom prst="rect">
            <a:avLst/>
          </a:prstGeom>
          <a:solidFill>
            <a:srgbClr val="341A0A"/>
          </a:solidFill>
          <a:ln w="5080">
            <a:solidFill>
              <a:srgbClr val="9A7050"/>
            </a:solidFill>
            <a:prstDash val="solid"/>
          </a:ln>
        </p:spPr>
      </p:sp>
      <p:sp>
        <p:nvSpPr>
          <p:cNvPr id="23" name="Text 21"/>
          <p:cNvSpPr/>
          <p:nvPr/>
        </p:nvSpPr>
        <p:spPr>
          <a:xfrm>
            <a:off x="7735824" y="960120"/>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get_raw_properties</a:t>
            </a:r>
            <a:endParaRPr lang="en-US" sz="750" dirty="0"/>
          </a:p>
          <a:p>
            <a:pPr algn="ctr" indent="0" marL="0">
              <a:buNone/>
            </a:pPr>
            <a:r>
              <a:rPr lang="en-US" sz="750" dirty="0">
                <a:solidFill>
                  <a:srgbClr val="9A7050"/>
                </a:solidFill>
              </a:rPr>
              <a:t>Debug</a:t>
            </a:r>
            <a:endParaRPr lang="en-US" sz="750" dirty="0"/>
          </a:p>
        </p:txBody>
      </p:sp>
      <p:sp>
        <p:nvSpPr>
          <p:cNvPr id="24" name="Shape 22"/>
          <p:cNvSpPr/>
          <p:nvPr/>
        </p:nvSpPr>
        <p:spPr>
          <a:xfrm>
            <a:off x="384048" y="1810512"/>
            <a:ext cx="1197864" cy="685800"/>
          </a:xfrm>
          <a:prstGeom prst="rect">
            <a:avLst/>
          </a:prstGeom>
          <a:solidFill>
            <a:srgbClr val="341A0A"/>
          </a:solidFill>
          <a:ln w="5080">
            <a:solidFill>
              <a:srgbClr val="1A72B8"/>
            </a:solidFill>
            <a:prstDash val="solid"/>
          </a:ln>
        </p:spPr>
      </p:sp>
      <p:sp>
        <p:nvSpPr>
          <p:cNvPr id="25" name="Text 23"/>
          <p:cNvSpPr/>
          <p:nvPr/>
        </p:nvSpPr>
        <p:spPr>
          <a:xfrm>
            <a:off x="384048" y="1810512"/>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get_beverages</a:t>
            </a:r>
            <a:endParaRPr lang="en-US" sz="750" dirty="0"/>
          </a:p>
          <a:p>
            <a:pPr algn="ctr" indent="0" marL="0">
              <a:buNone/>
            </a:pPr>
            <a:r>
              <a:rPr lang="en-US" sz="750" dirty="0">
                <a:solidFill>
                  <a:srgbClr val="1A72B8"/>
                </a:solidFill>
              </a:rPr>
              <a:t>Brew</a:t>
            </a:r>
            <a:endParaRPr lang="en-US" sz="750" dirty="0"/>
          </a:p>
        </p:txBody>
      </p:sp>
      <p:sp>
        <p:nvSpPr>
          <p:cNvPr id="26" name="Shape 24"/>
          <p:cNvSpPr/>
          <p:nvPr/>
        </p:nvSpPr>
        <p:spPr>
          <a:xfrm>
            <a:off x="1609344" y="1810512"/>
            <a:ext cx="1197864" cy="685800"/>
          </a:xfrm>
          <a:prstGeom prst="rect">
            <a:avLst/>
          </a:prstGeom>
          <a:solidFill>
            <a:srgbClr val="341A0A"/>
          </a:solidFill>
          <a:ln w="5080">
            <a:solidFill>
              <a:srgbClr val="1A72B8"/>
            </a:solidFill>
            <a:prstDash val="solid"/>
          </a:ln>
        </p:spPr>
      </p:sp>
      <p:sp>
        <p:nvSpPr>
          <p:cNvPr id="27" name="Text 25"/>
          <p:cNvSpPr/>
          <p:nvPr/>
        </p:nvSpPr>
        <p:spPr>
          <a:xfrm>
            <a:off x="1609344" y="1810512"/>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brew_beverage</a:t>
            </a:r>
            <a:endParaRPr lang="en-US" sz="750" dirty="0"/>
          </a:p>
          <a:p>
            <a:pPr algn="ctr" indent="0" marL="0">
              <a:buNone/>
            </a:pPr>
            <a:r>
              <a:rPr lang="en-US" sz="750" dirty="0">
                <a:solidFill>
                  <a:srgbClr val="1A72B8"/>
                </a:solidFill>
              </a:rPr>
              <a:t>Brew</a:t>
            </a:r>
            <a:endParaRPr lang="en-US" sz="750" dirty="0"/>
          </a:p>
        </p:txBody>
      </p:sp>
      <p:sp>
        <p:nvSpPr>
          <p:cNvPr id="28" name="Shape 26"/>
          <p:cNvSpPr/>
          <p:nvPr/>
        </p:nvSpPr>
        <p:spPr>
          <a:xfrm>
            <a:off x="2834640" y="1810512"/>
            <a:ext cx="1197864" cy="685800"/>
          </a:xfrm>
          <a:prstGeom prst="rect">
            <a:avLst/>
          </a:prstGeom>
          <a:solidFill>
            <a:srgbClr val="341A0A"/>
          </a:solidFill>
          <a:ln w="5080">
            <a:solidFill>
              <a:srgbClr val="1A72B8"/>
            </a:solidFill>
            <a:prstDash val="solid"/>
          </a:ln>
        </p:spPr>
      </p:sp>
      <p:sp>
        <p:nvSpPr>
          <p:cNvPr id="29" name="Text 27"/>
          <p:cNvSpPr/>
          <p:nvPr/>
        </p:nvSpPr>
        <p:spPr>
          <a:xfrm>
            <a:off x="2834640" y="1810512"/>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stop_beverage</a:t>
            </a:r>
            <a:endParaRPr lang="en-US" sz="750" dirty="0"/>
          </a:p>
          <a:p>
            <a:pPr algn="ctr" indent="0" marL="0">
              <a:buNone/>
            </a:pPr>
            <a:r>
              <a:rPr lang="en-US" sz="750" dirty="0">
                <a:solidFill>
                  <a:srgbClr val="1A72B8"/>
                </a:solidFill>
              </a:rPr>
              <a:t>Brew</a:t>
            </a:r>
            <a:endParaRPr lang="en-US" sz="750" dirty="0"/>
          </a:p>
        </p:txBody>
      </p:sp>
      <p:sp>
        <p:nvSpPr>
          <p:cNvPr id="30" name="Shape 28"/>
          <p:cNvSpPr/>
          <p:nvPr/>
        </p:nvSpPr>
        <p:spPr>
          <a:xfrm>
            <a:off x="4059936" y="1810512"/>
            <a:ext cx="1197864" cy="685800"/>
          </a:xfrm>
          <a:prstGeom prst="rect">
            <a:avLst/>
          </a:prstGeom>
          <a:solidFill>
            <a:srgbClr val="341A0A"/>
          </a:solidFill>
          <a:ln w="13970">
            <a:solidFill>
              <a:srgbClr val="D49A14"/>
            </a:solidFill>
            <a:prstDash val="solid"/>
          </a:ln>
        </p:spPr>
      </p:sp>
      <p:sp>
        <p:nvSpPr>
          <p:cNvPr id="31" name="Shape 29"/>
          <p:cNvSpPr/>
          <p:nvPr/>
        </p:nvSpPr>
        <p:spPr>
          <a:xfrm>
            <a:off x="4059936" y="1810512"/>
            <a:ext cx="1197864" cy="64008"/>
          </a:xfrm>
          <a:prstGeom prst="rect">
            <a:avLst/>
          </a:prstGeom>
          <a:solidFill>
            <a:srgbClr val="D49A14"/>
          </a:solidFill>
          <a:ln w="12700">
            <a:solidFill>
              <a:srgbClr val="D49A14"/>
            </a:solidFill>
            <a:prstDash val="solid"/>
          </a:ln>
        </p:spPr>
      </p:sp>
      <p:sp>
        <p:nvSpPr>
          <p:cNvPr id="32" name="Text 30"/>
          <p:cNvSpPr/>
          <p:nvPr/>
        </p:nvSpPr>
        <p:spPr>
          <a:xfrm>
            <a:off x="4059936" y="1810512"/>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get_beverage_recipe</a:t>
            </a:r>
            <a:endParaRPr lang="en-US" sz="750" dirty="0"/>
          </a:p>
          <a:p>
            <a:pPr algn="ctr" indent="0" marL="0">
              <a:buNone/>
            </a:pPr>
            <a:r>
              <a:rPr lang="en-US" sz="750" dirty="0">
                <a:solidFill>
                  <a:srgbClr val="D49A14"/>
                </a:solidFill>
              </a:rPr>
              <a:t>Brew NEW</a:t>
            </a:r>
            <a:endParaRPr lang="en-US" sz="750" dirty="0"/>
          </a:p>
        </p:txBody>
      </p:sp>
      <p:sp>
        <p:nvSpPr>
          <p:cNvPr id="33" name="Shape 31"/>
          <p:cNvSpPr/>
          <p:nvPr/>
        </p:nvSpPr>
        <p:spPr>
          <a:xfrm>
            <a:off x="5285232" y="1810512"/>
            <a:ext cx="1197864" cy="685800"/>
          </a:xfrm>
          <a:prstGeom prst="rect">
            <a:avLst/>
          </a:prstGeom>
          <a:solidFill>
            <a:srgbClr val="341A0A"/>
          </a:solidFill>
          <a:ln w="5080">
            <a:solidFill>
              <a:srgbClr val="C64018"/>
            </a:solidFill>
            <a:prstDash val="solid"/>
          </a:ln>
        </p:spPr>
      </p:sp>
      <p:sp>
        <p:nvSpPr>
          <p:cNvPr id="34" name="Text 32"/>
          <p:cNvSpPr/>
          <p:nvPr/>
        </p:nvSpPr>
        <p:spPr>
          <a:xfrm>
            <a:off x="5285232" y="1810512"/>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power_on</a:t>
            </a:r>
            <a:endParaRPr lang="en-US" sz="750" dirty="0"/>
          </a:p>
          <a:p>
            <a:pPr algn="ctr" indent="0" marL="0">
              <a:buNone/>
            </a:pPr>
            <a:r>
              <a:rPr lang="en-US" sz="750" dirty="0">
                <a:solidFill>
                  <a:srgbClr val="C64018"/>
                </a:solidFill>
              </a:rPr>
              <a:t>Machine</a:t>
            </a:r>
            <a:endParaRPr lang="en-US" sz="750" dirty="0"/>
          </a:p>
        </p:txBody>
      </p:sp>
      <p:sp>
        <p:nvSpPr>
          <p:cNvPr id="35" name="Shape 33"/>
          <p:cNvSpPr/>
          <p:nvPr/>
        </p:nvSpPr>
        <p:spPr>
          <a:xfrm>
            <a:off x="6510528" y="1810512"/>
            <a:ext cx="1197864" cy="685800"/>
          </a:xfrm>
          <a:prstGeom prst="rect">
            <a:avLst/>
          </a:prstGeom>
          <a:solidFill>
            <a:srgbClr val="341A0A"/>
          </a:solidFill>
          <a:ln w="5080">
            <a:solidFill>
              <a:srgbClr val="C64018"/>
            </a:solidFill>
            <a:prstDash val="solid"/>
          </a:ln>
        </p:spPr>
      </p:sp>
      <p:sp>
        <p:nvSpPr>
          <p:cNvPr id="36" name="Text 34"/>
          <p:cNvSpPr/>
          <p:nvPr/>
        </p:nvSpPr>
        <p:spPr>
          <a:xfrm>
            <a:off x="6510528" y="1810512"/>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power_off</a:t>
            </a:r>
            <a:endParaRPr lang="en-US" sz="750" dirty="0"/>
          </a:p>
          <a:p>
            <a:pPr algn="ctr" indent="0" marL="0">
              <a:buNone/>
            </a:pPr>
            <a:r>
              <a:rPr lang="en-US" sz="750" dirty="0">
                <a:solidFill>
                  <a:srgbClr val="C64018"/>
                </a:solidFill>
              </a:rPr>
              <a:t>Machine</a:t>
            </a:r>
            <a:endParaRPr lang="en-US" sz="750" dirty="0"/>
          </a:p>
        </p:txBody>
      </p:sp>
      <p:sp>
        <p:nvSpPr>
          <p:cNvPr id="37" name="Shape 35"/>
          <p:cNvSpPr/>
          <p:nvPr/>
        </p:nvSpPr>
        <p:spPr>
          <a:xfrm>
            <a:off x="7735824" y="1810512"/>
            <a:ext cx="1197864" cy="685800"/>
          </a:xfrm>
          <a:prstGeom prst="rect">
            <a:avLst/>
          </a:prstGeom>
          <a:solidFill>
            <a:srgbClr val="341A0A"/>
          </a:solidFill>
          <a:ln w="13970">
            <a:solidFill>
              <a:srgbClr val="D49A14"/>
            </a:solidFill>
            <a:prstDash val="solid"/>
          </a:ln>
        </p:spPr>
      </p:sp>
      <p:sp>
        <p:nvSpPr>
          <p:cNvPr id="38" name="Shape 36"/>
          <p:cNvSpPr/>
          <p:nvPr/>
        </p:nvSpPr>
        <p:spPr>
          <a:xfrm>
            <a:off x="7735824" y="1810512"/>
            <a:ext cx="1197864" cy="64008"/>
          </a:xfrm>
          <a:prstGeom prst="rect">
            <a:avLst/>
          </a:prstGeom>
          <a:solidFill>
            <a:srgbClr val="D49A14"/>
          </a:solidFill>
          <a:ln w="12700">
            <a:solidFill>
              <a:srgbClr val="D49A14"/>
            </a:solidFill>
            <a:prstDash val="solid"/>
          </a:ln>
        </p:spPr>
      </p:sp>
      <p:sp>
        <p:nvSpPr>
          <p:cNvPr id="39" name="Text 37"/>
          <p:cNvSpPr/>
          <p:nvPr/>
        </p:nvSpPr>
        <p:spPr>
          <a:xfrm>
            <a:off x="7735824" y="1810512"/>
            <a:ext cx="1197864" cy="685800"/>
          </a:xfrm>
          <a:prstGeom prst="rect">
            <a:avLst/>
          </a:prstGeom>
          <a:noFill/>
          <a:ln/>
        </p:spPr>
        <p:txBody>
          <a:bodyPr wrap="square" lIns="38100" tIns="38100" rIns="38100" bIns="38100" rtlCol="0" anchor="ctr"/>
          <a:lstStyle/>
          <a:p>
            <a:pPr algn="ctr" indent="0" marL="0">
              <a:buNone/>
            </a:pPr>
            <a:r>
              <a:rPr lang="en-US" sz="750" b="1" dirty="0">
                <a:solidFill>
                  <a:srgbClr val="FBF0DD"/>
                </a:solidFill>
              </a:rPr>
              <a:t>set_active_profile</a:t>
            </a:r>
            <a:endParaRPr lang="en-US" sz="750" dirty="0"/>
          </a:p>
          <a:p>
            <a:pPr algn="ctr" indent="0" marL="0">
              <a:buNone/>
            </a:pPr>
            <a:r>
              <a:rPr lang="en-US" sz="750" dirty="0">
                <a:solidFill>
                  <a:srgbClr val="D49A14"/>
                </a:solidFill>
              </a:rPr>
              <a:t>Machine NEW</a:t>
            </a:r>
            <a:endParaRPr lang="en-US" sz="750" dirty="0"/>
          </a:p>
        </p:txBody>
      </p:sp>
      <p:sp>
        <p:nvSpPr>
          <p:cNvPr id="40" name="Shape 38"/>
          <p:cNvSpPr/>
          <p:nvPr/>
        </p:nvSpPr>
        <p:spPr>
          <a:xfrm>
            <a:off x="384048" y="4407408"/>
            <a:ext cx="8366760" cy="0"/>
          </a:xfrm>
          <a:prstGeom prst="line">
            <a:avLst/>
          </a:prstGeom>
          <a:noFill/>
          <a:ln w="5080">
            <a:solidFill>
              <a:srgbClr val="4A2A14"/>
            </a:solidFill>
            <a:prstDash val="solid"/>
          </a:ln>
        </p:spPr>
      </p:sp>
      <p:sp>
        <p:nvSpPr>
          <p:cNvPr id="41" name="Text 39"/>
          <p:cNvSpPr/>
          <p:nvPr/>
        </p:nvSpPr>
        <p:spPr>
          <a:xfrm>
            <a:off x="384048" y="4480560"/>
            <a:ext cx="8366760" cy="274320"/>
          </a:xfrm>
          <a:prstGeom prst="rect">
            <a:avLst/>
          </a:prstGeom>
          <a:noFill/>
          <a:ln/>
        </p:spPr>
        <p:txBody>
          <a:bodyPr wrap="square" lIns="0" tIns="0" rIns="0" bIns="0" rtlCol="0" anchor="ctr"/>
          <a:lstStyle/>
          <a:p>
            <a:pPr algn="l" indent="0" marL="0">
              <a:buNone/>
            </a:pPr>
            <a:r>
              <a:rPr lang="en-US" sz="900" dirty="0">
                <a:solidFill>
                  <a:srgbClr val="D49A14"/>
                </a:solidFill>
              </a:rPr>
              <a:t>NEW : Nouvel outil ajoute apres analyse APK (get_device_info, get_machine_settings, get_beverage_recipe, set_active_profile)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Nouvelles fonctionnalites decouvertes dans l'APK</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NOUVELLES FEATURES</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13 / 16</a:t>
            </a:r>
            <a:endParaRPr lang="en-US" sz="750" dirty="0"/>
          </a:p>
        </p:txBody>
      </p:sp>
      <p:sp>
        <p:nvSpPr>
          <p:cNvPr id="8" name="Shape 6"/>
          <p:cNvSpPr/>
          <p:nvPr/>
        </p:nvSpPr>
        <p:spPr>
          <a:xfrm>
            <a:off x="457200" y="960120"/>
            <a:ext cx="4160520" cy="1874520"/>
          </a:xfrm>
          <a:prstGeom prst="rect">
            <a:avLst/>
          </a:prstGeom>
          <a:solidFill>
            <a:srgbClr val="341A0A"/>
          </a:solidFill>
          <a:ln w="12700">
            <a:solidFill>
              <a:srgbClr val="D49A14"/>
            </a:solidFill>
            <a:prstDash val="solid"/>
          </a:ln>
        </p:spPr>
      </p:sp>
      <p:sp>
        <p:nvSpPr>
          <p:cNvPr id="9" name="Shape 7"/>
          <p:cNvSpPr/>
          <p:nvPr/>
        </p:nvSpPr>
        <p:spPr>
          <a:xfrm>
            <a:off x="457200" y="960120"/>
            <a:ext cx="4160520" cy="73152"/>
          </a:xfrm>
          <a:prstGeom prst="rect">
            <a:avLst/>
          </a:prstGeom>
          <a:solidFill>
            <a:srgbClr val="D49A14"/>
          </a:solidFill>
          <a:ln w="12700">
            <a:solidFill>
              <a:srgbClr val="D49A14"/>
            </a:solidFill>
            <a:prstDash val="solid"/>
          </a:ln>
        </p:spPr>
      </p:sp>
      <p:sp>
        <p:nvSpPr>
          <p:cNvPr id="10" name="Text 8"/>
          <p:cNvSpPr/>
          <p:nvPr/>
        </p:nvSpPr>
        <p:spPr>
          <a:xfrm>
            <a:off x="594360" y="1069848"/>
            <a:ext cx="3886200" cy="347472"/>
          </a:xfrm>
          <a:prstGeom prst="rect">
            <a:avLst/>
          </a:prstGeom>
          <a:noFill/>
          <a:ln/>
        </p:spPr>
        <p:txBody>
          <a:bodyPr wrap="square" lIns="0" tIns="0" rIns="0" bIns="0" rtlCol="0" anchor="ctr"/>
          <a:lstStyle/>
          <a:p>
            <a:pPr indent="0" marL="0">
              <a:buNone/>
            </a:pPr>
            <a:r>
              <a:rPr lang="en-US" sz="1200" b="1" dirty="0">
                <a:solidFill>
                  <a:srgbClr val="F5B828"/>
                </a:solidFill>
                <a:latin typeface="Consolas" pitchFamily="34" charset="0"/>
                <a:ea typeface="Consolas" pitchFamily="34" charset="-122"/>
                <a:cs typeface="Consolas" pitchFamily="34" charset="-120"/>
              </a:rPr>
              <a:t>get_device_info</a:t>
            </a:r>
            <a:endParaRPr lang="en-US" sz="1200" dirty="0"/>
          </a:p>
        </p:txBody>
      </p:sp>
      <p:sp>
        <p:nvSpPr>
          <p:cNvPr id="11" name="Text 9"/>
          <p:cNvSpPr/>
          <p:nvPr/>
        </p:nvSpPr>
        <p:spPr>
          <a:xfrm>
            <a:off x="594360" y="1453896"/>
            <a:ext cx="3886200" cy="457200"/>
          </a:xfrm>
          <a:prstGeom prst="rect">
            <a:avLst/>
          </a:prstGeom>
          <a:noFill/>
          <a:ln/>
        </p:spPr>
        <p:txBody>
          <a:bodyPr wrap="square" lIns="0" tIns="0" rIns="0" bIns="0" rtlCol="0" anchor="ctr"/>
          <a:lstStyle/>
          <a:p>
            <a:pPr indent="0" marL="0">
              <a:buNone/>
            </a:pPr>
            <a:r>
              <a:rPr lang="en-US" sz="1000" dirty="0">
                <a:solidFill>
                  <a:srgbClr val="FBF0DD"/>
                </a:solidFill>
              </a:rPr>
              <a:t>Modele, OEM code, firmware</a:t>
            </a:r>
            <a:endParaRPr lang="en-US" sz="1000" dirty="0"/>
          </a:p>
          <a:p>
            <a:pPr indent="0" marL="0">
              <a:buNone/>
            </a:pPr>
            <a:r>
              <a:rPr lang="en-US" sz="1000" dirty="0">
                <a:solidFill>
                  <a:srgbClr val="FBF0DD"/>
                </a:solidFill>
              </a:rPr>
              <a:t>DSN, statut de connexion</a:t>
            </a:r>
            <a:endParaRPr lang="en-US" sz="1000" dirty="0"/>
          </a:p>
        </p:txBody>
      </p:sp>
      <p:sp>
        <p:nvSpPr>
          <p:cNvPr id="12" name="Shape 10"/>
          <p:cNvSpPr/>
          <p:nvPr/>
        </p:nvSpPr>
        <p:spPr>
          <a:xfrm>
            <a:off x="594360" y="1965960"/>
            <a:ext cx="3886200" cy="713232"/>
          </a:xfrm>
          <a:prstGeom prst="rect">
            <a:avLst/>
          </a:prstGeom>
          <a:solidFill>
            <a:srgbClr val="0D0A07"/>
          </a:solidFill>
          <a:ln w="5080">
            <a:solidFill>
              <a:srgbClr val="4A2A14"/>
            </a:solidFill>
            <a:prstDash val="solid"/>
          </a:ln>
        </p:spPr>
      </p:sp>
      <p:sp>
        <p:nvSpPr>
          <p:cNvPr id="13" name="Text 11"/>
          <p:cNvSpPr/>
          <p:nvPr/>
        </p:nvSpPr>
        <p:spPr>
          <a:xfrm>
            <a:off x="658368" y="1965960"/>
            <a:ext cx="3749040" cy="713232"/>
          </a:xfrm>
          <a:prstGeom prst="rect">
            <a:avLst/>
          </a:prstGeom>
          <a:noFill/>
          <a:ln/>
        </p:spPr>
        <p:txBody>
          <a:bodyPr wrap="square" lIns="50800" tIns="50800" rIns="50800" bIns="50800" rtlCol="0" anchor="ctr"/>
          <a:lstStyle/>
          <a:p>
            <a:pPr algn="l" indent="0" marL="0">
              <a:buNone/>
            </a:pPr>
            <a:r>
              <a:rPr lang="en-US" sz="850" dirty="0">
                <a:solidFill>
                  <a:srgbClr val="F5B828"/>
                </a:solidFill>
                <a:latin typeface="Consolas" pitchFamily="34" charset="0"/>
                <a:ea typeface="Consolas" pitchFamily="34" charset="-122"/>
                <a:cs typeface="Consolas" pitchFamily="34" charset="-120"/>
              </a:rPr>
              <a:t>GetDevicesAsync() -&gt; AylaDevice</a:t>
            </a:r>
            <a:endParaRPr lang="en-US" sz="850" dirty="0"/>
          </a:p>
          <a:p>
            <a:pPr algn="l" indent="0" marL="0">
              <a:buNone/>
            </a:pPr>
            <a:r>
              <a:rPr lang="en-US" sz="850" dirty="0">
                <a:solidFill>
                  <a:srgbClr val="F5B828"/>
                </a:solidFill>
                <a:latin typeface="Consolas" pitchFamily="34" charset="0"/>
                <a:ea typeface="Consolas" pitchFamily="34" charset="-122"/>
                <a:cs typeface="Consolas" pitchFamily="34" charset="-120"/>
              </a:rPr>
              <a:t>asw_version  oem_model  dsn</a:t>
            </a:r>
            <a:endParaRPr lang="en-US" sz="850" dirty="0"/>
          </a:p>
        </p:txBody>
      </p:sp>
      <p:sp>
        <p:nvSpPr>
          <p:cNvPr id="14" name="Shape 12"/>
          <p:cNvSpPr/>
          <p:nvPr/>
        </p:nvSpPr>
        <p:spPr>
          <a:xfrm>
            <a:off x="4846320" y="960120"/>
            <a:ext cx="4160520" cy="1874520"/>
          </a:xfrm>
          <a:prstGeom prst="rect">
            <a:avLst/>
          </a:prstGeom>
          <a:solidFill>
            <a:srgbClr val="341A0A"/>
          </a:solidFill>
          <a:ln w="12700">
            <a:solidFill>
              <a:srgbClr val="D49A14"/>
            </a:solidFill>
            <a:prstDash val="solid"/>
          </a:ln>
        </p:spPr>
      </p:sp>
      <p:sp>
        <p:nvSpPr>
          <p:cNvPr id="15" name="Shape 13"/>
          <p:cNvSpPr/>
          <p:nvPr/>
        </p:nvSpPr>
        <p:spPr>
          <a:xfrm>
            <a:off x="4846320" y="960120"/>
            <a:ext cx="4160520" cy="73152"/>
          </a:xfrm>
          <a:prstGeom prst="rect">
            <a:avLst/>
          </a:prstGeom>
          <a:solidFill>
            <a:srgbClr val="D49A14"/>
          </a:solidFill>
          <a:ln w="12700">
            <a:solidFill>
              <a:srgbClr val="D49A14"/>
            </a:solidFill>
            <a:prstDash val="solid"/>
          </a:ln>
        </p:spPr>
      </p:sp>
      <p:sp>
        <p:nvSpPr>
          <p:cNvPr id="16" name="Text 14"/>
          <p:cNvSpPr/>
          <p:nvPr/>
        </p:nvSpPr>
        <p:spPr>
          <a:xfrm>
            <a:off x="4983480" y="1069848"/>
            <a:ext cx="3886200" cy="347472"/>
          </a:xfrm>
          <a:prstGeom prst="rect">
            <a:avLst/>
          </a:prstGeom>
          <a:noFill/>
          <a:ln/>
        </p:spPr>
        <p:txBody>
          <a:bodyPr wrap="square" lIns="0" tIns="0" rIns="0" bIns="0" rtlCol="0" anchor="ctr"/>
          <a:lstStyle/>
          <a:p>
            <a:pPr indent="0" marL="0">
              <a:buNone/>
            </a:pPr>
            <a:r>
              <a:rPr lang="en-US" sz="1200" b="1" dirty="0">
                <a:solidFill>
                  <a:srgbClr val="F5B828"/>
                </a:solidFill>
                <a:latin typeface="Consolas" pitchFamily="34" charset="0"/>
                <a:ea typeface="Consolas" pitchFamily="34" charset="-122"/>
                <a:cs typeface="Consolas" pitchFamily="34" charset="-120"/>
              </a:rPr>
              <a:t>get_machine_settings</a:t>
            </a:r>
            <a:endParaRPr lang="en-US" sz="1200" dirty="0"/>
          </a:p>
        </p:txBody>
      </p:sp>
      <p:sp>
        <p:nvSpPr>
          <p:cNvPr id="17" name="Text 15"/>
          <p:cNvSpPr/>
          <p:nvPr/>
        </p:nvSpPr>
        <p:spPr>
          <a:xfrm>
            <a:off x="4983480" y="1453896"/>
            <a:ext cx="3886200" cy="457200"/>
          </a:xfrm>
          <a:prstGeom prst="rect">
            <a:avLst/>
          </a:prstGeom>
          <a:noFill/>
          <a:ln/>
        </p:spPr>
        <p:txBody>
          <a:bodyPr wrap="square" lIns="0" tIns="0" rIns="0" bIns="0" rtlCol="0" anchor="ctr"/>
          <a:lstStyle/>
          <a:p>
            <a:pPr indent="0" marL="0">
              <a:buNone/>
            </a:pPr>
            <a:r>
              <a:rPr lang="en-US" sz="1000" dirty="0">
                <a:solidFill>
                  <a:srgbClr val="FBF0DD"/>
                </a:solidFill>
              </a:rPr>
              <a:t>Unite temperature (C/F)</a:t>
            </a:r>
            <a:endParaRPr lang="en-US" sz="1000" dirty="0"/>
          </a:p>
          <a:p>
            <a:pPr indent="0" marL="0">
              <a:buNone/>
            </a:pPr>
            <a:r>
              <a:rPr lang="en-US" sz="1000" dirty="0">
                <a:solidFill>
                  <a:srgbClr val="FBF0DD"/>
                </a:solidFill>
              </a:rPr>
              <a:t>Minuteur auto-off, durete eau 1-5</a:t>
            </a:r>
            <a:endParaRPr lang="en-US" sz="1000" dirty="0"/>
          </a:p>
        </p:txBody>
      </p:sp>
      <p:sp>
        <p:nvSpPr>
          <p:cNvPr id="18" name="Shape 16"/>
          <p:cNvSpPr/>
          <p:nvPr/>
        </p:nvSpPr>
        <p:spPr>
          <a:xfrm>
            <a:off x="4983480" y="1965960"/>
            <a:ext cx="3886200" cy="713232"/>
          </a:xfrm>
          <a:prstGeom prst="rect">
            <a:avLst/>
          </a:prstGeom>
          <a:solidFill>
            <a:srgbClr val="0D0A07"/>
          </a:solidFill>
          <a:ln w="5080">
            <a:solidFill>
              <a:srgbClr val="4A2A14"/>
            </a:solidFill>
            <a:prstDash val="solid"/>
          </a:ln>
        </p:spPr>
      </p:sp>
      <p:sp>
        <p:nvSpPr>
          <p:cNvPr id="19" name="Text 17"/>
          <p:cNvSpPr/>
          <p:nvPr/>
        </p:nvSpPr>
        <p:spPr>
          <a:xfrm>
            <a:off x="5047488" y="1965960"/>
            <a:ext cx="3749040" cy="713232"/>
          </a:xfrm>
          <a:prstGeom prst="rect">
            <a:avLst/>
          </a:prstGeom>
          <a:noFill/>
          <a:ln/>
        </p:spPr>
        <p:txBody>
          <a:bodyPr wrap="square" lIns="50800" tIns="50800" rIns="50800" bIns="50800" rtlCol="0" anchor="ctr"/>
          <a:lstStyle/>
          <a:p>
            <a:pPr algn="l" indent="0" marL="0">
              <a:buNone/>
            </a:pPr>
            <a:r>
              <a:rPr lang="en-US" sz="850" dirty="0">
                <a:solidFill>
                  <a:srgbClr val="F5B828"/>
                </a:solidFill>
                <a:latin typeface="Consolas" pitchFamily="34" charset="0"/>
                <a:ea typeface="Consolas" pitchFamily="34" charset="-122"/>
                <a:cs typeface="Consolas" pitchFamily="34" charset="-120"/>
              </a:rPr>
              <a:t>d281_mach_sett_temperature</a:t>
            </a:r>
            <a:endParaRPr lang="en-US" sz="850" dirty="0"/>
          </a:p>
          <a:p>
            <a:pPr algn="l" indent="0" marL="0">
              <a:buNone/>
            </a:pPr>
            <a:r>
              <a:rPr lang="en-US" sz="850" dirty="0">
                <a:solidFill>
                  <a:srgbClr val="F5B828"/>
                </a:solidFill>
                <a:latin typeface="Consolas" pitchFamily="34" charset="0"/>
                <a:ea typeface="Consolas" pitchFamily="34" charset="-122"/>
                <a:cs typeface="Consolas" pitchFamily="34" charset="-120"/>
              </a:rPr>
              <a:t>d282_mach_sett_auto_off</a:t>
            </a:r>
            <a:endParaRPr lang="en-US" sz="850" dirty="0"/>
          </a:p>
        </p:txBody>
      </p:sp>
      <p:sp>
        <p:nvSpPr>
          <p:cNvPr id="20" name="Shape 18"/>
          <p:cNvSpPr/>
          <p:nvPr/>
        </p:nvSpPr>
        <p:spPr>
          <a:xfrm>
            <a:off x="457200" y="3017520"/>
            <a:ext cx="4160520" cy="1874520"/>
          </a:xfrm>
          <a:prstGeom prst="rect">
            <a:avLst/>
          </a:prstGeom>
          <a:solidFill>
            <a:srgbClr val="341A0A"/>
          </a:solidFill>
          <a:ln w="12700">
            <a:solidFill>
              <a:srgbClr val="D49A14"/>
            </a:solidFill>
            <a:prstDash val="solid"/>
          </a:ln>
        </p:spPr>
      </p:sp>
      <p:sp>
        <p:nvSpPr>
          <p:cNvPr id="21" name="Shape 19"/>
          <p:cNvSpPr/>
          <p:nvPr/>
        </p:nvSpPr>
        <p:spPr>
          <a:xfrm>
            <a:off x="457200" y="3017520"/>
            <a:ext cx="4160520" cy="73152"/>
          </a:xfrm>
          <a:prstGeom prst="rect">
            <a:avLst/>
          </a:prstGeom>
          <a:solidFill>
            <a:srgbClr val="D49A14"/>
          </a:solidFill>
          <a:ln w="12700">
            <a:solidFill>
              <a:srgbClr val="D49A14"/>
            </a:solidFill>
            <a:prstDash val="solid"/>
          </a:ln>
        </p:spPr>
      </p:sp>
      <p:sp>
        <p:nvSpPr>
          <p:cNvPr id="22" name="Text 20"/>
          <p:cNvSpPr/>
          <p:nvPr/>
        </p:nvSpPr>
        <p:spPr>
          <a:xfrm>
            <a:off x="594360" y="3127248"/>
            <a:ext cx="3886200" cy="347472"/>
          </a:xfrm>
          <a:prstGeom prst="rect">
            <a:avLst/>
          </a:prstGeom>
          <a:noFill/>
          <a:ln/>
        </p:spPr>
        <p:txBody>
          <a:bodyPr wrap="square" lIns="0" tIns="0" rIns="0" bIns="0" rtlCol="0" anchor="ctr"/>
          <a:lstStyle/>
          <a:p>
            <a:pPr indent="0" marL="0">
              <a:buNone/>
            </a:pPr>
            <a:r>
              <a:rPr lang="en-US" sz="1200" b="1" dirty="0">
                <a:solidFill>
                  <a:srgbClr val="F5B828"/>
                </a:solidFill>
                <a:latin typeface="Consolas" pitchFamily="34" charset="0"/>
                <a:ea typeface="Consolas" pitchFamily="34" charset="-122"/>
                <a:cs typeface="Consolas" pitchFamily="34" charset="-120"/>
              </a:rPr>
              <a:t>get_beverage_recipe</a:t>
            </a:r>
            <a:endParaRPr lang="en-US" sz="1200" dirty="0"/>
          </a:p>
        </p:txBody>
      </p:sp>
      <p:sp>
        <p:nvSpPr>
          <p:cNvPr id="23" name="Text 21"/>
          <p:cNvSpPr/>
          <p:nvPr/>
        </p:nvSpPr>
        <p:spPr>
          <a:xfrm>
            <a:off x="594360" y="3511296"/>
            <a:ext cx="3886200" cy="457200"/>
          </a:xfrm>
          <a:prstGeom prst="rect">
            <a:avLst/>
          </a:prstGeom>
          <a:noFill/>
          <a:ln/>
        </p:spPr>
        <p:txBody>
          <a:bodyPr wrap="square" lIns="0" tIns="0" rIns="0" bIns="0" rtlCol="0" anchor="ctr"/>
          <a:lstStyle/>
          <a:p>
            <a:pPr indent="0" marL="0">
              <a:buNone/>
            </a:pPr>
            <a:r>
              <a:rPr lang="en-US" sz="1000" dirty="0">
                <a:solidFill>
                  <a:srgbClr val="FBF0DD"/>
                </a:solidFill>
              </a:rPr>
              <a:t>Recette complete : volume cafe/lait</a:t>
            </a:r>
            <a:endParaRPr lang="en-US" sz="1000" dirty="0"/>
          </a:p>
          <a:p>
            <a:pPr indent="0" marL="0">
              <a:buNone/>
            </a:pPr>
            <a:r>
              <a:rPr lang="en-US" sz="1000" dirty="0">
                <a:solidFill>
                  <a:srgbClr val="FBF0DD"/>
                </a:solidFill>
              </a:rPr>
              <a:t>mouture, temperature, pre-ground</a:t>
            </a:r>
            <a:endParaRPr lang="en-US" sz="1000" dirty="0"/>
          </a:p>
        </p:txBody>
      </p:sp>
      <p:sp>
        <p:nvSpPr>
          <p:cNvPr id="24" name="Shape 22"/>
          <p:cNvSpPr/>
          <p:nvPr/>
        </p:nvSpPr>
        <p:spPr>
          <a:xfrm>
            <a:off x="594360" y="4023360"/>
            <a:ext cx="3886200" cy="713232"/>
          </a:xfrm>
          <a:prstGeom prst="rect">
            <a:avLst/>
          </a:prstGeom>
          <a:solidFill>
            <a:srgbClr val="0D0A07"/>
          </a:solidFill>
          <a:ln w="5080">
            <a:solidFill>
              <a:srgbClr val="4A2A14"/>
            </a:solidFill>
            <a:prstDash val="solid"/>
          </a:ln>
        </p:spPr>
      </p:sp>
      <p:sp>
        <p:nvSpPr>
          <p:cNvPr id="25" name="Text 23"/>
          <p:cNvSpPr/>
          <p:nvPr/>
        </p:nvSpPr>
        <p:spPr>
          <a:xfrm>
            <a:off x="658368" y="4023360"/>
            <a:ext cx="3749040" cy="713232"/>
          </a:xfrm>
          <a:prstGeom prst="rect">
            <a:avLst/>
          </a:prstGeom>
          <a:noFill/>
          <a:ln/>
        </p:spPr>
        <p:txBody>
          <a:bodyPr wrap="square" lIns="50800" tIns="50800" rIns="50800" bIns="50800" rtlCol="0" anchor="ctr"/>
          <a:lstStyle/>
          <a:p>
            <a:pPr algn="l" indent="0" marL="0">
              <a:buNone/>
            </a:pPr>
            <a:r>
              <a:rPr lang="en-US" sz="850" dirty="0">
                <a:solidFill>
                  <a:srgbClr val="F5B828"/>
                </a:solidFill>
                <a:latin typeface="Consolas" pitchFamily="34" charset="0"/>
                <a:ea typeface="Consolas" pitchFamily="34" charset="-122"/>
                <a:cs typeface="Consolas" pitchFamily="34" charset="-120"/>
              </a:rPr>
              <a:t>TLV parse -&gt; _rec_{profile}_{bev}</a:t>
            </a:r>
            <a:endParaRPr lang="en-US" sz="850" dirty="0"/>
          </a:p>
          <a:p>
            <a:pPr algn="l" indent="0" marL="0">
              <a:buNone/>
            </a:pPr>
            <a:r>
              <a:rPr lang="en-US" sz="850" dirty="0">
                <a:solidFill>
                  <a:srgbClr val="F5B828"/>
                </a:solidFill>
                <a:latin typeface="Consolas" pitchFamily="34" charset="0"/>
                <a:ea typeface="Consolas" pitchFamily="34" charset="-122"/>
                <a:cs typeface="Consolas" pitchFamily="34" charset="-120"/>
              </a:rPr>
              <a:t>{ coffee_ml, grind_level, temperature }</a:t>
            </a:r>
            <a:endParaRPr lang="en-US" sz="850" dirty="0"/>
          </a:p>
        </p:txBody>
      </p:sp>
      <p:sp>
        <p:nvSpPr>
          <p:cNvPr id="26" name="Shape 24"/>
          <p:cNvSpPr/>
          <p:nvPr/>
        </p:nvSpPr>
        <p:spPr>
          <a:xfrm>
            <a:off x="4846320" y="3017520"/>
            <a:ext cx="4160520" cy="1874520"/>
          </a:xfrm>
          <a:prstGeom prst="rect">
            <a:avLst/>
          </a:prstGeom>
          <a:solidFill>
            <a:srgbClr val="341A0A"/>
          </a:solidFill>
          <a:ln w="12700">
            <a:solidFill>
              <a:srgbClr val="D49A14"/>
            </a:solidFill>
            <a:prstDash val="solid"/>
          </a:ln>
        </p:spPr>
      </p:sp>
      <p:sp>
        <p:nvSpPr>
          <p:cNvPr id="27" name="Shape 25"/>
          <p:cNvSpPr/>
          <p:nvPr/>
        </p:nvSpPr>
        <p:spPr>
          <a:xfrm>
            <a:off x="4846320" y="3017520"/>
            <a:ext cx="4160520" cy="73152"/>
          </a:xfrm>
          <a:prstGeom prst="rect">
            <a:avLst/>
          </a:prstGeom>
          <a:solidFill>
            <a:srgbClr val="D49A14"/>
          </a:solidFill>
          <a:ln w="12700">
            <a:solidFill>
              <a:srgbClr val="D49A14"/>
            </a:solidFill>
            <a:prstDash val="solid"/>
          </a:ln>
        </p:spPr>
      </p:sp>
      <p:sp>
        <p:nvSpPr>
          <p:cNvPr id="28" name="Text 26"/>
          <p:cNvSpPr/>
          <p:nvPr/>
        </p:nvSpPr>
        <p:spPr>
          <a:xfrm>
            <a:off x="4983480" y="3127248"/>
            <a:ext cx="3886200" cy="347472"/>
          </a:xfrm>
          <a:prstGeom prst="rect">
            <a:avLst/>
          </a:prstGeom>
          <a:noFill/>
          <a:ln/>
        </p:spPr>
        <p:txBody>
          <a:bodyPr wrap="square" lIns="0" tIns="0" rIns="0" bIns="0" rtlCol="0" anchor="ctr"/>
          <a:lstStyle/>
          <a:p>
            <a:pPr indent="0" marL="0">
              <a:buNone/>
            </a:pPr>
            <a:r>
              <a:rPr lang="en-US" sz="1200" b="1" dirty="0">
                <a:solidFill>
                  <a:srgbClr val="F5B828"/>
                </a:solidFill>
                <a:latin typeface="Consolas" pitchFamily="34" charset="0"/>
                <a:ea typeface="Consolas" pitchFamily="34" charset="-122"/>
                <a:cs typeface="Consolas" pitchFamily="34" charset="-120"/>
              </a:rPr>
              <a:t>set_active_profile</a:t>
            </a:r>
            <a:endParaRPr lang="en-US" sz="1200" dirty="0"/>
          </a:p>
        </p:txBody>
      </p:sp>
      <p:sp>
        <p:nvSpPr>
          <p:cNvPr id="29" name="Text 27"/>
          <p:cNvSpPr/>
          <p:nvPr/>
        </p:nvSpPr>
        <p:spPr>
          <a:xfrm>
            <a:off x="4983480" y="3511296"/>
            <a:ext cx="3886200" cy="457200"/>
          </a:xfrm>
          <a:prstGeom prst="rect">
            <a:avLst/>
          </a:prstGeom>
          <a:noFill/>
          <a:ln/>
        </p:spPr>
        <p:txBody>
          <a:bodyPr wrap="square" lIns="0" tIns="0" rIns="0" bIns="0" rtlCol="0" anchor="ctr"/>
          <a:lstStyle/>
          <a:p>
            <a:pPr indent="0" marL="0">
              <a:buNone/>
            </a:pPr>
            <a:r>
              <a:rPr lang="en-US" sz="1000" dirty="0">
                <a:solidFill>
                  <a:srgbClr val="FBF0DD"/>
                </a:solidFill>
              </a:rPr>
              <a:t>Active le profil 1-4 sur la machine</a:t>
            </a:r>
            <a:endParaRPr lang="en-US" sz="1000" dirty="0"/>
          </a:p>
          <a:p>
            <a:pPr indent="0" marL="0">
              <a:buNone/>
            </a:pPr>
            <a:r>
              <a:rPr lang="en-US" sz="1000" dirty="0">
                <a:solidFill>
                  <a:srgbClr val="FBF0DD"/>
                </a:solidFill>
              </a:rPr>
              <a:t>Commande ECAM 0x95 setting 0xEE</a:t>
            </a:r>
            <a:endParaRPr lang="en-US" sz="1000" dirty="0"/>
          </a:p>
        </p:txBody>
      </p:sp>
      <p:sp>
        <p:nvSpPr>
          <p:cNvPr id="30" name="Shape 28"/>
          <p:cNvSpPr/>
          <p:nvPr/>
        </p:nvSpPr>
        <p:spPr>
          <a:xfrm>
            <a:off x="4983480" y="4023360"/>
            <a:ext cx="3886200" cy="713232"/>
          </a:xfrm>
          <a:prstGeom prst="rect">
            <a:avLst/>
          </a:prstGeom>
          <a:solidFill>
            <a:srgbClr val="0D0A07"/>
          </a:solidFill>
          <a:ln w="5080">
            <a:solidFill>
              <a:srgbClr val="4A2A14"/>
            </a:solidFill>
            <a:prstDash val="solid"/>
          </a:ln>
        </p:spPr>
      </p:sp>
      <p:sp>
        <p:nvSpPr>
          <p:cNvPr id="31" name="Text 29"/>
          <p:cNvSpPr/>
          <p:nvPr/>
        </p:nvSpPr>
        <p:spPr>
          <a:xfrm>
            <a:off x="5047488" y="4023360"/>
            <a:ext cx="3749040" cy="713232"/>
          </a:xfrm>
          <a:prstGeom prst="rect">
            <a:avLst/>
          </a:prstGeom>
          <a:noFill/>
          <a:ln/>
        </p:spPr>
        <p:txBody>
          <a:bodyPr wrap="square" lIns="50800" tIns="50800" rIns="50800" bIns="50800" rtlCol="0" anchor="ctr"/>
          <a:lstStyle/>
          <a:p>
            <a:pPr algn="l" indent="0" marL="0">
              <a:buNone/>
            </a:pPr>
            <a:r>
              <a:rPr lang="en-US" sz="850" dirty="0">
                <a:solidFill>
                  <a:srgbClr val="F5B828"/>
                </a:solidFill>
                <a:latin typeface="Consolas" pitchFamily="34" charset="0"/>
                <a:ea typeface="Consolas" pitchFamily="34" charset="-122"/>
                <a:cs typeface="Consolas" pitchFamily="34" charset="-120"/>
              </a:rPr>
              <a:t>C2407d.getPacketForSetProfile</a:t>
            </a:r>
            <a:endParaRPr lang="en-US" sz="850" dirty="0"/>
          </a:p>
          <a:p>
            <a:pPr algn="l" indent="0" marL="0">
              <a:buNone/>
            </a:pPr>
            <a:r>
              <a:rPr lang="en-US" sz="850" dirty="0">
                <a:solidFill>
                  <a:srgbClr val="F5B828"/>
                </a:solidFill>
                <a:latin typeface="Consolas" pitchFamily="34" charset="0"/>
                <a:ea typeface="Consolas" pitchFamily="34" charset="-122"/>
                <a:cs typeface="Consolas" pitchFamily="34" charset="-120"/>
              </a:rPr>
              <a:t>-&gt; DeLonghiWifiConnectService.java</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5120640" y="0"/>
            <a:ext cx="4023360" cy="5143500"/>
          </a:xfrm>
          <a:prstGeom prst="rect">
            <a:avLst/>
          </a:prstGeom>
          <a:solidFill>
            <a:srgbClr val="341A0A"/>
          </a:solidFill>
          <a:ln w="12700">
            <a:solidFill>
              <a:srgbClr val="341A0A"/>
            </a:solidFill>
            <a:prstDash val="solid"/>
          </a:ln>
        </p:spPr>
      </p:sp>
      <p:sp>
        <p:nvSpPr>
          <p:cNvPr id="4" name="Shape 2"/>
          <p:cNvSpPr/>
          <p:nvPr/>
        </p:nvSpPr>
        <p:spPr>
          <a:xfrm>
            <a:off x="5120640" y="0"/>
            <a:ext cx="64008" cy="5143500"/>
          </a:xfrm>
          <a:prstGeom prst="rect">
            <a:avLst/>
          </a:prstGeom>
          <a:solidFill>
            <a:srgbClr val="D49A14"/>
          </a:solidFill>
          <a:ln w="12700">
            <a:solidFill>
              <a:srgbClr val="D49A14"/>
            </a:solidFill>
            <a:prstDash val="solid"/>
          </a:ln>
        </p:spPr>
      </p:sp>
      <p:sp>
        <p:nvSpPr>
          <p:cNvPr id="5" name="Text 3"/>
          <p:cNvSpPr/>
          <p:nvPr/>
        </p:nvSpPr>
        <p:spPr>
          <a:xfrm>
            <a:off x="365760" y="228600"/>
            <a:ext cx="4572000" cy="1051560"/>
          </a:xfrm>
          <a:prstGeom prst="rect">
            <a:avLst/>
          </a:prstGeom>
          <a:noFill/>
          <a:ln/>
        </p:spPr>
        <p:txBody>
          <a:bodyPr wrap="square" rtlCol="0" anchor="ctr"/>
          <a:lstStyle/>
          <a:p>
            <a:pPr algn="l" indent="0" marL="0">
              <a:buNone/>
            </a:pPr>
            <a:r>
              <a:rPr lang="en-US" sz="8000" b="1" dirty="0">
                <a:solidFill>
                  <a:srgbClr val="D49A14"/>
                </a:solidFill>
                <a:latin typeface="Georgia" pitchFamily="34" charset="0"/>
                <a:ea typeface="Georgia" pitchFamily="34" charset="-122"/>
                <a:cs typeface="Georgia" pitchFamily="34" charset="-120"/>
              </a:rPr>
              <a:t>LIVE</a:t>
            </a:r>
            <a:endParaRPr lang="en-US" sz="8000" dirty="0"/>
          </a:p>
        </p:txBody>
      </p:sp>
      <p:sp>
        <p:nvSpPr>
          <p:cNvPr id="6" name="Text 4"/>
          <p:cNvSpPr/>
          <p:nvPr/>
        </p:nvSpPr>
        <p:spPr>
          <a:xfrm>
            <a:off x="365760" y="1280160"/>
            <a:ext cx="4572000" cy="868680"/>
          </a:xfrm>
          <a:prstGeom prst="rect">
            <a:avLst/>
          </a:prstGeom>
          <a:noFill/>
          <a:ln/>
        </p:spPr>
        <p:txBody>
          <a:bodyPr wrap="square" rtlCol="0" anchor="ctr"/>
          <a:lstStyle/>
          <a:p>
            <a:pPr algn="l" indent="0" marL="0">
              <a:buNone/>
            </a:pPr>
            <a:r>
              <a:rPr lang="en-US" sz="6800" b="1" dirty="0">
                <a:solidFill>
                  <a:srgbClr val="FBF0DD"/>
                </a:solidFill>
                <a:latin typeface="Georgia" pitchFamily="34" charset="0"/>
                <a:ea typeface="Georgia" pitchFamily="34" charset="-122"/>
                <a:cs typeface="Georgia" pitchFamily="34" charset="-120"/>
              </a:rPr>
              <a:t>DEMO</a:t>
            </a:r>
            <a:endParaRPr lang="en-US" sz="6800" dirty="0"/>
          </a:p>
        </p:txBody>
      </p:sp>
      <p:sp>
        <p:nvSpPr>
          <p:cNvPr id="7" name="Text 5"/>
          <p:cNvSpPr/>
          <p:nvPr/>
        </p:nvSpPr>
        <p:spPr>
          <a:xfrm>
            <a:off x="365760" y="2331720"/>
            <a:ext cx="4572000" cy="1417320"/>
          </a:xfrm>
          <a:prstGeom prst="rect">
            <a:avLst/>
          </a:prstGeom>
          <a:noFill/>
          <a:ln/>
        </p:spPr>
        <p:txBody>
          <a:bodyPr wrap="square" rtlCol="0" anchor="ctr"/>
          <a:lstStyle/>
          <a:p>
            <a:pPr algn="l" indent="0" marL="0">
              <a:buNone/>
            </a:pPr>
            <a:r>
              <a:rPr lang="en-US" sz="1400" i="1" dirty="0">
                <a:solidFill>
                  <a:srgbClr val="9A7050"/>
                </a:solidFill>
                <a:latin typeface="Georgia" pitchFamily="34" charset="0"/>
                <a:ea typeface="Georgia" pitchFamily="34" charset="-122"/>
                <a:cs typeface="Georgia" pitchFamily="34" charset="-120"/>
              </a:rPr>
              <a:t>"Fais-moi un expresso"</a:t>
            </a:r>
            <a:endParaRPr lang="en-US" sz="1400" dirty="0"/>
          </a:p>
          <a:p>
            <a:pPr algn="l" indent="0" marL="0">
              <a:buNone/>
            </a:pPr>
            <a:r>
              <a:rPr lang="en-US" sz="1400" i="1" dirty="0">
                <a:solidFill>
                  <a:srgbClr val="9A7050"/>
                </a:solidFill>
                <a:latin typeface="Georgia" pitchFamily="34" charset="0"/>
                <a:ea typeface="Georgia" pitchFamily="34" charset="-122"/>
                <a:cs typeface="Georgia" pitchFamily="34" charset="-120"/>
              </a:rPr>
              <a:t>-&gt; l'agent appelle brew_beverage</a:t>
            </a:r>
            <a:endParaRPr lang="en-US" sz="1400" dirty="0"/>
          </a:p>
          <a:p>
            <a:pPr algn="l" indent="0" marL="0">
              <a:buNone/>
            </a:pPr>
            <a:r>
              <a:rPr lang="en-US" sz="1400" i="1" dirty="0">
                <a:solidFill>
                  <a:srgbClr val="9A7050"/>
                </a:solidFill>
                <a:latin typeface="Georgia" pitchFamily="34" charset="0"/>
                <a:ea typeface="Georgia" pitchFamily="34" charset="-122"/>
                <a:cs typeface="Georgia" pitchFamily="34" charset="-120"/>
              </a:rPr>
              <a:t>-&gt; la machine prepare votre cafe</a:t>
            </a:r>
            <a:endParaRPr lang="en-US" sz="1400" dirty="0"/>
          </a:p>
        </p:txBody>
      </p:sp>
      <p:sp>
        <p:nvSpPr>
          <p:cNvPr id="8" name="Shape 6"/>
          <p:cNvSpPr/>
          <p:nvPr/>
        </p:nvSpPr>
        <p:spPr>
          <a:xfrm>
            <a:off x="5413248" y="978408"/>
            <a:ext cx="329184" cy="329184"/>
          </a:xfrm>
          <a:prstGeom prst="ellipse">
            <a:avLst/>
          </a:prstGeom>
          <a:solidFill>
            <a:srgbClr val="D49A14"/>
          </a:solidFill>
          <a:ln w="12700">
            <a:solidFill>
              <a:srgbClr val="D49A14"/>
            </a:solidFill>
            <a:prstDash val="solid"/>
          </a:ln>
        </p:spPr>
      </p:sp>
      <p:sp>
        <p:nvSpPr>
          <p:cNvPr id="9" name="Text 7"/>
          <p:cNvSpPr/>
          <p:nvPr/>
        </p:nvSpPr>
        <p:spPr>
          <a:xfrm>
            <a:off x="5413248" y="978408"/>
            <a:ext cx="329184" cy="329184"/>
          </a:xfrm>
          <a:prstGeom prst="rect">
            <a:avLst/>
          </a:prstGeom>
          <a:noFill/>
          <a:ln/>
        </p:spPr>
        <p:txBody>
          <a:bodyPr wrap="square" lIns="0" tIns="0" rIns="0" bIns="0" rtlCol="0" anchor="ctr"/>
          <a:lstStyle/>
          <a:p>
            <a:pPr algn="ctr" indent="0" marL="0">
              <a:buNone/>
            </a:pPr>
            <a:r>
              <a:rPr lang="en-US" sz="900" b="1" dirty="0">
                <a:solidFill>
                  <a:srgbClr val="180C05"/>
                </a:solidFill>
              </a:rPr>
              <a:t>1</a:t>
            </a:r>
            <a:endParaRPr lang="en-US" sz="900" dirty="0"/>
          </a:p>
        </p:txBody>
      </p:sp>
      <p:sp>
        <p:nvSpPr>
          <p:cNvPr id="10" name="Text 8"/>
          <p:cNvSpPr/>
          <p:nvPr/>
        </p:nvSpPr>
        <p:spPr>
          <a:xfrm>
            <a:off x="5870448" y="914400"/>
            <a:ext cx="2926080" cy="274320"/>
          </a:xfrm>
          <a:prstGeom prst="rect">
            <a:avLst/>
          </a:prstGeom>
          <a:noFill/>
          <a:ln/>
        </p:spPr>
        <p:txBody>
          <a:bodyPr wrap="square" lIns="0" tIns="0" rIns="0" bIns="0" rtlCol="0" anchor="ctr"/>
          <a:lstStyle/>
          <a:p>
            <a:pPr indent="0" marL="0">
              <a:buNone/>
            </a:pPr>
            <a:r>
              <a:rPr lang="en-US" sz="1150" b="1" dirty="0">
                <a:solidFill>
                  <a:srgbClr val="FBF0DD"/>
                </a:solidFill>
              </a:rPr>
              <a:t>User prompt</a:t>
            </a:r>
            <a:endParaRPr lang="en-US" sz="1150" dirty="0"/>
          </a:p>
        </p:txBody>
      </p:sp>
      <p:sp>
        <p:nvSpPr>
          <p:cNvPr id="11" name="Text 9"/>
          <p:cNvSpPr/>
          <p:nvPr/>
        </p:nvSpPr>
        <p:spPr>
          <a:xfrm>
            <a:off x="5870448" y="1197864"/>
            <a:ext cx="2926080" cy="237744"/>
          </a:xfrm>
          <a:prstGeom prst="rect">
            <a:avLst/>
          </a:prstGeom>
          <a:noFill/>
          <a:ln/>
        </p:spPr>
        <p:txBody>
          <a:bodyPr wrap="square" lIns="0" tIns="0" rIns="0" bIns="0" rtlCol="0" anchor="ctr"/>
          <a:lstStyle/>
          <a:p>
            <a:pPr indent="0" marL="0">
              <a:buNone/>
            </a:pPr>
            <a:r>
              <a:rPr lang="en-US" sz="850" dirty="0">
                <a:solidFill>
                  <a:srgbClr val="9A7050"/>
                </a:solidFill>
                <a:latin typeface="Consolas" pitchFamily="34" charset="0"/>
                <a:ea typeface="Consolas" pitchFamily="34" charset="-122"/>
                <a:cs typeface="Consolas" pitchFamily="34" charset="-120"/>
              </a:rPr>
              <a:t>"Make me an espresso"</a:t>
            </a:r>
            <a:endParaRPr lang="en-US" sz="850" dirty="0"/>
          </a:p>
        </p:txBody>
      </p:sp>
      <p:sp>
        <p:nvSpPr>
          <p:cNvPr id="12" name="Shape 10"/>
          <p:cNvSpPr/>
          <p:nvPr/>
        </p:nvSpPr>
        <p:spPr>
          <a:xfrm>
            <a:off x="5577840" y="1435608"/>
            <a:ext cx="0" cy="201168"/>
          </a:xfrm>
          <a:prstGeom prst="line">
            <a:avLst/>
          </a:prstGeom>
          <a:noFill/>
          <a:ln w="11430">
            <a:solidFill>
              <a:srgbClr val="D49A14"/>
            </a:solidFill>
            <a:prstDash val="dash"/>
          </a:ln>
        </p:spPr>
      </p:sp>
      <p:sp>
        <p:nvSpPr>
          <p:cNvPr id="13" name="Shape 11"/>
          <p:cNvSpPr/>
          <p:nvPr/>
        </p:nvSpPr>
        <p:spPr>
          <a:xfrm>
            <a:off x="5413248" y="1755648"/>
            <a:ext cx="329184" cy="329184"/>
          </a:xfrm>
          <a:prstGeom prst="ellipse">
            <a:avLst/>
          </a:prstGeom>
          <a:solidFill>
            <a:srgbClr val="D49A14"/>
          </a:solidFill>
          <a:ln w="12700">
            <a:solidFill>
              <a:srgbClr val="D49A14"/>
            </a:solidFill>
            <a:prstDash val="solid"/>
          </a:ln>
        </p:spPr>
      </p:sp>
      <p:sp>
        <p:nvSpPr>
          <p:cNvPr id="14" name="Text 12"/>
          <p:cNvSpPr/>
          <p:nvPr/>
        </p:nvSpPr>
        <p:spPr>
          <a:xfrm>
            <a:off x="5413248" y="1755648"/>
            <a:ext cx="329184" cy="329184"/>
          </a:xfrm>
          <a:prstGeom prst="rect">
            <a:avLst/>
          </a:prstGeom>
          <a:noFill/>
          <a:ln/>
        </p:spPr>
        <p:txBody>
          <a:bodyPr wrap="square" lIns="0" tIns="0" rIns="0" bIns="0" rtlCol="0" anchor="ctr"/>
          <a:lstStyle/>
          <a:p>
            <a:pPr algn="ctr" indent="0" marL="0">
              <a:buNone/>
            </a:pPr>
            <a:r>
              <a:rPr lang="en-US" sz="900" b="1" dirty="0">
                <a:solidFill>
                  <a:srgbClr val="180C05"/>
                </a:solidFill>
              </a:rPr>
              <a:t>2</a:t>
            </a:r>
            <a:endParaRPr lang="en-US" sz="900" dirty="0"/>
          </a:p>
        </p:txBody>
      </p:sp>
      <p:sp>
        <p:nvSpPr>
          <p:cNvPr id="15" name="Text 13"/>
          <p:cNvSpPr/>
          <p:nvPr/>
        </p:nvSpPr>
        <p:spPr>
          <a:xfrm>
            <a:off x="5870448" y="1691640"/>
            <a:ext cx="2926080" cy="274320"/>
          </a:xfrm>
          <a:prstGeom prst="rect">
            <a:avLst/>
          </a:prstGeom>
          <a:noFill/>
          <a:ln/>
        </p:spPr>
        <p:txBody>
          <a:bodyPr wrap="square" lIns="0" tIns="0" rIns="0" bIns="0" rtlCol="0" anchor="ctr"/>
          <a:lstStyle/>
          <a:p>
            <a:pPr indent="0" marL="0">
              <a:buNone/>
            </a:pPr>
            <a:r>
              <a:rPr lang="en-US" sz="1150" b="1" dirty="0">
                <a:solidFill>
                  <a:srgbClr val="FBF0DD"/>
                </a:solidFill>
              </a:rPr>
              <a:t>Tool call</a:t>
            </a:r>
            <a:endParaRPr lang="en-US" sz="1150" dirty="0"/>
          </a:p>
        </p:txBody>
      </p:sp>
      <p:sp>
        <p:nvSpPr>
          <p:cNvPr id="16" name="Text 14"/>
          <p:cNvSpPr/>
          <p:nvPr/>
        </p:nvSpPr>
        <p:spPr>
          <a:xfrm>
            <a:off x="5870448" y="1975104"/>
            <a:ext cx="2926080" cy="237744"/>
          </a:xfrm>
          <a:prstGeom prst="rect">
            <a:avLst/>
          </a:prstGeom>
          <a:noFill/>
          <a:ln/>
        </p:spPr>
        <p:txBody>
          <a:bodyPr wrap="square" lIns="0" tIns="0" rIns="0" bIns="0" rtlCol="0" anchor="ctr"/>
          <a:lstStyle/>
          <a:p>
            <a:pPr indent="0" marL="0">
              <a:buNone/>
            </a:pPr>
            <a:r>
              <a:rPr lang="en-US" sz="850" dirty="0">
                <a:solidFill>
                  <a:srgbClr val="9A7050"/>
                </a:solidFill>
                <a:latin typeface="Consolas" pitchFamily="34" charset="0"/>
                <a:ea typeface="Consolas" pitchFamily="34" charset="-122"/>
                <a:cs typeface="Consolas" pitchFamily="34" charset="-120"/>
              </a:rPr>
              <a:t>brew_beverage(espresso, 2)</a:t>
            </a:r>
            <a:endParaRPr lang="en-US" sz="850" dirty="0"/>
          </a:p>
        </p:txBody>
      </p:sp>
      <p:sp>
        <p:nvSpPr>
          <p:cNvPr id="17" name="Shape 15"/>
          <p:cNvSpPr/>
          <p:nvPr/>
        </p:nvSpPr>
        <p:spPr>
          <a:xfrm>
            <a:off x="5577840" y="2212848"/>
            <a:ext cx="0" cy="201168"/>
          </a:xfrm>
          <a:prstGeom prst="line">
            <a:avLst/>
          </a:prstGeom>
          <a:noFill/>
          <a:ln w="11430">
            <a:solidFill>
              <a:srgbClr val="D49A14"/>
            </a:solidFill>
            <a:prstDash val="dash"/>
          </a:ln>
        </p:spPr>
      </p:sp>
      <p:sp>
        <p:nvSpPr>
          <p:cNvPr id="18" name="Shape 16"/>
          <p:cNvSpPr/>
          <p:nvPr/>
        </p:nvSpPr>
        <p:spPr>
          <a:xfrm>
            <a:off x="5413248" y="2532888"/>
            <a:ext cx="329184" cy="329184"/>
          </a:xfrm>
          <a:prstGeom prst="ellipse">
            <a:avLst/>
          </a:prstGeom>
          <a:solidFill>
            <a:srgbClr val="D49A14"/>
          </a:solidFill>
          <a:ln w="12700">
            <a:solidFill>
              <a:srgbClr val="D49A14"/>
            </a:solidFill>
            <a:prstDash val="solid"/>
          </a:ln>
        </p:spPr>
      </p:sp>
      <p:sp>
        <p:nvSpPr>
          <p:cNvPr id="19" name="Text 17"/>
          <p:cNvSpPr/>
          <p:nvPr/>
        </p:nvSpPr>
        <p:spPr>
          <a:xfrm>
            <a:off x="5413248" y="2532888"/>
            <a:ext cx="329184" cy="329184"/>
          </a:xfrm>
          <a:prstGeom prst="rect">
            <a:avLst/>
          </a:prstGeom>
          <a:noFill/>
          <a:ln/>
        </p:spPr>
        <p:txBody>
          <a:bodyPr wrap="square" lIns="0" tIns="0" rIns="0" bIns="0" rtlCol="0" anchor="ctr"/>
          <a:lstStyle/>
          <a:p>
            <a:pPr algn="ctr" indent="0" marL="0">
              <a:buNone/>
            </a:pPr>
            <a:r>
              <a:rPr lang="en-US" sz="900" b="1" dirty="0">
                <a:solidFill>
                  <a:srgbClr val="180C05"/>
                </a:solidFill>
              </a:rPr>
              <a:t>3</a:t>
            </a:r>
            <a:endParaRPr lang="en-US" sz="900" dirty="0"/>
          </a:p>
        </p:txBody>
      </p:sp>
      <p:sp>
        <p:nvSpPr>
          <p:cNvPr id="20" name="Text 18"/>
          <p:cNvSpPr/>
          <p:nvPr/>
        </p:nvSpPr>
        <p:spPr>
          <a:xfrm>
            <a:off x="5870448" y="2468880"/>
            <a:ext cx="2926080" cy="274320"/>
          </a:xfrm>
          <a:prstGeom prst="rect">
            <a:avLst/>
          </a:prstGeom>
          <a:noFill/>
          <a:ln/>
        </p:spPr>
        <p:txBody>
          <a:bodyPr wrap="square" lIns="0" tIns="0" rIns="0" bIns="0" rtlCol="0" anchor="ctr"/>
          <a:lstStyle/>
          <a:p>
            <a:pPr indent="0" marL="0">
              <a:buNone/>
            </a:pPr>
            <a:r>
              <a:rPr lang="en-US" sz="1150" b="1" dirty="0">
                <a:solidFill>
                  <a:srgbClr val="FBF0DD"/>
                </a:solidFill>
              </a:rPr>
              <a:t>ECAM packet</a:t>
            </a:r>
            <a:endParaRPr lang="en-US" sz="1150" dirty="0"/>
          </a:p>
        </p:txBody>
      </p:sp>
      <p:sp>
        <p:nvSpPr>
          <p:cNvPr id="21" name="Text 19"/>
          <p:cNvSpPr/>
          <p:nvPr/>
        </p:nvSpPr>
        <p:spPr>
          <a:xfrm>
            <a:off x="5870448" y="2752344"/>
            <a:ext cx="2926080" cy="237744"/>
          </a:xfrm>
          <a:prstGeom prst="rect">
            <a:avLst/>
          </a:prstGeom>
          <a:noFill/>
          <a:ln/>
        </p:spPr>
        <p:txBody>
          <a:bodyPr wrap="square" lIns="0" tIns="0" rIns="0" bIns="0" rtlCol="0" anchor="ctr"/>
          <a:lstStyle/>
          <a:p>
            <a:pPr indent="0" marL="0">
              <a:buNone/>
            </a:pPr>
            <a:r>
              <a:rPr lang="en-US" sz="850" dirty="0">
                <a:solidFill>
                  <a:srgbClr val="9A7050"/>
                </a:solidFill>
                <a:latin typeface="Consolas" pitchFamily="34" charset="0"/>
                <a:ea typeface="Consolas" pitchFamily="34" charset="-122"/>
                <a:cs typeface="Consolas" pitchFamily="34" charset="-120"/>
              </a:rPr>
              <a:t>0xD0 ... 0x83 ... CRC-16</a:t>
            </a:r>
            <a:endParaRPr lang="en-US" sz="850" dirty="0"/>
          </a:p>
        </p:txBody>
      </p:sp>
      <p:sp>
        <p:nvSpPr>
          <p:cNvPr id="22" name="Shape 20"/>
          <p:cNvSpPr/>
          <p:nvPr/>
        </p:nvSpPr>
        <p:spPr>
          <a:xfrm>
            <a:off x="5577840" y="2990088"/>
            <a:ext cx="0" cy="201168"/>
          </a:xfrm>
          <a:prstGeom prst="line">
            <a:avLst/>
          </a:prstGeom>
          <a:noFill/>
          <a:ln w="11430">
            <a:solidFill>
              <a:srgbClr val="D49A14"/>
            </a:solidFill>
            <a:prstDash val="dash"/>
          </a:ln>
        </p:spPr>
      </p:sp>
      <p:sp>
        <p:nvSpPr>
          <p:cNvPr id="23" name="Shape 21"/>
          <p:cNvSpPr/>
          <p:nvPr/>
        </p:nvSpPr>
        <p:spPr>
          <a:xfrm>
            <a:off x="5413248" y="3310128"/>
            <a:ext cx="329184" cy="329184"/>
          </a:xfrm>
          <a:prstGeom prst="ellipse">
            <a:avLst/>
          </a:prstGeom>
          <a:solidFill>
            <a:srgbClr val="D49A14"/>
          </a:solidFill>
          <a:ln w="12700">
            <a:solidFill>
              <a:srgbClr val="D49A14"/>
            </a:solidFill>
            <a:prstDash val="solid"/>
          </a:ln>
        </p:spPr>
      </p:sp>
      <p:sp>
        <p:nvSpPr>
          <p:cNvPr id="24" name="Text 22"/>
          <p:cNvSpPr/>
          <p:nvPr/>
        </p:nvSpPr>
        <p:spPr>
          <a:xfrm>
            <a:off x="5413248" y="3310128"/>
            <a:ext cx="329184" cy="329184"/>
          </a:xfrm>
          <a:prstGeom prst="rect">
            <a:avLst/>
          </a:prstGeom>
          <a:noFill/>
          <a:ln/>
        </p:spPr>
        <p:txBody>
          <a:bodyPr wrap="square" lIns="0" tIns="0" rIns="0" bIns="0" rtlCol="0" anchor="ctr"/>
          <a:lstStyle/>
          <a:p>
            <a:pPr algn="ctr" indent="0" marL="0">
              <a:buNone/>
            </a:pPr>
            <a:r>
              <a:rPr lang="en-US" sz="900" b="1" dirty="0">
                <a:solidFill>
                  <a:srgbClr val="180C05"/>
                </a:solidFill>
              </a:rPr>
              <a:t>4</a:t>
            </a:r>
            <a:endParaRPr lang="en-US" sz="900" dirty="0"/>
          </a:p>
        </p:txBody>
      </p:sp>
      <p:sp>
        <p:nvSpPr>
          <p:cNvPr id="25" name="Text 23"/>
          <p:cNvSpPr/>
          <p:nvPr/>
        </p:nvSpPr>
        <p:spPr>
          <a:xfrm>
            <a:off x="5870448" y="3246120"/>
            <a:ext cx="2926080" cy="274320"/>
          </a:xfrm>
          <a:prstGeom prst="rect">
            <a:avLst/>
          </a:prstGeom>
          <a:noFill/>
          <a:ln/>
        </p:spPr>
        <p:txBody>
          <a:bodyPr wrap="square" lIns="0" tIns="0" rIns="0" bIns="0" rtlCol="0" anchor="ctr"/>
          <a:lstStyle/>
          <a:p>
            <a:pPr indent="0" marL="0">
              <a:buNone/>
            </a:pPr>
            <a:r>
              <a:rPr lang="en-US" sz="1150" b="1" dirty="0">
                <a:solidFill>
                  <a:srgbClr val="FBF0DD"/>
                </a:solidFill>
              </a:rPr>
              <a:t>Ayla REST</a:t>
            </a:r>
            <a:endParaRPr lang="en-US" sz="1150" dirty="0"/>
          </a:p>
        </p:txBody>
      </p:sp>
      <p:sp>
        <p:nvSpPr>
          <p:cNvPr id="26" name="Text 24"/>
          <p:cNvSpPr/>
          <p:nvPr/>
        </p:nvSpPr>
        <p:spPr>
          <a:xfrm>
            <a:off x="5870448" y="3529584"/>
            <a:ext cx="2926080" cy="237744"/>
          </a:xfrm>
          <a:prstGeom prst="rect">
            <a:avLst/>
          </a:prstGeom>
          <a:noFill/>
          <a:ln/>
        </p:spPr>
        <p:txBody>
          <a:bodyPr wrap="square" lIns="0" tIns="0" rIns="0" bIns="0" rtlCol="0" anchor="ctr"/>
          <a:lstStyle/>
          <a:p>
            <a:pPr indent="0" marL="0">
              <a:buNone/>
            </a:pPr>
            <a:r>
              <a:rPr lang="en-US" sz="850" dirty="0">
                <a:solidFill>
                  <a:srgbClr val="9A7050"/>
                </a:solidFill>
                <a:latin typeface="Consolas" pitchFamily="34" charset="0"/>
                <a:ea typeface="Consolas" pitchFamily="34" charset="-122"/>
                <a:cs typeface="Consolas" pitchFamily="34" charset="-120"/>
              </a:rPr>
              <a:t>POST app_data_request</a:t>
            </a:r>
            <a:endParaRPr lang="en-US" sz="850" dirty="0"/>
          </a:p>
        </p:txBody>
      </p:sp>
      <p:sp>
        <p:nvSpPr>
          <p:cNvPr id="27" name="Shape 25"/>
          <p:cNvSpPr/>
          <p:nvPr/>
        </p:nvSpPr>
        <p:spPr>
          <a:xfrm>
            <a:off x="5577840" y="3767328"/>
            <a:ext cx="0" cy="201168"/>
          </a:xfrm>
          <a:prstGeom prst="line">
            <a:avLst/>
          </a:prstGeom>
          <a:noFill/>
          <a:ln w="11430">
            <a:solidFill>
              <a:srgbClr val="D49A14"/>
            </a:solidFill>
            <a:prstDash val="dash"/>
          </a:ln>
        </p:spPr>
      </p:sp>
      <p:sp>
        <p:nvSpPr>
          <p:cNvPr id="28" name="Shape 26"/>
          <p:cNvSpPr/>
          <p:nvPr/>
        </p:nvSpPr>
        <p:spPr>
          <a:xfrm>
            <a:off x="5413248" y="4087368"/>
            <a:ext cx="329184" cy="329184"/>
          </a:xfrm>
          <a:prstGeom prst="ellipse">
            <a:avLst/>
          </a:prstGeom>
          <a:solidFill>
            <a:srgbClr val="D49A14"/>
          </a:solidFill>
          <a:ln w="12700">
            <a:solidFill>
              <a:srgbClr val="D49A14"/>
            </a:solidFill>
            <a:prstDash val="solid"/>
          </a:ln>
        </p:spPr>
      </p:sp>
      <p:sp>
        <p:nvSpPr>
          <p:cNvPr id="29" name="Text 27"/>
          <p:cNvSpPr/>
          <p:nvPr/>
        </p:nvSpPr>
        <p:spPr>
          <a:xfrm>
            <a:off x="5413248" y="4087368"/>
            <a:ext cx="329184" cy="329184"/>
          </a:xfrm>
          <a:prstGeom prst="rect">
            <a:avLst/>
          </a:prstGeom>
          <a:noFill/>
          <a:ln/>
        </p:spPr>
        <p:txBody>
          <a:bodyPr wrap="square" lIns="0" tIns="0" rIns="0" bIns="0" rtlCol="0" anchor="ctr"/>
          <a:lstStyle/>
          <a:p>
            <a:pPr algn="ctr" indent="0" marL="0">
              <a:buNone/>
            </a:pPr>
            <a:r>
              <a:rPr lang="en-US" sz="900" b="1" dirty="0">
                <a:solidFill>
                  <a:srgbClr val="180C05"/>
                </a:solidFill>
              </a:rPr>
              <a:t>5</a:t>
            </a:r>
            <a:endParaRPr lang="en-US" sz="900" dirty="0"/>
          </a:p>
        </p:txBody>
      </p:sp>
      <p:sp>
        <p:nvSpPr>
          <p:cNvPr id="30" name="Text 28"/>
          <p:cNvSpPr/>
          <p:nvPr/>
        </p:nvSpPr>
        <p:spPr>
          <a:xfrm>
            <a:off x="5870448" y="4023360"/>
            <a:ext cx="2926080" cy="274320"/>
          </a:xfrm>
          <a:prstGeom prst="rect">
            <a:avLst/>
          </a:prstGeom>
          <a:noFill/>
          <a:ln/>
        </p:spPr>
        <p:txBody>
          <a:bodyPr wrap="square" lIns="0" tIns="0" rIns="0" bIns="0" rtlCol="0" anchor="ctr"/>
          <a:lstStyle/>
          <a:p>
            <a:pPr indent="0" marL="0">
              <a:buNone/>
            </a:pPr>
            <a:r>
              <a:rPr lang="en-US" sz="1150" b="1" dirty="0">
                <a:solidFill>
                  <a:srgbClr val="FBF0DD"/>
                </a:solidFill>
              </a:rPr>
              <a:t>Machine</a:t>
            </a:r>
            <a:endParaRPr lang="en-US" sz="1150" dirty="0"/>
          </a:p>
        </p:txBody>
      </p:sp>
      <p:sp>
        <p:nvSpPr>
          <p:cNvPr id="31" name="Text 29"/>
          <p:cNvSpPr/>
          <p:nvPr/>
        </p:nvSpPr>
        <p:spPr>
          <a:xfrm>
            <a:off x="5870448" y="4306824"/>
            <a:ext cx="2926080" cy="237744"/>
          </a:xfrm>
          <a:prstGeom prst="rect">
            <a:avLst/>
          </a:prstGeom>
          <a:noFill/>
          <a:ln/>
        </p:spPr>
        <p:txBody>
          <a:bodyPr wrap="square" lIns="0" tIns="0" rIns="0" bIns="0" rtlCol="0" anchor="ctr"/>
          <a:lstStyle/>
          <a:p>
            <a:pPr indent="0" marL="0">
              <a:buNone/>
            </a:pPr>
            <a:r>
              <a:rPr lang="en-US" sz="850" dirty="0">
                <a:solidFill>
                  <a:srgbClr val="9A7050"/>
                </a:solidFill>
                <a:latin typeface="Consolas" pitchFamily="34" charset="0"/>
                <a:ea typeface="Consolas" pitchFamily="34" charset="-122"/>
                <a:cs typeface="Consolas" pitchFamily="34" charset="-120"/>
              </a:rPr>
              <a:t>Brewing starts</a:t>
            </a:r>
            <a:endParaRPr lang="en-US" sz="850" dirty="0"/>
          </a:p>
        </p:txBody>
      </p:sp>
      <p:sp>
        <p:nvSpPr>
          <p:cNvPr id="32" name="Text 30"/>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14 / 16</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594360" y="201168"/>
            <a:ext cx="8046720" cy="585216"/>
          </a:xfrm>
          <a:prstGeom prst="rect">
            <a:avLst/>
          </a:prstGeom>
          <a:noFill/>
          <a:ln/>
        </p:spPr>
        <p:txBody>
          <a:bodyPr wrap="square" lIns="0" tIns="0" rIns="0" bIns="0" rtlCol="0" anchor="ctr"/>
          <a:lstStyle/>
          <a:p>
            <a:pPr algn="l" indent="0" marL="0">
              <a:buNone/>
            </a:pPr>
            <a:r>
              <a:rPr lang="en-US" sz="2100" b="1" dirty="0">
                <a:solidFill>
                  <a:srgbClr val="FBF0DD"/>
                </a:solidFill>
                <a:latin typeface="Trebuchet MS" pitchFamily="34" charset="0"/>
                <a:ea typeface="Trebuchet MS" pitchFamily="34" charset="-122"/>
                <a:cs typeface="Trebuchet MS" pitchFamily="34" charset="-120"/>
              </a:rPr>
              <a:t>Ce qu'on a appris</a:t>
            </a:r>
            <a:endParaRPr lang="en-US" sz="2100" dirty="0"/>
          </a:p>
        </p:txBody>
      </p:sp>
      <p:sp>
        <p:nvSpPr>
          <p:cNvPr id="5" name="Shape 3"/>
          <p:cNvSpPr/>
          <p:nvPr/>
        </p:nvSpPr>
        <p:spPr>
          <a:xfrm>
            <a:off x="594360" y="804672"/>
            <a:ext cx="7955280" cy="0"/>
          </a:xfrm>
          <a:prstGeom prst="line">
            <a:avLst/>
          </a:prstGeom>
          <a:noFill/>
          <a:ln w="9525">
            <a:solidFill>
              <a:srgbClr val="D49A14"/>
            </a:solidFill>
            <a:prstDash val="solid"/>
          </a:ln>
        </p:spPr>
      </p:sp>
      <p:sp>
        <p:nvSpPr>
          <p:cNvPr id="6" name="Text 4"/>
          <p:cNvSpPr/>
          <p:nvPr/>
        </p:nvSpPr>
        <p:spPr>
          <a:xfrm>
            <a:off x="594360" y="201168"/>
            <a:ext cx="7955280" cy="274320"/>
          </a:xfrm>
          <a:prstGeom prst="rect">
            <a:avLst/>
          </a:prstGeom>
          <a:noFill/>
          <a:ln/>
        </p:spPr>
        <p:txBody>
          <a:bodyPr wrap="square" lIns="0" tIns="0" rIns="0" bIns="0" rtlCol="0" anchor="ctr"/>
          <a:lstStyle/>
          <a:p>
            <a:pPr algn="r" indent="0" marL="0">
              <a:buNone/>
            </a:pPr>
            <a:r>
              <a:rPr lang="en-US" sz="750" b="1" spc="200" kern="0" dirty="0">
                <a:solidFill>
                  <a:srgbClr val="9A7050"/>
                </a:solidFill>
              </a:rPr>
              <a:t>LEARNINGS</a:t>
            </a:r>
            <a:endParaRPr lang="en-US" sz="750" dirty="0"/>
          </a:p>
        </p:txBody>
      </p:sp>
      <p:sp>
        <p:nvSpPr>
          <p:cNvPr id="7" name="Text 5"/>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15 / 16</a:t>
            </a:r>
            <a:endParaRPr lang="en-US" sz="750" dirty="0"/>
          </a:p>
        </p:txBody>
      </p:sp>
      <p:sp>
        <p:nvSpPr>
          <p:cNvPr id="8" name="Shape 6"/>
          <p:cNvSpPr/>
          <p:nvPr/>
        </p:nvSpPr>
        <p:spPr>
          <a:xfrm>
            <a:off x="457200" y="960120"/>
            <a:ext cx="4160520" cy="1883664"/>
          </a:xfrm>
          <a:prstGeom prst="rect">
            <a:avLst/>
          </a:prstGeom>
          <a:solidFill>
            <a:srgbClr val="341A0A"/>
          </a:solidFill>
          <a:ln w="9525">
            <a:solidFill>
              <a:srgbClr val="D49A14"/>
            </a:solidFill>
            <a:prstDash val="solid"/>
          </a:ln>
        </p:spPr>
      </p:sp>
      <p:sp>
        <p:nvSpPr>
          <p:cNvPr id="9" name="Shape 7"/>
          <p:cNvSpPr/>
          <p:nvPr/>
        </p:nvSpPr>
        <p:spPr>
          <a:xfrm>
            <a:off x="457200" y="960120"/>
            <a:ext cx="64008" cy="1883664"/>
          </a:xfrm>
          <a:prstGeom prst="rect">
            <a:avLst/>
          </a:prstGeom>
          <a:solidFill>
            <a:srgbClr val="D49A14"/>
          </a:solidFill>
          <a:ln w="12700">
            <a:solidFill>
              <a:srgbClr val="D49A14"/>
            </a:solidFill>
            <a:prstDash val="solid"/>
          </a:ln>
        </p:spPr>
      </p:sp>
      <p:sp>
        <p:nvSpPr>
          <p:cNvPr id="10" name="Text 8"/>
          <p:cNvSpPr/>
          <p:nvPr/>
        </p:nvSpPr>
        <p:spPr>
          <a:xfrm>
            <a:off x="640080" y="1088136"/>
            <a:ext cx="3840480" cy="420624"/>
          </a:xfrm>
          <a:prstGeom prst="rect">
            <a:avLst/>
          </a:prstGeom>
          <a:noFill/>
          <a:ln/>
        </p:spPr>
        <p:txBody>
          <a:bodyPr wrap="square" lIns="0" tIns="0" rIns="0" bIns="0" rtlCol="0" anchor="ctr"/>
          <a:lstStyle/>
          <a:p>
            <a:pPr indent="0" marL="0">
              <a:buNone/>
            </a:pPr>
            <a:r>
              <a:rPr lang="en-US" sz="1200" b="1" dirty="0">
                <a:solidFill>
                  <a:srgbClr val="FBF0DD"/>
                </a:solidFill>
              </a:rPr>
              <a:t>APK - Les APKs sont une mine d'or</a:t>
            </a:r>
            <a:endParaRPr lang="en-US" sz="1200" dirty="0"/>
          </a:p>
        </p:txBody>
      </p:sp>
      <p:sp>
        <p:nvSpPr>
          <p:cNvPr id="11" name="Shape 9"/>
          <p:cNvSpPr/>
          <p:nvPr/>
        </p:nvSpPr>
        <p:spPr>
          <a:xfrm>
            <a:off x="640080" y="1554480"/>
            <a:ext cx="3749040" cy="0"/>
          </a:xfrm>
          <a:prstGeom prst="line">
            <a:avLst/>
          </a:prstGeom>
          <a:noFill/>
          <a:ln w="5080">
            <a:solidFill>
              <a:srgbClr val="4A2A14"/>
            </a:solidFill>
            <a:prstDash val="solid"/>
          </a:ln>
        </p:spPr>
      </p:sp>
      <p:sp>
        <p:nvSpPr>
          <p:cNvPr id="12" name="Text 10"/>
          <p:cNvSpPr/>
          <p:nvPr/>
        </p:nvSpPr>
        <p:spPr>
          <a:xfrm>
            <a:off x="640080" y="1655064"/>
            <a:ext cx="3840480" cy="1005840"/>
          </a:xfrm>
          <a:prstGeom prst="rect">
            <a:avLst/>
          </a:prstGeom>
          <a:noFill/>
          <a:ln/>
        </p:spPr>
        <p:txBody>
          <a:bodyPr wrap="square" lIns="0" tIns="0" rIns="0" bIns="0" rtlCol="0" anchor="ctr"/>
          <a:lstStyle/>
          <a:p>
            <a:pPr indent="0" marL="0">
              <a:buNone/>
            </a:pPr>
            <a:r>
              <a:rPr lang="en-US" sz="1050" dirty="0">
                <a:solidFill>
                  <a:srgbClr val="9A7050"/>
                </a:solidFill>
              </a:rPr>
              <a:t>Credentials, URLs, protocoles binaires - tout est la,</a:t>
            </a:r>
            <a:endParaRPr lang="en-US" sz="1050" dirty="0"/>
          </a:p>
          <a:p>
            <a:pPr indent="0" marL="0">
              <a:buNone/>
            </a:pPr>
            <a:r>
              <a:rPr lang="en-US" sz="1050" dirty="0">
                <a:solidFill>
                  <a:srgbClr val="9A7050"/>
                </a:solidFill>
              </a:rPr>
              <a:t>souvent lisible dans les packages non obfusques.</a:t>
            </a:r>
            <a:endParaRPr lang="en-US" sz="1050" dirty="0"/>
          </a:p>
        </p:txBody>
      </p:sp>
      <p:sp>
        <p:nvSpPr>
          <p:cNvPr id="13" name="Shape 11"/>
          <p:cNvSpPr/>
          <p:nvPr/>
        </p:nvSpPr>
        <p:spPr>
          <a:xfrm>
            <a:off x="4846320" y="960120"/>
            <a:ext cx="4160520" cy="1883664"/>
          </a:xfrm>
          <a:prstGeom prst="rect">
            <a:avLst/>
          </a:prstGeom>
          <a:solidFill>
            <a:srgbClr val="341A0A"/>
          </a:solidFill>
          <a:ln w="9525">
            <a:solidFill>
              <a:srgbClr val="7B3A7A"/>
            </a:solidFill>
            <a:prstDash val="solid"/>
          </a:ln>
        </p:spPr>
      </p:sp>
      <p:sp>
        <p:nvSpPr>
          <p:cNvPr id="14" name="Shape 12"/>
          <p:cNvSpPr/>
          <p:nvPr/>
        </p:nvSpPr>
        <p:spPr>
          <a:xfrm>
            <a:off x="4846320" y="960120"/>
            <a:ext cx="64008" cy="1883664"/>
          </a:xfrm>
          <a:prstGeom prst="rect">
            <a:avLst/>
          </a:prstGeom>
          <a:solidFill>
            <a:srgbClr val="7B3A7A"/>
          </a:solidFill>
          <a:ln w="12700">
            <a:solidFill>
              <a:srgbClr val="7B3A7A"/>
            </a:solidFill>
            <a:prstDash val="solid"/>
          </a:ln>
        </p:spPr>
      </p:sp>
      <p:sp>
        <p:nvSpPr>
          <p:cNvPr id="15" name="Text 13"/>
          <p:cNvSpPr/>
          <p:nvPr/>
        </p:nvSpPr>
        <p:spPr>
          <a:xfrm>
            <a:off x="5029200" y="1088136"/>
            <a:ext cx="3840480" cy="420624"/>
          </a:xfrm>
          <a:prstGeom prst="rect">
            <a:avLst/>
          </a:prstGeom>
          <a:noFill/>
          <a:ln/>
        </p:spPr>
        <p:txBody>
          <a:bodyPr wrap="square" lIns="0" tIns="0" rIns="0" bIns="0" rtlCol="0" anchor="ctr"/>
          <a:lstStyle/>
          <a:p>
            <a:pPr indent="0" marL="0">
              <a:buNone/>
            </a:pPr>
            <a:r>
              <a:rPr lang="en-US" sz="1200" b="1" dirty="0">
                <a:solidFill>
                  <a:srgbClr val="FBF0DD"/>
                </a:solidFill>
              </a:rPr>
              <a:t>NET - Le tracing reseau confirme tout</a:t>
            </a:r>
            <a:endParaRPr lang="en-US" sz="1200" dirty="0"/>
          </a:p>
        </p:txBody>
      </p:sp>
      <p:sp>
        <p:nvSpPr>
          <p:cNvPr id="16" name="Shape 14"/>
          <p:cNvSpPr/>
          <p:nvPr/>
        </p:nvSpPr>
        <p:spPr>
          <a:xfrm>
            <a:off x="5029200" y="1554480"/>
            <a:ext cx="3749040" cy="0"/>
          </a:xfrm>
          <a:prstGeom prst="line">
            <a:avLst/>
          </a:prstGeom>
          <a:noFill/>
          <a:ln w="5080">
            <a:solidFill>
              <a:srgbClr val="4A2A14"/>
            </a:solidFill>
            <a:prstDash val="solid"/>
          </a:ln>
        </p:spPr>
      </p:sp>
      <p:sp>
        <p:nvSpPr>
          <p:cNvPr id="17" name="Text 15"/>
          <p:cNvSpPr/>
          <p:nvPr/>
        </p:nvSpPr>
        <p:spPr>
          <a:xfrm>
            <a:off x="5029200" y="1655064"/>
            <a:ext cx="3840480" cy="1005840"/>
          </a:xfrm>
          <a:prstGeom prst="rect">
            <a:avLst/>
          </a:prstGeom>
          <a:noFill/>
          <a:ln/>
        </p:spPr>
        <p:txBody>
          <a:bodyPr wrap="square" lIns="0" tIns="0" rIns="0" bIns="0" rtlCol="0" anchor="ctr"/>
          <a:lstStyle/>
          <a:p>
            <a:pPr indent="0" marL="0">
              <a:buNone/>
            </a:pPr>
            <a:r>
              <a:rPr lang="en-US" sz="1050" dirty="0">
                <a:solidFill>
                  <a:srgbClr val="9A7050"/>
                </a:solidFill>
              </a:rPr>
              <a:t>mitmproxy sur le WiFi + certificat Android =</a:t>
            </a:r>
            <a:endParaRPr lang="en-US" sz="1050" dirty="0"/>
          </a:p>
          <a:p>
            <a:pPr indent="0" marL="0">
              <a:buNone/>
            </a:pPr>
            <a:r>
              <a:rPr lang="en-US" sz="1050" dirty="0">
                <a:solidFill>
                  <a:srgbClr val="9A7050"/>
                </a:solidFill>
              </a:rPr>
              <a:t>voir chaque requete en clair, sans effort.</a:t>
            </a:r>
            <a:endParaRPr lang="en-US" sz="1050" dirty="0"/>
          </a:p>
        </p:txBody>
      </p:sp>
      <p:sp>
        <p:nvSpPr>
          <p:cNvPr id="18" name="Shape 16"/>
          <p:cNvSpPr/>
          <p:nvPr/>
        </p:nvSpPr>
        <p:spPr>
          <a:xfrm>
            <a:off x="457200" y="3017520"/>
            <a:ext cx="4160520" cy="1883664"/>
          </a:xfrm>
          <a:prstGeom prst="rect">
            <a:avLst/>
          </a:prstGeom>
          <a:solidFill>
            <a:srgbClr val="341A0A"/>
          </a:solidFill>
          <a:ln w="9525">
            <a:solidFill>
              <a:srgbClr val="178A52"/>
            </a:solidFill>
            <a:prstDash val="solid"/>
          </a:ln>
        </p:spPr>
      </p:sp>
      <p:sp>
        <p:nvSpPr>
          <p:cNvPr id="19" name="Shape 17"/>
          <p:cNvSpPr/>
          <p:nvPr/>
        </p:nvSpPr>
        <p:spPr>
          <a:xfrm>
            <a:off x="457200" y="3017520"/>
            <a:ext cx="64008" cy="1883664"/>
          </a:xfrm>
          <a:prstGeom prst="rect">
            <a:avLst/>
          </a:prstGeom>
          <a:solidFill>
            <a:srgbClr val="178A52"/>
          </a:solidFill>
          <a:ln w="12700">
            <a:solidFill>
              <a:srgbClr val="178A52"/>
            </a:solidFill>
            <a:prstDash val="solid"/>
          </a:ln>
        </p:spPr>
      </p:sp>
      <p:sp>
        <p:nvSpPr>
          <p:cNvPr id="20" name="Text 18"/>
          <p:cNvSpPr/>
          <p:nvPr/>
        </p:nvSpPr>
        <p:spPr>
          <a:xfrm>
            <a:off x="640080" y="3145536"/>
            <a:ext cx="3840480" cy="420624"/>
          </a:xfrm>
          <a:prstGeom prst="rect">
            <a:avLst/>
          </a:prstGeom>
          <a:noFill/>
          <a:ln/>
        </p:spPr>
        <p:txBody>
          <a:bodyPr wrap="square" lIns="0" tIns="0" rIns="0" bIns="0" rtlCol="0" anchor="ctr"/>
          <a:lstStyle/>
          <a:p>
            <a:pPr indent="0" marL="0">
              <a:buNone/>
            </a:pPr>
            <a:r>
              <a:rPr lang="en-US" sz="1200" b="1" dirty="0">
                <a:solidFill>
                  <a:srgbClr val="FBF0DD"/>
                </a:solidFill>
              </a:rPr>
              <a:t>MCP - MCP = pont parfait entre AI et IoT</a:t>
            </a:r>
            <a:endParaRPr lang="en-US" sz="1200" dirty="0"/>
          </a:p>
        </p:txBody>
      </p:sp>
      <p:sp>
        <p:nvSpPr>
          <p:cNvPr id="21" name="Shape 19"/>
          <p:cNvSpPr/>
          <p:nvPr/>
        </p:nvSpPr>
        <p:spPr>
          <a:xfrm>
            <a:off x="640080" y="3611880"/>
            <a:ext cx="3749040" cy="0"/>
          </a:xfrm>
          <a:prstGeom prst="line">
            <a:avLst/>
          </a:prstGeom>
          <a:noFill/>
          <a:ln w="5080">
            <a:solidFill>
              <a:srgbClr val="4A2A14"/>
            </a:solidFill>
            <a:prstDash val="solid"/>
          </a:ln>
        </p:spPr>
      </p:sp>
      <p:sp>
        <p:nvSpPr>
          <p:cNvPr id="22" name="Text 20"/>
          <p:cNvSpPr/>
          <p:nvPr/>
        </p:nvSpPr>
        <p:spPr>
          <a:xfrm>
            <a:off x="640080" y="3712464"/>
            <a:ext cx="3840480" cy="1005840"/>
          </a:xfrm>
          <a:prstGeom prst="rect">
            <a:avLst/>
          </a:prstGeom>
          <a:noFill/>
          <a:ln/>
        </p:spPr>
        <p:txBody>
          <a:bodyPr wrap="square" lIns="0" tIns="0" rIns="0" bIns="0" rtlCol="0" anchor="ctr"/>
          <a:lstStyle/>
          <a:p>
            <a:pPr indent="0" marL="0">
              <a:buNone/>
            </a:pPr>
            <a:r>
              <a:rPr lang="en-US" sz="1050" dirty="0">
                <a:solidFill>
                  <a:srgbClr val="9A7050"/>
                </a:solidFill>
              </a:rPr>
              <a:t>Un serveur MCP transforme une API privee</a:t>
            </a:r>
            <a:endParaRPr lang="en-US" sz="1050" dirty="0"/>
          </a:p>
          <a:p>
            <a:pPr indent="0" marL="0">
              <a:buNone/>
            </a:pPr>
            <a:r>
              <a:rPr lang="en-US" sz="1050" dirty="0">
                <a:solidFill>
                  <a:srgbClr val="9A7050"/>
                </a:solidFill>
              </a:rPr>
              <a:t>en outil natif pour tout AI agent.</a:t>
            </a:r>
            <a:endParaRPr lang="en-US" sz="1050" dirty="0"/>
          </a:p>
        </p:txBody>
      </p:sp>
      <p:sp>
        <p:nvSpPr>
          <p:cNvPr id="23" name="Shape 21"/>
          <p:cNvSpPr/>
          <p:nvPr/>
        </p:nvSpPr>
        <p:spPr>
          <a:xfrm>
            <a:off x="4846320" y="3017520"/>
            <a:ext cx="4160520" cy="1883664"/>
          </a:xfrm>
          <a:prstGeom prst="rect">
            <a:avLst/>
          </a:prstGeom>
          <a:solidFill>
            <a:srgbClr val="341A0A"/>
          </a:solidFill>
          <a:ln w="9525">
            <a:solidFill>
              <a:srgbClr val="C64018"/>
            </a:solidFill>
            <a:prstDash val="solid"/>
          </a:ln>
        </p:spPr>
      </p:sp>
      <p:sp>
        <p:nvSpPr>
          <p:cNvPr id="24" name="Shape 22"/>
          <p:cNvSpPr/>
          <p:nvPr/>
        </p:nvSpPr>
        <p:spPr>
          <a:xfrm>
            <a:off x="4846320" y="3017520"/>
            <a:ext cx="64008" cy="1883664"/>
          </a:xfrm>
          <a:prstGeom prst="rect">
            <a:avLst/>
          </a:prstGeom>
          <a:solidFill>
            <a:srgbClr val="C64018"/>
          </a:solidFill>
          <a:ln w="12700">
            <a:solidFill>
              <a:srgbClr val="C64018"/>
            </a:solidFill>
            <a:prstDash val="solid"/>
          </a:ln>
        </p:spPr>
      </p:sp>
      <p:sp>
        <p:nvSpPr>
          <p:cNvPr id="25" name="Text 23"/>
          <p:cNvSpPr/>
          <p:nvPr/>
        </p:nvSpPr>
        <p:spPr>
          <a:xfrm>
            <a:off x="5029200" y="3145536"/>
            <a:ext cx="3840480" cy="420624"/>
          </a:xfrm>
          <a:prstGeom prst="rect">
            <a:avLst/>
          </a:prstGeom>
          <a:noFill/>
          <a:ln/>
        </p:spPr>
        <p:txBody>
          <a:bodyPr wrap="square" lIns="0" tIns="0" rIns="0" bIns="0" rtlCol="0" anchor="ctr"/>
          <a:lstStyle/>
          <a:p>
            <a:pPr indent="0" marL="0">
              <a:buNone/>
            </a:pPr>
            <a:r>
              <a:rPr lang="en-US" sz="1200" b="1" dirty="0">
                <a:solidFill>
                  <a:srgbClr val="FBF0DD"/>
                </a:solidFill>
              </a:rPr>
              <a:t>RE - Le reverse engineering debloque tout</a:t>
            </a:r>
            <a:endParaRPr lang="en-US" sz="1200" dirty="0"/>
          </a:p>
        </p:txBody>
      </p:sp>
      <p:sp>
        <p:nvSpPr>
          <p:cNvPr id="26" name="Shape 24"/>
          <p:cNvSpPr/>
          <p:nvPr/>
        </p:nvSpPr>
        <p:spPr>
          <a:xfrm>
            <a:off x="5029200" y="3611880"/>
            <a:ext cx="3749040" cy="0"/>
          </a:xfrm>
          <a:prstGeom prst="line">
            <a:avLst/>
          </a:prstGeom>
          <a:noFill/>
          <a:ln w="5080">
            <a:solidFill>
              <a:srgbClr val="4A2A14"/>
            </a:solidFill>
            <a:prstDash val="solid"/>
          </a:ln>
        </p:spPr>
      </p:sp>
      <p:sp>
        <p:nvSpPr>
          <p:cNvPr id="27" name="Text 25"/>
          <p:cNvSpPr/>
          <p:nvPr/>
        </p:nvSpPr>
        <p:spPr>
          <a:xfrm>
            <a:off x="5029200" y="3712464"/>
            <a:ext cx="3840480" cy="1005840"/>
          </a:xfrm>
          <a:prstGeom prst="rect">
            <a:avLst/>
          </a:prstGeom>
          <a:noFill/>
          <a:ln/>
        </p:spPr>
        <p:txBody>
          <a:bodyPr wrap="square" lIns="0" tIns="0" rIns="0" bIns="0" rtlCol="0" anchor="ctr"/>
          <a:lstStyle/>
          <a:p>
            <a:pPr indent="0" marL="0">
              <a:buNone/>
            </a:pPr>
            <a:r>
              <a:rPr lang="en-US" sz="1050" dirty="0">
                <a:solidFill>
                  <a:srgbClr val="9A7050"/>
                </a:solidFill>
              </a:rPr>
              <a:t>.NET 10 + MCP SDK + quelques jours de RE</a:t>
            </a:r>
            <a:endParaRPr lang="en-US" sz="1050" dirty="0"/>
          </a:p>
          <a:p>
            <a:pPr indent="0" marL="0">
              <a:buNone/>
            </a:pPr>
            <a:r>
              <a:rPr lang="en-US" sz="1050" dirty="0">
                <a:solidFill>
                  <a:srgbClr val="9A7050"/>
                </a:solidFill>
              </a:rPr>
              <a:t>= expresso commande par une IA.</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0C05"/>
          </a:solidFill>
          <a:ln w="12700">
            <a:solidFill>
              <a:srgbClr val="180C05"/>
            </a:solidFill>
            <a:prstDash val="solid"/>
          </a:ln>
        </p:spPr>
      </p:sp>
      <p:sp>
        <p:nvSpPr>
          <p:cNvPr id="3" name="Shape 1"/>
          <p:cNvSpPr/>
          <p:nvPr/>
        </p:nvSpPr>
        <p:spPr>
          <a:xfrm>
            <a:off x="0" y="0"/>
            <a:ext cx="365760" cy="5143500"/>
          </a:xfrm>
          <a:prstGeom prst="rect">
            <a:avLst/>
          </a:prstGeom>
          <a:solidFill>
            <a:srgbClr val="C64018"/>
          </a:solidFill>
          <a:ln w="12700">
            <a:solidFill>
              <a:srgbClr val="C64018"/>
            </a:solidFill>
            <a:prstDash val="solid"/>
          </a:ln>
        </p:spPr>
      </p:sp>
      <p:sp>
        <p:nvSpPr>
          <p:cNvPr id="4" name="Text 2"/>
          <p:cNvSpPr/>
          <p:nvPr/>
        </p:nvSpPr>
        <p:spPr>
          <a:xfrm>
            <a:off x="640080" y="438912"/>
            <a:ext cx="8046720" cy="685800"/>
          </a:xfrm>
          <a:prstGeom prst="rect">
            <a:avLst/>
          </a:prstGeom>
          <a:noFill/>
          <a:ln/>
        </p:spPr>
        <p:txBody>
          <a:bodyPr wrap="square" rtlCol="0" anchor="ctr"/>
          <a:lstStyle/>
          <a:p>
            <a:pPr algn="l" indent="0" marL="0">
              <a:buNone/>
            </a:pPr>
            <a:r>
              <a:rPr lang="en-US" sz="2800" b="1" dirty="0">
                <a:solidFill>
                  <a:srgbClr val="FBF0DD"/>
                </a:solidFill>
                <a:latin typeface="Georgia" pitchFamily="34" charset="0"/>
                <a:ea typeface="Georgia" pitchFamily="34" charset="-122"/>
                <a:cs typeface="Georgia" pitchFamily="34" charset="-120"/>
              </a:rPr>
              <a:t>From APK to Autonomous Barista</a:t>
            </a:r>
            <a:endParaRPr lang="en-US" sz="2800" dirty="0"/>
          </a:p>
        </p:txBody>
      </p:sp>
      <p:sp>
        <p:nvSpPr>
          <p:cNvPr id="5" name="Shape 3"/>
          <p:cNvSpPr/>
          <p:nvPr/>
        </p:nvSpPr>
        <p:spPr>
          <a:xfrm>
            <a:off x="548640" y="1389888"/>
            <a:ext cx="1207008" cy="1024128"/>
          </a:xfrm>
          <a:prstGeom prst="rect">
            <a:avLst/>
          </a:prstGeom>
          <a:solidFill>
            <a:srgbClr val="341A0A"/>
          </a:solidFill>
          <a:ln w="9525">
            <a:solidFill>
              <a:srgbClr val="D49A14"/>
            </a:solidFill>
            <a:prstDash val="solid"/>
          </a:ln>
        </p:spPr>
      </p:sp>
      <p:sp>
        <p:nvSpPr>
          <p:cNvPr id="6" name="Text 4"/>
          <p:cNvSpPr/>
          <p:nvPr/>
        </p:nvSpPr>
        <p:spPr>
          <a:xfrm>
            <a:off x="548640" y="1435608"/>
            <a:ext cx="1207008" cy="685800"/>
          </a:xfrm>
          <a:prstGeom prst="rect">
            <a:avLst/>
          </a:prstGeom>
          <a:noFill/>
          <a:ln/>
        </p:spPr>
        <p:txBody>
          <a:bodyPr wrap="square" lIns="0" tIns="0" rIns="0" bIns="0" rtlCol="0" anchor="ctr"/>
          <a:lstStyle/>
          <a:p>
            <a:pPr algn="ctr" indent="0" marL="0">
              <a:buNone/>
            </a:pPr>
            <a:r>
              <a:rPr lang="en-US" sz="1300" b="1" dirty="0">
                <a:solidFill>
                  <a:srgbClr val="FBF0DD"/>
                </a:solidFill>
              </a:rPr>
              <a:t>APK</a:t>
            </a:r>
            <a:endParaRPr lang="en-US" sz="1300" dirty="0"/>
          </a:p>
          <a:p>
            <a:pPr algn="ctr" indent="0" marL="0">
              <a:buNone/>
            </a:pPr>
            <a:r>
              <a:rPr lang="en-US" sz="1300" b="1" dirty="0">
                <a:solidFill>
                  <a:srgbClr val="FBF0DD"/>
                </a:solidFill>
              </a:rPr>
              <a:t>APK</a:t>
            </a:r>
            <a:endParaRPr lang="en-US" sz="1300" dirty="0"/>
          </a:p>
        </p:txBody>
      </p:sp>
      <p:sp>
        <p:nvSpPr>
          <p:cNvPr id="7" name="Text 5"/>
          <p:cNvSpPr/>
          <p:nvPr/>
        </p:nvSpPr>
        <p:spPr>
          <a:xfrm>
            <a:off x="548640" y="2139696"/>
            <a:ext cx="1207008" cy="246888"/>
          </a:xfrm>
          <a:prstGeom prst="rect">
            <a:avLst/>
          </a:prstGeom>
          <a:noFill/>
          <a:ln/>
        </p:spPr>
        <p:txBody>
          <a:bodyPr wrap="square" lIns="0" tIns="0" rIns="0" bIns="0" rtlCol="0" anchor="ctr"/>
          <a:lstStyle/>
          <a:p>
            <a:pPr algn="ctr" indent="0" marL="0">
              <a:buNone/>
            </a:pPr>
            <a:r>
              <a:rPr lang="en-US" sz="850" dirty="0">
                <a:solidFill>
                  <a:srgbClr val="9A7050"/>
                </a:solidFill>
              </a:rPr>
              <a:t>jadx</a:t>
            </a:r>
            <a:endParaRPr lang="en-US" sz="850" dirty="0"/>
          </a:p>
        </p:txBody>
      </p:sp>
      <p:sp>
        <p:nvSpPr>
          <p:cNvPr id="8" name="Shape 6"/>
          <p:cNvSpPr/>
          <p:nvPr/>
        </p:nvSpPr>
        <p:spPr>
          <a:xfrm>
            <a:off x="1755648" y="1901952"/>
            <a:ext cx="164592" cy="0"/>
          </a:xfrm>
          <a:prstGeom prst="line">
            <a:avLst/>
          </a:prstGeom>
          <a:noFill/>
          <a:ln w="16510">
            <a:solidFill>
              <a:srgbClr val="D49A14"/>
            </a:solidFill>
            <a:prstDash val="solid"/>
            <a:tailEnd type="arrow"/>
          </a:ln>
        </p:spPr>
      </p:sp>
      <p:sp>
        <p:nvSpPr>
          <p:cNvPr id="9" name="Shape 7"/>
          <p:cNvSpPr/>
          <p:nvPr/>
        </p:nvSpPr>
        <p:spPr>
          <a:xfrm>
            <a:off x="1920240" y="1389888"/>
            <a:ext cx="1207008" cy="1024128"/>
          </a:xfrm>
          <a:prstGeom prst="rect">
            <a:avLst/>
          </a:prstGeom>
          <a:solidFill>
            <a:srgbClr val="341A0A"/>
          </a:solidFill>
          <a:ln w="9525">
            <a:solidFill>
              <a:srgbClr val="D49A14"/>
            </a:solidFill>
            <a:prstDash val="solid"/>
          </a:ln>
        </p:spPr>
      </p:sp>
      <p:sp>
        <p:nvSpPr>
          <p:cNvPr id="10" name="Text 8"/>
          <p:cNvSpPr/>
          <p:nvPr/>
        </p:nvSpPr>
        <p:spPr>
          <a:xfrm>
            <a:off x="1920240" y="1435608"/>
            <a:ext cx="1207008" cy="685800"/>
          </a:xfrm>
          <a:prstGeom prst="rect">
            <a:avLst/>
          </a:prstGeom>
          <a:noFill/>
          <a:ln/>
        </p:spPr>
        <p:txBody>
          <a:bodyPr wrap="square" lIns="0" tIns="0" rIns="0" bIns="0" rtlCol="0" anchor="ctr"/>
          <a:lstStyle/>
          <a:p>
            <a:pPr algn="ctr" indent="0" marL="0">
              <a:buNone/>
            </a:pPr>
            <a:r>
              <a:rPr lang="en-US" sz="1300" b="1" dirty="0">
                <a:solidFill>
                  <a:srgbClr val="FBF0DD"/>
                </a:solidFill>
              </a:rPr>
              <a:t>NET</a:t>
            </a:r>
            <a:endParaRPr lang="en-US" sz="1300" dirty="0"/>
          </a:p>
          <a:p>
            <a:pPr algn="ctr" indent="0" marL="0">
              <a:buNone/>
            </a:pPr>
            <a:r>
              <a:rPr lang="en-US" sz="1300" b="1" dirty="0">
                <a:solidFill>
                  <a:srgbClr val="FBF0DD"/>
                </a:solidFill>
              </a:rPr>
              <a:t>Tracing</a:t>
            </a:r>
            <a:endParaRPr lang="en-US" sz="1300" dirty="0"/>
          </a:p>
        </p:txBody>
      </p:sp>
      <p:sp>
        <p:nvSpPr>
          <p:cNvPr id="11" name="Text 9"/>
          <p:cNvSpPr/>
          <p:nvPr/>
        </p:nvSpPr>
        <p:spPr>
          <a:xfrm>
            <a:off x="1920240" y="2139696"/>
            <a:ext cx="1207008" cy="246888"/>
          </a:xfrm>
          <a:prstGeom prst="rect">
            <a:avLst/>
          </a:prstGeom>
          <a:noFill/>
          <a:ln/>
        </p:spPr>
        <p:txBody>
          <a:bodyPr wrap="square" lIns="0" tIns="0" rIns="0" bIns="0" rtlCol="0" anchor="ctr"/>
          <a:lstStyle/>
          <a:p>
            <a:pPr algn="ctr" indent="0" marL="0">
              <a:buNone/>
            </a:pPr>
            <a:r>
              <a:rPr lang="en-US" sz="850" dirty="0">
                <a:solidFill>
                  <a:srgbClr val="9A7050"/>
                </a:solidFill>
              </a:rPr>
              <a:t>mitmproxy</a:t>
            </a:r>
            <a:endParaRPr lang="en-US" sz="850" dirty="0"/>
          </a:p>
        </p:txBody>
      </p:sp>
      <p:sp>
        <p:nvSpPr>
          <p:cNvPr id="12" name="Shape 10"/>
          <p:cNvSpPr/>
          <p:nvPr/>
        </p:nvSpPr>
        <p:spPr>
          <a:xfrm>
            <a:off x="3127248" y="1901952"/>
            <a:ext cx="164592" cy="0"/>
          </a:xfrm>
          <a:prstGeom prst="line">
            <a:avLst/>
          </a:prstGeom>
          <a:noFill/>
          <a:ln w="16510">
            <a:solidFill>
              <a:srgbClr val="D49A14"/>
            </a:solidFill>
            <a:prstDash val="solid"/>
            <a:tailEnd type="arrow"/>
          </a:ln>
        </p:spPr>
      </p:sp>
      <p:sp>
        <p:nvSpPr>
          <p:cNvPr id="13" name="Shape 11"/>
          <p:cNvSpPr/>
          <p:nvPr/>
        </p:nvSpPr>
        <p:spPr>
          <a:xfrm>
            <a:off x="3291840" y="1389888"/>
            <a:ext cx="1207008" cy="1024128"/>
          </a:xfrm>
          <a:prstGeom prst="rect">
            <a:avLst/>
          </a:prstGeom>
          <a:solidFill>
            <a:srgbClr val="341A0A"/>
          </a:solidFill>
          <a:ln w="9525">
            <a:solidFill>
              <a:srgbClr val="D49A14"/>
            </a:solidFill>
            <a:prstDash val="solid"/>
          </a:ln>
        </p:spPr>
      </p:sp>
      <p:sp>
        <p:nvSpPr>
          <p:cNvPr id="14" name="Text 12"/>
          <p:cNvSpPr/>
          <p:nvPr/>
        </p:nvSpPr>
        <p:spPr>
          <a:xfrm>
            <a:off x="3291840" y="1435608"/>
            <a:ext cx="1207008" cy="685800"/>
          </a:xfrm>
          <a:prstGeom prst="rect">
            <a:avLst/>
          </a:prstGeom>
          <a:noFill/>
          <a:ln/>
        </p:spPr>
        <p:txBody>
          <a:bodyPr wrap="square" lIns="0" tIns="0" rIns="0" bIns="0" rtlCol="0" anchor="ctr"/>
          <a:lstStyle/>
          <a:p>
            <a:pPr algn="ctr" indent="0" marL="0">
              <a:buNone/>
            </a:pPr>
            <a:r>
              <a:rPr lang="en-US" sz="1300" b="1" dirty="0">
                <a:solidFill>
                  <a:srgbClr val="FBF0DD"/>
                </a:solidFill>
              </a:rPr>
              <a:t>KEY</a:t>
            </a:r>
            <a:endParaRPr lang="en-US" sz="1300" dirty="0"/>
          </a:p>
          <a:p>
            <a:pPr algn="ctr" indent="0" marL="0">
              <a:buNone/>
            </a:pPr>
            <a:r>
              <a:rPr lang="en-US" sz="1300" b="1" dirty="0">
                <a:solidFill>
                  <a:srgbClr val="FBF0DD"/>
                </a:solidFill>
              </a:rPr>
              <a:t>Auth</a:t>
            </a:r>
            <a:endParaRPr lang="en-US" sz="1300" dirty="0"/>
          </a:p>
        </p:txBody>
      </p:sp>
      <p:sp>
        <p:nvSpPr>
          <p:cNvPr id="15" name="Text 13"/>
          <p:cNvSpPr/>
          <p:nvPr/>
        </p:nvSpPr>
        <p:spPr>
          <a:xfrm>
            <a:off x="3291840" y="2139696"/>
            <a:ext cx="1207008" cy="246888"/>
          </a:xfrm>
          <a:prstGeom prst="rect">
            <a:avLst/>
          </a:prstGeom>
          <a:noFill/>
          <a:ln/>
        </p:spPr>
        <p:txBody>
          <a:bodyPr wrap="square" lIns="0" tIns="0" rIns="0" bIns="0" rtlCol="0" anchor="ctr"/>
          <a:lstStyle/>
          <a:p>
            <a:pPr algn="ctr" indent="0" marL="0">
              <a:buNone/>
            </a:pPr>
            <a:r>
              <a:rPr lang="en-US" sz="850" dirty="0">
                <a:solidFill>
                  <a:srgbClr val="9A7050"/>
                </a:solidFill>
              </a:rPr>
              <a:t>Gigya+Ayla</a:t>
            </a:r>
            <a:endParaRPr lang="en-US" sz="850" dirty="0"/>
          </a:p>
        </p:txBody>
      </p:sp>
      <p:sp>
        <p:nvSpPr>
          <p:cNvPr id="16" name="Shape 14"/>
          <p:cNvSpPr/>
          <p:nvPr/>
        </p:nvSpPr>
        <p:spPr>
          <a:xfrm>
            <a:off x="4498848" y="1901952"/>
            <a:ext cx="164592" cy="0"/>
          </a:xfrm>
          <a:prstGeom prst="line">
            <a:avLst/>
          </a:prstGeom>
          <a:noFill/>
          <a:ln w="16510">
            <a:solidFill>
              <a:srgbClr val="D49A14"/>
            </a:solidFill>
            <a:prstDash val="solid"/>
            <a:tailEnd type="arrow"/>
          </a:ln>
        </p:spPr>
      </p:sp>
      <p:sp>
        <p:nvSpPr>
          <p:cNvPr id="17" name="Shape 15"/>
          <p:cNvSpPr/>
          <p:nvPr/>
        </p:nvSpPr>
        <p:spPr>
          <a:xfrm>
            <a:off x="4663440" y="1389888"/>
            <a:ext cx="1207008" cy="1024128"/>
          </a:xfrm>
          <a:prstGeom prst="rect">
            <a:avLst/>
          </a:prstGeom>
          <a:solidFill>
            <a:srgbClr val="341A0A"/>
          </a:solidFill>
          <a:ln w="9525">
            <a:solidFill>
              <a:srgbClr val="D49A14"/>
            </a:solidFill>
            <a:prstDash val="solid"/>
          </a:ln>
        </p:spPr>
      </p:sp>
      <p:sp>
        <p:nvSpPr>
          <p:cNvPr id="18" name="Text 16"/>
          <p:cNvSpPr/>
          <p:nvPr/>
        </p:nvSpPr>
        <p:spPr>
          <a:xfrm>
            <a:off x="4663440" y="1435608"/>
            <a:ext cx="1207008" cy="685800"/>
          </a:xfrm>
          <a:prstGeom prst="rect">
            <a:avLst/>
          </a:prstGeom>
          <a:noFill/>
          <a:ln/>
        </p:spPr>
        <p:txBody>
          <a:bodyPr wrap="square" lIns="0" tIns="0" rIns="0" bIns="0" rtlCol="0" anchor="ctr"/>
          <a:lstStyle/>
          <a:p>
            <a:pPr algn="ctr" indent="0" marL="0">
              <a:buNone/>
            </a:pPr>
            <a:r>
              <a:rPr lang="en-US" sz="1300" b="1" dirty="0">
                <a:solidFill>
                  <a:srgbClr val="FBF0DD"/>
                </a:solidFill>
              </a:rPr>
              <a:t>PRO</a:t>
            </a:r>
            <a:endParaRPr lang="en-US" sz="1300" dirty="0"/>
          </a:p>
          <a:p>
            <a:pPr algn="ctr" indent="0" marL="0">
              <a:buNone/>
            </a:pPr>
            <a:r>
              <a:rPr lang="en-US" sz="1300" b="1" dirty="0">
                <a:solidFill>
                  <a:srgbClr val="FBF0DD"/>
                </a:solidFill>
              </a:rPr>
              <a:t>Protocol</a:t>
            </a:r>
            <a:endParaRPr lang="en-US" sz="1300" dirty="0"/>
          </a:p>
        </p:txBody>
      </p:sp>
      <p:sp>
        <p:nvSpPr>
          <p:cNvPr id="19" name="Text 17"/>
          <p:cNvSpPr/>
          <p:nvPr/>
        </p:nvSpPr>
        <p:spPr>
          <a:xfrm>
            <a:off x="4663440" y="2139696"/>
            <a:ext cx="1207008" cy="246888"/>
          </a:xfrm>
          <a:prstGeom prst="rect">
            <a:avLst/>
          </a:prstGeom>
          <a:noFill/>
          <a:ln/>
        </p:spPr>
        <p:txBody>
          <a:bodyPr wrap="square" lIns="0" tIns="0" rIns="0" bIns="0" rtlCol="0" anchor="ctr"/>
          <a:lstStyle/>
          <a:p>
            <a:pPr algn="ctr" indent="0" marL="0">
              <a:buNone/>
            </a:pPr>
            <a:r>
              <a:rPr lang="en-US" sz="850" dirty="0">
                <a:solidFill>
                  <a:srgbClr val="9A7050"/>
                </a:solidFill>
              </a:rPr>
              <a:t>ECAM CRC</a:t>
            </a:r>
            <a:endParaRPr lang="en-US" sz="850" dirty="0"/>
          </a:p>
        </p:txBody>
      </p:sp>
      <p:sp>
        <p:nvSpPr>
          <p:cNvPr id="20" name="Shape 18"/>
          <p:cNvSpPr/>
          <p:nvPr/>
        </p:nvSpPr>
        <p:spPr>
          <a:xfrm>
            <a:off x="5870448" y="1901952"/>
            <a:ext cx="164592" cy="0"/>
          </a:xfrm>
          <a:prstGeom prst="line">
            <a:avLst/>
          </a:prstGeom>
          <a:noFill/>
          <a:ln w="16510">
            <a:solidFill>
              <a:srgbClr val="D49A14"/>
            </a:solidFill>
            <a:prstDash val="solid"/>
            <a:tailEnd type="arrow"/>
          </a:ln>
        </p:spPr>
      </p:sp>
      <p:sp>
        <p:nvSpPr>
          <p:cNvPr id="21" name="Shape 19"/>
          <p:cNvSpPr/>
          <p:nvPr/>
        </p:nvSpPr>
        <p:spPr>
          <a:xfrm>
            <a:off x="6035040" y="1389888"/>
            <a:ext cx="1207008" cy="1024128"/>
          </a:xfrm>
          <a:prstGeom prst="rect">
            <a:avLst/>
          </a:prstGeom>
          <a:solidFill>
            <a:srgbClr val="341A0A"/>
          </a:solidFill>
          <a:ln w="9525">
            <a:solidFill>
              <a:srgbClr val="D49A14"/>
            </a:solidFill>
            <a:prstDash val="solid"/>
          </a:ln>
        </p:spPr>
      </p:sp>
      <p:sp>
        <p:nvSpPr>
          <p:cNvPr id="22" name="Text 20"/>
          <p:cNvSpPr/>
          <p:nvPr/>
        </p:nvSpPr>
        <p:spPr>
          <a:xfrm>
            <a:off x="6035040" y="1435608"/>
            <a:ext cx="1207008" cy="685800"/>
          </a:xfrm>
          <a:prstGeom prst="rect">
            <a:avLst/>
          </a:prstGeom>
          <a:noFill/>
          <a:ln/>
        </p:spPr>
        <p:txBody>
          <a:bodyPr wrap="square" lIns="0" tIns="0" rIns="0" bIns="0" rtlCol="0" anchor="ctr"/>
          <a:lstStyle/>
          <a:p>
            <a:pPr algn="ctr" indent="0" marL="0">
              <a:buNone/>
            </a:pPr>
            <a:r>
              <a:rPr lang="en-US" sz="1300" b="1" dirty="0">
                <a:solidFill>
                  <a:srgbClr val="FBF0DD"/>
                </a:solidFill>
              </a:rPr>
              <a:t>MCP</a:t>
            </a:r>
            <a:endParaRPr lang="en-US" sz="1300" dirty="0"/>
          </a:p>
          <a:p>
            <a:pPr algn="ctr" indent="0" marL="0">
              <a:buNone/>
            </a:pPr>
            <a:r>
              <a:rPr lang="en-US" sz="1300" b="1" dirty="0">
                <a:solidFill>
                  <a:srgbClr val="FBF0DD"/>
                </a:solidFill>
              </a:rPr>
              <a:t>MCP</a:t>
            </a:r>
            <a:endParaRPr lang="en-US" sz="1300" dirty="0"/>
          </a:p>
        </p:txBody>
      </p:sp>
      <p:sp>
        <p:nvSpPr>
          <p:cNvPr id="23" name="Text 21"/>
          <p:cNvSpPr/>
          <p:nvPr/>
        </p:nvSpPr>
        <p:spPr>
          <a:xfrm>
            <a:off x="6035040" y="2139696"/>
            <a:ext cx="1207008" cy="246888"/>
          </a:xfrm>
          <a:prstGeom prst="rect">
            <a:avLst/>
          </a:prstGeom>
          <a:noFill/>
          <a:ln/>
        </p:spPr>
        <p:txBody>
          <a:bodyPr wrap="square" lIns="0" tIns="0" rIns="0" bIns="0" rtlCol="0" anchor="ctr"/>
          <a:lstStyle/>
          <a:p>
            <a:pPr algn="ctr" indent="0" marL="0">
              <a:buNone/>
            </a:pPr>
            <a:r>
              <a:rPr lang="en-US" sz="850" dirty="0">
                <a:solidFill>
                  <a:srgbClr val="9A7050"/>
                </a:solidFill>
              </a:rPr>
              <a:t>.NET 10</a:t>
            </a:r>
            <a:endParaRPr lang="en-US" sz="850" dirty="0"/>
          </a:p>
        </p:txBody>
      </p:sp>
      <p:sp>
        <p:nvSpPr>
          <p:cNvPr id="24" name="Shape 22"/>
          <p:cNvSpPr/>
          <p:nvPr/>
        </p:nvSpPr>
        <p:spPr>
          <a:xfrm>
            <a:off x="7242048" y="1901952"/>
            <a:ext cx="164592" cy="0"/>
          </a:xfrm>
          <a:prstGeom prst="line">
            <a:avLst/>
          </a:prstGeom>
          <a:noFill/>
          <a:ln w="16510">
            <a:solidFill>
              <a:srgbClr val="D49A14"/>
            </a:solidFill>
            <a:prstDash val="solid"/>
            <a:tailEnd type="arrow"/>
          </a:ln>
        </p:spPr>
      </p:sp>
      <p:sp>
        <p:nvSpPr>
          <p:cNvPr id="25" name="Shape 23"/>
          <p:cNvSpPr/>
          <p:nvPr/>
        </p:nvSpPr>
        <p:spPr>
          <a:xfrm>
            <a:off x="7406640" y="1389888"/>
            <a:ext cx="1207008" cy="1024128"/>
          </a:xfrm>
          <a:prstGeom prst="rect">
            <a:avLst/>
          </a:prstGeom>
          <a:solidFill>
            <a:srgbClr val="341A0A"/>
          </a:solidFill>
          <a:ln w="9525">
            <a:solidFill>
              <a:srgbClr val="D49A14"/>
            </a:solidFill>
            <a:prstDash val="solid"/>
          </a:ln>
        </p:spPr>
      </p:sp>
      <p:sp>
        <p:nvSpPr>
          <p:cNvPr id="26" name="Text 24"/>
          <p:cNvSpPr/>
          <p:nvPr/>
        </p:nvSpPr>
        <p:spPr>
          <a:xfrm>
            <a:off x="7406640" y="1435608"/>
            <a:ext cx="1207008" cy="685800"/>
          </a:xfrm>
          <a:prstGeom prst="rect">
            <a:avLst/>
          </a:prstGeom>
          <a:noFill/>
          <a:ln/>
        </p:spPr>
        <p:txBody>
          <a:bodyPr wrap="square" lIns="0" tIns="0" rIns="0" bIns="0" rtlCol="0" anchor="ctr"/>
          <a:lstStyle/>
          <a:p>
            <a:pPr algn="ctr" indent="0" marL="0">
              <a:buNone/>
            </a:pPr>
            <a:r>
              <a:rPr lang="en-US" sz="1300" b="1" dirty="0">
                <a:solidFill>
                  <a:srgbClr val="FBF0DD"/>
                </a:solidFill>
              </a:rPr>
              <a:t>CUP</a:t>
            </a:r>
            <a:endParaRPr lang="en-US" sz="1300" dirty="0"/>
          </a:p>
          <a:p>
            <a:pPr algn="ctr" indent="0" marL="0">
              <a:buNone/>
            </a:pPr>
            <a:r>
              <a:rPr lang="en-US" sz="1300" b="1" dirty="0">
                <a:solidFill>
                  <a:srgbClr val="FBF0DD"/>
                </a:solidFill>
              </a:rPr>
              <a:t>Coffee!</a:t>
            </a:r>
            <a:endParaRPr lang="en-US" sz="1300" dirty="0"/>
          </a:p>
        </p:txBody>
      </p:sp>
      <p:sp>
        <p:nvSpPr>
          <p:cNvPr id="27" name="Text 25"/>
          <p:cNvSpPr/>
          <p:nvPr/>
        </p:nvSpPr>
        <p:spPr>
          <a:xfrm>
            <a:off x="7406640" y="2139696"/>
            <a:ext cx="1207008" cy="246888"/>
          </a:xfrm>
          <a:prstGeom prst="rect">
            <a:avLst/>
          </a:prstGeom>
          <a:noFill/>
          <a:ln/>
        </p:spPr>
        <p:txBody>
          <a:bodyPr wrap="square" lIns="0" tIns="0" rIns="0" bIns="0" rtlCol="0" anchor="ctr"/>
          <a:lstStyle/>
          <a:p>
            <a:pPr algn="ctr" indent="0" marL="0">
              <a:buNone/>
            </a:pPr>
            <a:r>
              <a:rPr lang="en-US" sz="850" dirty="0">
                <a:solidFill>
                  <a:srgbClr val="9A7050"/>
                </a:solidFill>
              </a:rPr>
              <a:t>AI agent</a:t>
            </a:r>
            <a:endParaRPr lang="en-US" sz="850" dirty="0"/>
          </a:p>
        </p:txBody>
      </p:sp>
      <p:sp>
        <p:nvSpPr>
          <p:cNvPr id="28" name="Shape 26"/>
          <p:cNvSpPr/>
          <p:nvPr/>
        </p:nvSpPr>
        <p:spPr>
          <a:xfrm>
            <a:off x="640080" y="2788920"/>
            <a:ext cx="8046720" cy="621792"/>
          </a:xfrm>
          <a:prstGeom prst="rect">
            <a:avLst/>
          </a:prstGeom>
          <a:solidFill>
            <a:srgbClr val="341A0A"/>
          </a:solidFill>
          <a:ln w="9525">
            <a:solidFill>
              <a:srgbClr val="D49A14"/>
            </a:solidFill>
            <a:prstDash val="solid"/>
          </a:ln>
        </p:spPr>
      </p:sp>
      <p:sp>
        <p:nvSpPr>
          <p:cNvPr id="29" name="Text 27"/>
          <p:cNvSpPr/>
          <p:nvPr/>
        </p:nvSpPr>
        <p:spPr>
          <a:xfrm>
            <a:off x="640080" y="2788920"/>
            <a:ext cx="8046720" cy="621792"/>
          </a:xfrm>
          <a:prstGeom prst="rect">
            <a:avLst/>
          </a:prstGeom>
          <a:noFill/>
          <a:ln/>
        </p:spPr>
        <p:txBody>
          <a:bodyPr wrap="square" lIns="0" tIns="0" rIns="0" bIns="0" rtlCol="0" anchor="ctr"/>
          <a:lstStyle/>
          <a:p>
            <a:pPr algn="ctr" indent="0" marL="0">
              <a:buNone/>
            </a:pPr>
            <a:r>
              <a:rPr lang="en-US" sz="1700" b="1" dirty="0">
                <a:solidFill>
                  <a:srgbClr val="F5B828"/>
                </a:solidFill>
                <a:latin typeface="Consolas" pitchFamily="34" charset="0"/>
                <a:ea typeface="Consolas" pitchFamily="34" charset="-122"/>
                <a:cs typeface="Consolas" pitchFamily="34" charset="-120"/>
              </a:rPr>
              <a:t>github.com/AClerbois/mcp-delonghi</a:t>
            </a:r>
            <a:endParaRPr lang="en-US" sz="1700" dirty="0"/>
          </a:p>
        </p:txBody>
      </p:sp>
      <p:sp>
        <p:nvSpPr>
          <p:cNvPr id="30" name="Text 28"/>
          <p:cNvSpPr/>
          <p:nvPr/>
        </p:nvSpPr>
        <p:spPr>
          <a:xfrm>
            <a:off x="640080" y="3611880"/>
            <a:ext cx="8046720" cy="749808"/>
          </a:xfrm>
          <a:prstGeom prst="rect">
            <a:avLst/>
          </a:prstGeom>
          <a:noFill/>
          <a:ln/>
        </p:spPr>
        <p:txBody>
          <a:bodyPr wrap="square" lIns="0" tIns="0" rIns="0" bIns="0" rtlCol="0" anchor="ctr"/>
          <a:lstStyle/>
          <a:p>
            <a:pPr algn="ctr" indent="0" marL="0">
              <a:buNone/>
            </a:pPr>
            <a:r>
              <a:rPr lang="en-US" sz="1200" i="1" dirty="0">
                <a:solidFill>
                  <a:srgbClr val="9A7050"/>
                </a:solidFill>
                <a:latin typeface="Georgia" pitchFamily="34" charset="0"/>
                <a:ea typeface="Georgia" pitchFamily="34" charset="-122"/>
                <a:cs typeface="Georgia" pitchFamily="34" charset="-120"/>
              </a:rPr>
              <a:t>"The best way to understand a system is to take it apart</a:t>
            </a:r>
            <a:endParaRPr lang="en-US" sz="1200" dirty="0"/>
          </a:p>
          <a:p>
            <a:pPr algn="ctr" indent="0" marL="0">
              <a:buNone/>
            </a:pPr>
            <a:r>
              <a:rPr lang="en-US" sz="1200" i="1" dirty="0">
                <a:solidFill>
                  <a:srgbClr val="9A7050"/>
                </a:solidFill>
                <a:latin typeface="Georgia" pitchFamily="34" charset="0"/>
                <a:ea typeface="Georgia" pitchFamily="34" charset="-122"/>
                <a:cs typeface="Georgia" pitchFamily="34" charset="-120"/>
              </a:rPr>
              <a:t>- then put it back together as an AI tool."</a:t>
            </a:r>
            <a:endParaRPr lang="en-US" sz="1200" dirty="0"/>
          </a:p>
        </p:txBody>
      </p:sp>
      <p:sp>
        <p:nvSpPr>
          <p:cNvPr id="31" name="Shape 29"/>
          <p:cNvSpPr/>
          <p:nvPr/>
        </p:nvSpPr>
        <p:spPr>
          <a:xfrm>
            <a:off x="640080" y="4462272"/>
            <a:ext cx="8046720" cy="0"/>
          </a:xfrm>
          <a:prstGeom prst="line">
            <a:avLst/>
          </a:prstGeom>
          <a:noFill/>
          <a:ln w="6350">
            <a:solidFill>
              <a:srgbClr val="4A2A14"/>
            </a:solidFill>
            <a:prstDash val="solid"/>
          </a:ln>
        </p:spPr>
      </p:sp>
      <p:sp>
        <p:nvSpPr>
          <p:cNvPr id="32" name="Text 30"/>
          <p:cNvSpPr/>
          <p:nvPr/>
        </p:nvSpPr>
        <p:spPr>
          <a:xfrm>
            <a:off x="640080" y="4544568"/>
            <a:ext cx="8046720" cy="256032"/>
          </a:xfrm>
          <a:prstGeom prst="rect">
            <a:avLst/>
          </a:prstGeom>
          <a:noFill/>
          <a:ln/>
        </p:spPr>
        <p:txBody>
          <a:bodyPr wrap="square" lIns="0" tIns="0" rIns="0" bIns="0" rtlCol="0" anchor="ctr"/>
          <a:lstStyle/>
          <a:p>
            <a:pPr algn="ctr" indent="0" marL="0">
              <a:buNone/>
            </a:pPr>
            <a:r>
              <a:rPr lang="en-US" sz="900" dirty="0">
                <a:solidFill>
                  <a:srgbClr val="4A2A14"/>
                </a:solidFill>
              </a:rPr>
              <a:t>Made with reverse engineering  -  2026</a:t>
            </a:r>
            <a:endParaRPr lang="en-US" sz="900" dirty="0"/>
          </a:p>
        </p:txBody>
      </p:sp>
      <p:sp>
        <p:nvSpPr>
          <p:cNvPr id="33" name="Text 31"/>
          <p:cNvSpPr/>
          <p:nvPr/>
        </p:nvSpPr>
        <p:spPr>
          <a:xfrm>
            <a:off x="8046720" y="4846320"/>
            <a:ext cx="822960" cy="201168"/>
          </a:xfrm>
          <a:prstGeom prst="rect">
            <a:avLst/>
          </a:prstGeom>
          <a:noFill/>
          <a:ln/>
        </p:spPr>
        <p:txBody>
          <a:bodyPr wrap="square" lIns="0" tIns="0" rIns="0" bIns="0" rtlCol="0" anchor="ctr"/>
          <a:lstStyle/>
          <a:p>
            <a:pPr algn="r" indent="0" marL="0">
              <a:buNone/>
            </a:pPr>
            <a:r>
              <a:rPr lang="en-US" sz="750" dirty="0">
                <a:solidFill>
                  <a:srgbClr val="4A2A14"/>
                </a:solidFill>
              </a:rPr>
              <a:t>16 / 16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Comment j'ai hacke ma machine a cafe pour en faire un MCP</dc:title>
  <dc:subject>PptxGenJS Presentation</dc:subject>
  <dc:creator>Adrien Clerbois</dc:creator>
  <cp:lastModifiedBy>Adrien Clerbois</cp:lastModifiedBy>
  <cp:revision>1</cp:revision>
  <dcterms:created xsi:type="dcterms:W3CDTF">2026-05-05T18:25:32Z</dcterms:created>
  <dcterms:modified xsi:type="dcterms:W3CDTF">2026-05-05T18:25:32Z</dcterms:modified>
</cp:coreProperties>
</file>